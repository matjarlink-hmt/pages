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wav" ContentType="application/octet-stream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notesMasterIdLst>
    <p:notesMasterId r:id="rId4"/>
  </p:notesMasterIdLst>
  <p:sldIdLst>
    <p:sldId id="256" r:id="rId101"/>
    <p:sldId id="257" r:id="rId102"/>
    <p:sldId id="258" r:id="rId103"/>
    <p:sldId id="259" r:id="rId104"/>
    <p:sldId id="260" r:id="rId105"/>
    <p:sldId id="261" r:id="rId106"/>
    <p:sldId id="262" r:id="rId107"/>
    <p:sldId id="263" r:id="rId108"/>
    <p:sldId id="264" r:id="rId109"/>
    <p:sldId id="265" r:id="rId110"/>
    <p:sldId id="266" r:id="rId111"/>
    <p:sldId id="267" r:id="rId112"/>
    <p:sldId id="268" r:id="rId113"/>
    <p:sldId id="269" r:id="rId114"/>
    <p:sldId id="270" r:id="rId115"/>
    <p:sldId id="271" r:id="rId116"/>
    <p:sldId id="272" r:id="rId117"/>
    <p:sldId id="273" r:id="rId118"/>
    <p:sldId id="274" r:id="rId119"/>
    <p:sldId id="275" r:id="rId120"/>
    <p:sldId id="276" r:id="rId121"/>
    <p:sldId id="277" r:id="rId122"/>
    <p:sldId id="278" r:id="rId123"/>
    <p:sldId id="279" r:id="rId124"/>
    <p:sldId id="280" r:id="rId125"/>
    <p:sldId id="281" r:id="rId126"/>
    <p:sldId id="282" r:id="rId127"/>
    <p:sldId id="283" r:id="rId128"/>
    <p:sldId id="284" r:id="rId129"/>
    <p:sldId id="285" r:id="rId130"/>
    <p:sldId id="286" r:id="rId131"/>
    <p:sldId id="287" r:id="rId132"/>
    <p:sldId id="288" r:id="rId133"/>
    <p:sldId id="289" r:id="rId134"/>
    <p:sldId id="290" r:id="rId135"/>
    <p:sldId id="291" r:id="rId136"/>
    <p:sldId id="292" r:id="rId137"/>
    <p:sldId id="293" r:id="rId138"/>
    <p:sldId id="294" r:id="rId139"/>
    <p:sldId id="295" r:id="rId140"/>
    <p:sldId id="296" r:id="rId141"/>
    <p:sldId id="297" r:id="rId142"/>
    <p:sldId id="298" r:id="rId143"/>
    <p:sldId id="299" r:id="rId144"/>
    <p:sldId id="300" r:id="rId145"/>
    <p:sldId id="301" r:id="rId146"/>
    <p:sldId id="302" r:id="rId147"/>
    <p:sldId id="303" r:id="rId148"/>
    <p:sldId id="304" r:id="rId149"/>
    <p:sldId id="305" r:id="rId150"/>
    <p:sldId id="306" r:id="rId151"/>
    <p:sldId id="307" r:id="rId152"/>
    <p:sldId id="308" r:id="rId153"/>
    <p:sldId id="309" r:id="rId154"/>
    <p:sldId id="310" r:id="rId155"/>
    <p:sldId id="311" r:id="rId156"/>
    <p:sldId id="312" r:id="rId157"/>
    <p:sldId id="313" r:id="rId158"/>
    <p:sldId id="314" r:id="rId159"/>
    <p:sldId id="315" r:id="rId160"/>
    <p:sldId id="316" r:id="rId161"/>
    <p:sldId id="317" r:id="rId162"/>
    <p:sldId id="318" r:id="rId163"/>
    <p:sldId id="319" r:id="rId164"/>
    <p:sldId id="320" r:id="rId165"/>
    <p:sldId id="321" r:id="rId166"/>
    <p:sldId id="322" r:id="rId167"/>
    <p:sldId id="323" r:id="rId168"/>
    <p:sldId id="324" r:id="rId169"/>
    <p:sldId id="325" r:id="rId170"/>
    <p:sldId id="326" r:id="rId171"/>
    <p:sldId id="327" r:id="rId172"/>
    <p:sldId id="328" r:id="rId173"/>
    <p:sldId id="329" r:id="rId174"/>
    <p:sldId id="330" r:id="rId175"/>
    <p:sldId id="331" r:id="rId176"/>
    <p:sldId id="332" r:id="rId177"/>
    <p:sldId id="333" r:id="rId178"/>
    <p:sldId id="334" r:id="rId179"/>
    <p:sldId id="335" r:id="rId180"/>
    <p:sldId id="336" r:id="rId181"/>
    <p:sldId id="337" r:id="rId182"/>
    <p:sldId id="338" r:id="rId183"/>
    <p:sldId id="339" r:id="rId184"/>
    <p:sldId id="340" r:id="rId185"/>
    <p:sldId id="341" r:id="rId186"/>
    <p:sldId id="342" r:id="rId187"/>
    <p:sldId id="343" r:id="rId188"/>
  </p:sldIdLst>
  <p:sldSz cx="12192000" cy="6858000"/>
  <p:notesSz cx="6858000" cy="12192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109" Type="http://schemas.openxmlformats.org/officeDocument/2006/relationships/slide" Target="slides/slide9.xml"/><Relationship Id="rId110" Type="http://schemas.openxmlformats.org/officeDocument/2006/relationships/slide" Target="slides/slide10.xml"/><Relationship Id="rId111" Type="http://schemas.openxmlformats.org/officeDocument/2006/relationships/slide" Target="slides/slide11.xml"/><Relationship Id="rId112" Type="http://schemas.openxmlformats.org/officeDocument/2006/relationships/slide" Target="slides/slide12.xml"/><Relationship Id="rId113" Type="http://schemas.openxmlformats.org/officeDocument/2006/relationships/slide" Target="slides/slide13.xml"/><Relationship Id="rId114" Type="http://schemas.openxmlformats.org/officeDocument/2006/relationships/slide" Target="slides/slide14.xml"/><Relationship Id="rId115" Type="http://schemas.openxmlformats.org/officeDocument/2006/relationships/slide" Target="slides/slide15.xml"/><Relationship Id="rId116" Type="http://schemas.openxmlformats.org/officeDocument/2006/relationships/slide" Target="slides/slide16.xml"/><Relationship Id="rId117" Type="http://schemas.openxmlformats.org/officeDocument/2006/relationships/slide" Target="slides/slide17.xml"/><Relationship Id="rId118" Type="http://schemas.openxmlformats.org/officeDocument/2006/relationships/slide" Target="slides/slide18.xml"/><Relationship Id="rId119" Type="http://schemas.openxmlformats.org/officeDocument/2006/relationships/slide" Target="slides/slide19.xml"/><Relationship Id="rId120" Type="http://schemas.openxmlformats.org/officeDocument/2006/relationships/slide" Target="slides/slide20.xml"/><Relationship Id="rId121" Type="http://schemas.openxmlformats.org/officeDocument/2006/relationships/slide" Target="slides/slide21.xml"/><Relationship Id="rId122" Type="http://schemas.openxmlformats.org/officeDocument/2006/relationships/slide" Target="slides/slide22.xml"/><Relationship Id="rId123" Type="http://schemas.openxmlformats.org/officeDocument/2006/relationships/slide" Target="slides/slide23.xml"/><Relationship Id="rId124" Type="http://schemas.openxmlformats.org/officeDocument/2006/relationships/slide" Target="slides/slide24.xml"/><Relationship Id="rId125" Type="http://schemas.openxmlformats.org/officeDocument/2006/relationships/slide" Target="slides/slide25.xml"/><Relationship Id="rId126" Type="http://schemas.openxmlformats.org/officeDocument/2006/relationships/slide" Target="slides/slide26.xml"/><Relationship Id="rId127" Type="http://schemas.openxmlformats.org/officeDocument/2006/relationships/slide" Target="slides/slide27.xml"/><Relationship Id="rId128" Type="http://schemas.openxmlformats.org/officeDocument/2006/relationships/slide" Target="slides/slide28.xml"/><Relationship Id="rId129" Type="http://schemas.openxmlformats.org/officeDocument/2006/relationships/slide" Target="slides/slide29.xml"/><Relationship Id="rId130" Type="http://schemas.openxmlformats.org/officeDocument/2006/relationships/slide" Target="slides/slide30.xml"/><Relationship Id="rId131" Type="http://schemas.openxmlformats.org/officeDocument/2006/relationships/slide" Target="slides/slide31.xml"/><Relationship Id="rId132" Type="http://schemas.openxmlformats.org/officeDocument/2006/relationships/slide" Target="slides/slide32.xml"/><Relationship Id="rId133" Type="http://schemas.openxmlformats.org/officeDocument/2006/relationships/slide" Target="slides/slide33.xml"/><Relationship Id="rId134" Type="http://schemas.openxmlformats.org/officeDocument/2006/relationships/slide" Target="slides/slide34.xml"/><Relationship Id="rId135" Type="http://schemas.openxmlformats.org/officeDocument/2006/relationships/slide" Target="slides/slide35.xml"/><Relationship Id="rId136" Type="http://schemas.openxmlformats.org/officeDocument/2006/relationships/slide" Target="slides/slide36.xml"/><Relationship Id="rId137" Type="http://schemas.openxmlformats.org/officeDocument/2006/relationships/slide" Target="slides/slide37.xml"/><Relationship Id="rId138" Type="http://schemas.openxmlformats.org/officeDocument/2006/relationships/slide" Target="slides/slide38.xml"/><Relationship Id="rId139" Type="http://schemas.openxmlformats.org/officeDocument/2006/relationships/slide" Target="slides/slide39.xml"/><Relationship Id="rId140" Type="http://schemas.openxmlformats.org/officeDocument/2006/relationships/slide" Target="slides/slide40.xml"/><Relationship Id="rId141" Type="http://schemas.openxmlformats.org/officeDocument/2006/relationships/slide" Target="slides/slide41.xml"/><Relationship Id="rId142" Type="http://schemas.openxmlformats.org/officeDocument/2006/relationships/slide" Target="slides/slide42.xml"/><Relationship Id="rId143" Type="http://schemas.openxmlformats.org/officeDocument/2006/relationships/slide" Target="slides/slide43.xml"/><Relationship Id="rId144" Type="http://schemas.openxmlformats.org/officeDocument/2006/relationships/slide" Target="slides/slide44.xml"/><Relationship Id="rId145" Type="http://schemas.openxmlformats.org/officeDocument/2006/relationships/slide" Target="slides/slide45.xml"/><Relationship Id="rId146" Type="http://schemas.openxmlformats.org/officeDocument/2006/relationships/slide" Target="slides/slide46.xml"/><Relationship Id="rId147" Type="http://schemas.openxmlformats.org/officeDocument/2006/relationships/slide" Target="slides/slide47.xml"/><Relationship Id="rId148" Type="http://schemas.openxmlformats.org/officeDocument/2006/relationships/slide" Target="slides/slide48.xml"/><Relationship Id="rId149" Type="http://schemas.openxmlformats.org/officeDocument/2006/relationships/slide" Target="slides/slide49.xml"/><Relationship Id="rId150" Type="http://schemas.openxmlformats.org/officeDocument/2006/relationships/slide" Target="slides/slide50.xml"/><Relationship Id="rId151" Type="http://schemas.openxmlformats.org/officeDocument/2006/relationships/slide" Target="slides/slide51.xml"/><Relationship Id="rId152" Type="http://schemas.openxmlformats.org/officeDocument/2006/relationships/slide" Target="slides/slide52.xml"/><Relationship Id="rId153" Type="http://schemas.openxmlformats.org/officeDocument/2006/relationships/slide" Target="slides/slide53.xml"/><Relationship Id="rId154" Type="http://schemas.openxmlformats.org/officeDocument/2006/relationships/slide" Target="slides/slide54.xml"/><Relationship Id="rId155" Type="http://schemas.openxmlformats.org/officeDocument/2006/relationships/slide" Target="slides/slide55.xml"/><Relationship Id="rId156" Type="http://schemas.openxmlformats.org/officeDocument/2006/relationships/slide" Target="slides/slide56.xml"/><Relationship Id="rId157" Type="http://schemas.openxmlformats.org/officeDocument/2006/relationships/slide" Target="slides/slide57.xml"/><Relationship Id="rId158" Type="http://schemas.openxmlformats.org/officeDocument/2006/relationships/slide" Target="slides/slide58.xml"/><Relationship Id="rId159" Type="http://schemas.openxmlformats.org/officeDocument/2006/relationships/slide" Target="slides/slide59.xml"/><Relationship Id="rId160" Type="http://schemas.openxmlformats.org/officeDocument/2006/relationships/slide" Target="slides/slide60.xml"/><Relationship Id="rId161" Type="http://schemas.openxmlformats.org/officeDocument/2006/relationships/slide" Target="slides/slide61.xml"/><Relationship Id="rId162" Type="http://schemas.openxmlformats.org/officeDocument/2006/relationships/slide" Target="slides/slide62.xml"/><Relationship Id="rId163" Type="http://schemas.openxmlformats.org/officeDocument/2006/relationships/slide" Target="slides/slide63.xml"/><Relationship Id="rId164" Type="http://schemas.openxmlformats.org/officeDocument/2006/relationships/slide" Target="slides/slide64.xml"/><Relationship Id="rId165" Type="http://schemas.openxmlformats.org/officeDocument/2006/relationships/slide" Target="slides/slide65.xml"/><Relationship Id="rId166" Type="http://schemas.openxmlformats.org/officeDocument/2006/relationships/slide" Target="slides/slide66.xml"/><Relationship Id="rId167" Type="http://schemas.openxmlformats.org/officeDocument/2006/relationships/slide" Target="slides/slide67.xml"/><Relationship Id="rId168" Type="http://schemas.openxmlformats.org/officeDocument/2006/relationships/slide" Target="slides/slide68.xml"/><Relationship Id="rId169" Type="http://schemas.openxmlformats.org/officeDocument/2006/relationships/slide" Target="slides/slide69.xml"/><Relationship Id="rId170" Type="http://schemas.openxmlformats.org/officeDocument/2006/relationships/slide" Target="slides/slide70.xml"/><Relationship Id="rId171" Type="http://schemas.openxmlformats.org/officeDocument/2006/relationships/slide" Target="slides/slide71.xml"/><Relationship Id="rId172" Type="http://schemas.openxmlformats.org/officeDocument/2006/relationships/slide" Target="slides/slide72.xml"/><Relationship Id="rId173" Type="http://schemas.openxmlformats.org/officeDocument/2006/relationships/slide" Target="slides/slide73.xml"/><Relationship Id="rId174" Type="http://schemas.openxmlformats.org/officeDocument/2006/relationships/slide" Target="slides/slide74.xml"/><Relationship Id="rId175" Type="http://schemas.openxmlformats.org/officeDocument/2006/relationships/slide" Target="slides/slide75.xml"/><Relationship Id="rId176" Type="http://schemas.openxmlformats.org/officeDocument/2006/relationships/slide" Target="slides/slide76.xml"/><Relationship Id="rId177" Type="http://schemas.openxmlformats.org/officeDocument/2006/relationships/slide" Target="slides/slide77.xml"/><Relationship Id="rId178" Type="http://schemas.openxmlformats.org/officeDocument/2006/relationships/slide" Target="slides/slide78.xml"/><Relationship Id="rId179" Type="http://schemas.openxmlformats.org/officeDocument/2006/relationships/slide" Target="slides/slide79.xml"/><Relationship Id="rId180" Type="http://schemas.openxmlformats.org/officeDocument/2006/relationships/slide" Target="slides/slide80.xml"/><Relationship Id="rId181" Type="http://schemas.openxmlformats.org/officeDocument/2006/relationships/slide" Target="slides/slide81.xml"/><Relationship Id="rId182" Type="http://schemas.openxmlformats.org/officeDocument/2006/relationships/slide" Target="slides/slide82.xml"/><Relationship Id="rId183" Type="http://schemas.openxmlformats.org/officeDocument/2006/relationships/slide" Target="slides/slide83.xml"/><Relationship Id="rId184" Type="http://schemas.openxmlformats.org/officeDocument/2006/relationships/slide" Target="slides/slide84.xml"/><Relationship Id="rId185" Type="http://schemas.openxmlformats.org/officeDocument/2006/relationships/slide" Target="slides/slide85.xml"/><Relationship Id="rId186" Type="http://schemas.openxmlformats.org/officeDocument/2006/relationships/slide" Target="slides/slide86.xml"/><Relationship Id="rId187" Type="http://schemas.openxmlformats.org/officeDocument/2006/relationships/slide" Target="slides/slide87.xml"/><Relationship Id="rId188" Type="http://schemas.openxmlformats.org/officeDocument/2006/relationships/slide" Target="slides/slide88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3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1B215D1-8A00-4FFD-8052-A280DE19BFD7}" type="slidenum"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84BCEF4-3846-4C4E-BD76-6B031B80C194}" type="slidenum"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E1CA83D-39DD-414E-B5D3-678EB1DDCE03}" type="slidenum"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AF6A619-9571-4827-9D95-3A768BC8DCF4}" type="slidenum"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08FD0CF-575E-44F1-A1F9-26B9CC35A83B}" type="slidenum"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7AF2E08-4115-4DB1-994B-134776984195}" type="slidenum"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1B82484-407C-4BA9-B985-766DFC0186F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1AE9CA8-508B-4DF4-81CF-26BCFF574B2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D12C820-F6EA-454C-B4BF-9DC24CCBB59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01E7FC-10FB-42B4-888A-6034CCED975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 algn="r" rtl="1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lide Number Placeholder 3"/>
          <p:cNvSpPr/>
          <p:nvPr/>
        </p:nvSpPr>
        <p:spPr>
          <a:xfrm>
            <a:off x="144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rtl="1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5E7CB3F-7D01-47D4-8786-8D583A26A20A}" type="slidenum">
              <a:rPr b="0" lang="ar-OM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 algn="r" rtl="1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lide Number Placeholder 3"/>
          <p:cNvSpPr/>
          <p:nvPr/>
        </p:nvSpPr>
        <p:spPr>
          <a:xfrm>
            <a:off x="144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rtl="1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061D125-DC4B-427B-A9FD-95E801513882}" type="slidenum">
              <a:rPr b="0" lang="ar-OM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 algn="r" rtl="1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lide Number Placeholder 3"/>
          <p:cNvSpPr/>
          <p:nvPr/>
        </p:nvSpPr>
        <p:spPr>
          <a:xfrm>
            <a:off x="144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rtl="1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AC031BD-D526-4E14-81CC-CA907A137BFB}" type="slidenum">
              <a:rPr b="0" lang="ar-OM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 algn="r" rtl="1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lide Number Placeholder 3"/>
          <p:cNvSpPr/>
          <p:nvPr/>
        </p:nvSpPr>
        <p:spPr>
          <a:xfrm>
            <a:off x="144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rtl="1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AA9ED5D-D39D-4B98-BE6C-23D850586ABA}" type="slidenum">
              <a:rPr b="0" lang="ar-OM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 algn="r" rtl="1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lide Number Placeholder 3"/>
          <p:cNvSpPr/>
          <p:nvPr/>
        </p:nvSpPr>
        <p:spPr>
          <a:xfrm>
            <a:off x="144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rtl="1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DE784C6-E4FE-4242-A8BD-5AEBFB17BC68}" type="slidenum">
              <a:rPr b="0" lang="ar-OM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 algn="r" rtl="1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lide Number Placeholder 3"/>
          <p:cNvSpPr/>
          <p:nvPr/>
        </p:nvSpPr>
        <p:spPr>
          <a:xfrm>
            <a:off x="144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rtl="1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F15EFEA-9436-43B2-A492-E4976CB1C2CE}" type="slidenum">
              <a:rPr b="0" lang="ar-OM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 algn="r" rtl="1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lide Number Placeholder 3"/>
          <p:cNvSpPr/>
          <p:nvPr/>
        </p:nvSpPr>
        <p:spPr>
          <a:xfrm>
            <a:off x="144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rtl="1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EEAC267-7AD8-4F60-A3F2-A9872356E047}" type="slidenum">
              <a:rPr b="0" lang="ar-OM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 algn="r" rtl="1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lide Number Placeholder 3"/>
          <p:cNvSpPr/>
          <p:nvPr/>
        </p:nvSpPr>
        <p:spPr>
          <a:xfrm>
            <a:off x="144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rtl="1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3E81D46-049A-424D-8E7B-C4CB3CF85B00}" type="slidenum">
              <a:rPr b="0" lang="ar-OM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 algn="r" rtl="1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lide Number Placeholder 3"/>
          <p:cNvSpPr/>
          <p:nvPr/>
        </p:nvSpPr>
        <p:spPr>
          <a:xfrm>
            <a:off x="144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rtl="1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2690595-805B-49E6-B239-F568518EDFF1}" type="slidenum">
              <a:rPr b="0" lang="ar-OM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 algn="r" rtl="1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lide Number Placeholder 3"/>
          <p:cNvSpPr/>
          <p:nvPr/>
        </p:nvSpPr>
        <p:spPr>
          <a:xfrm>
            <a:off x="144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rtl="1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D87B50A-DF5D-4D97-8C67-CC29929B881B}" type="slidenum">
              <a:rPr b="0" lang="ar-OM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r" rtl="1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lide Number Placeholder 3"/>
          <p:cNvSpPr/>
          <p:nvPr/>
        </p:nvSpPr>
        <p:spPr>
          <a:xfrm>
            <a:off x="144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rtl="1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EAD7A67-33A1-4A80-8F30-374514FAA016}" type="slidenum">
              <a:rPr b="0" lang="ar-OM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 algn="r" rtl="1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lide Number Placeholder 3"/>
          <p:cNvSpPr/>
          <p:nvPr/>
        </p:nvSpPr>
        <p:spPr>
          <a:xfrm>
            <a:off x="144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rtl="1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033E7BA-D029-4668-9160-F65F221ACB19}" type="slidenum">
              <a:rPr b="0" lang="ar-OM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 algn="r" rtl="1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lide Number Placeholder 3"/>
          <p:cNvSpPr/>
          <p:nvPr/>
        </p:nvSpPr>
        <p:spPr>
          <a:xfrm>
            <a:off x="144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rtl="1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D65272-7F01-4D7E-A070-7F96038E5CB5}" type="slidenum">
              <a:rPr b="0" lang="ar-OM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 algn="r" rtl="1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lide Number Placeholder 3"/>
          <p:cNvSpPr/>
          <p:nvPr/>
        </p:nvSpPr>
        <p:spPr>
          <a:xfrm>
            <a:off x="144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rtl="1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5DBBFBB-643A-4520-BA19-9146A1F7C79E}" type="slidenum">
              <a:rPr b="0" lang="ar-OM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 algn="r" rtl="1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lide Number Placeholder 3"/>
          <p:cNvSpPr/>
          <p:nvPr/>
        </p:nvSpPr>
        <p:spPr>
          <a:xfrm>
            <a:off x="144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rtl="1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1CEAC89-AF50-4FD6-B356-3A3B226A7F4E}" type="slidenum">
              <a:rPr b="0" lang="ar-OM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p>
            <a:pPr indent="0" algn="r" rtl="1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lide Number Placeholder 3"/>
          <p:cNvSpPr/>
          <p:nvPr/>
        </p:nvSpPr>
        <p:spPr>
          <a:xfrm>
            <a:off x="144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rtl="1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F19881F-F5B3-45D8-9137-36754ABB0B17}" type="slidenum">
              <a:rPr b="0" lang="ar-OM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 rtl="1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190B2F6-48D5-4B6D-9C0A-2F651584345F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 rtl="1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F155E84-CBBE-4C9A-9F88-A3EE2AD9EFE2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 rtl="1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32F8A3E-F94B-4E0D-B3E6-A44BCBCAC3E7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 rtl="1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8C30B86-D476-45BB-AE35-C16470AD4002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 rtl="1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3C228E8-536A-47F1-8BD1-3DFEFB957788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 rtl="1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643A2AD-6794-465E-A847-F642D52EE623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 rtl="1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38CA84F-BB69-4040-8BE8-69C9EC42BF11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 rtl="1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2A26A38-7B7E-4492-9ABB-E733B24DB2B9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 rtl="1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F668C52-BC6F-4126-B3F9-93F026447167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 rtl="1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083E85B-634C-40B6-BC89-3D8DC6E244FD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 rtl="1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CE4DE61-DF0F-4C4C-BD0F-2D156E127038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audio" Target="../media/m001.wav"/><Relationship Id="rId3" Type="http://schemas.openxmlformats.org/officeDocument/2006/relationships/notesSlide" Target="../notesSlides/notesSlide9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002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003.wmf"/><Relationship Id="rId3" Type="http://schemas.openxmlformats.org/officeDocument/2006/relationships/notesSlide" Target="../notesSlides/notesSlide1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004.jpeg"/><Relationship Id="rId3" Type="http://schemas.openxmlformats.org/officeDocument/2006/relationships/notesSlide" Target="../notesSlides/notesSlide12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005.png"/><Relationship Id="rId3" Type="http://schemas.openxmlformats.org/officeDocument/2006/relationships/image" Target="../media/m005.png"/><Relationship Id="rId4" Type="http://schemas.openxmlformats.org/officeDocument/2006/relationships/notesSlide" Target="../notesSlides/notesSlide14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006.png"/><Relationship Id="rId3" Type="http://schemas.openxmlformats.org/officeDocument/2006/relationships/image" Target="../media/m006.pn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005.png"/><Relationship Id="rId3" Type="http://schemas.openxmlformats.org/officeDocument/2006/relationships/image" Target="../media/m005.png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007.png"/><Relationship Id="rId3" Type="http://schemas.openxmlformats.org/officeDocument/2006/relationships/notesSlide" Target="../notesSlides/notesSlide20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008.jpeg"/><Relationship Id="rId3" Type="http://schemas.openxmlformats.org/officeDocument/2006/relationships/notesSlide" Target="../notesSlides/notesSlide21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009.png"/><Relationship Id="rId3" Type="http://schemas.openxmlformats.org/officeDocument/2006/relationships/image" Target="../media/m009.png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010.png"/><Relationship Id="rId3" Type="http://schemas.openxmlformats.org/officeDocument/2006/relationships/image" Target="../media/m010.png"/><Relationship Id="rId4" Type="http://schemas.openxmlformats.org/officeDocument/2006/relationships/image" Target="../media/m010.png"/><Relationship Id="rId5" Type="http://schemas.openxmlformats.org/officeDocument/2006/relationships/image" Target="../media/m010.png"/><Relationship Id="rId6" Type="http://schemas.openxmlformats.org/officeDocument/2006/relationships/image" Target="../media/m010.png"/><Relationship Id="rId7" Type="http://schemas.openxmlformats.org/officeDocument/2006/relationships/image" Target="../media/m011.png"/><Relationship Id="rId8" Type="http://schemas.openxmlformats.org/officeDocument/2006/relationships/notesSlide" Target="../notesSlides/notesSlide24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012.png"/><Relationship Id="rId3" Type="http://schemas.openxmlformats.org/officeDocument/2006/relationships/notesSlide" Target="../notesSlides/notesSlide25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013.wmf"/><Relationship Id="rId3" Type="http://schemas.openxmlformats.org/officeDocument/2006/relationships/notesSlide" Target="../notesSlides/notesSlide27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014.png"/><Relationship Id="rId3" Type="http://schemas.openxmlformats.org/officeDocument/2006/relationships/image" Target="../media/m015.png"/><Relationship Id="rId4" Type="http://schemas.openxmlformats.org/officeDocument/2006/relationships/notesSlide" Target="../notesSlides/notesSlide31.xml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016.png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015.png"/><Relationship Id="rId3" Type="http://schemas.openxmlformats.org/officeDocument/2006/relationships/notesSlide" Target="../notesSlides/notesSlide32.xml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014.png"/><Relationship Id="rId3" Type="http://schemas.openxmlformats.org/officeDocument/2006/relationships/image" Target="../media/m014.png"/><Relationship Id="rId4" Type="http://schemas.openxmlformats.org/officeDocument/2006/relationships/image" Target="../media/m015.png"/><Relationship Id="rId5" Type="http://schemas.openxmlformats.org/officeDocument/2006/relationships/notesSlide" Target="../notesSlides/notesSlide33.xml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014.png"/><Relationship Id="rId3" Type="http://schemas.openxmlformats.org/officeDocument/2006/relationships/notesSlide" Target="../notesSlides/notesSlide34.xml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017.jpeg"/><Relationship Id="rId3" Type="http://schemas.openxmlformats.org/officeDocument/2006/relationships/notesSlide" Target="../notesSlides/notesSlide35.xml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014.png"/><Relationship Id="rId3" Type="http://schemas.openxmlformats.org/officeDocument/2006/relationships/image" Target="../media/m014.png"/><Relationship Id="rId4" Type="http://schemas.openxmlformats.org/officeDocument/2006/relationships/notesSlide" Target="../notesSlides/notesSlide36.xml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014.png"/><Relationship Id="rId3" Type="http://schemas.openxmlformats.org/officeDocument/2006/relationships/image" Target="../media/m014.png"/><Relationship Id="rId4" Type="http://schemas.openxmlformats.org/officeDocument/2006/relationships/notesSlide" Target="../notesSlides/notesSlide37.xml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5355A"/>
            </a:gs>
            <a:gs pos="100000">
              <a:srgbClr val="091626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WordArt 1027"/>
          <p:cNvSpPr txBox="1"/>
          <p:nvPr/>
        </p:nvSpPr>
        <p:spPr>
          <a:xfrm>
            <a:off x="960120" y="2148840"/>
            <a:ext cx="10241280" cy="192024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4000" spc="1" strike="noStrik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INSTRUMENT </a:t>
            </a:r>
            <a:endParaRPr b="1" lang="en-US" sz="4000" spc="1" strike="noStrike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endParaRPr b="1" lang="en-US" sz="4000" spc="1" strike="noStrike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4000" spc="1" strike="noStrik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FLIGHT PROCEDURES</a:t>
            </a:r>
            <a:endParaRPr b="1" lang="en-US" sz="4000" spc="1" strike="noStrike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uFillTx/>
                <a:latin typeface="Cambria"/>
                <a:ea typeface="Cambria"/>
                <a:cs typeface="Cambria"/>
              </a:rPr>
              <a:t>INSTRUMENT FLIGHT PROCEDURES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981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099"/>
          </a:bodyPr>
          <a:p>
            <a:pPr marL="272880" indent="-272880">
              <a:spcBef>
                <a:spcPts val="700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1.</a:t>
            </a: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Introduction to IFP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spcBef>
                <a:spcPts val="700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2.</a:t>
            </a: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Arcs &amp; Radials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spcBef>
                <a:spcPts val="700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3.</a:t>
            </a: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Fix to fix Nav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spcBef>
                <a:spcPts val="700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4.</a:t>
            </a: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Holding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spcBef>
                <a:spcPts val="700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5.</a:t>
            </a: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Instrument Approach Plates 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spcBef>
                <a:spcPts val="700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6. </a:t>
            </a: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Instrument Approaches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spcBef>
                <a:spcPts val="700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7.</a:t>
            </a: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Over-run/Revision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spcBef>
                <a:spcPts val="700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8.</a:t>
            </a: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Exam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01" name="design9001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WordArt 2"/>
          <p:cNvSpPr txBox="1"/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INTRODUCTION</a:t>
            </a:r>
            <a:endParaRPr b="1" lang="en-US" sz="2600" spc="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58" name="Text Box 4"/>
          <p:cNvSpPr/>
          <p:nvPr/>
        </p:nvSpPr>
        <p:spPr>
          <a:xfrm>
            <a:off x="2133480" y="2209680"/>
            <a:ext cx="8001000" cy="825480"/>
          </a:xfrm>
          <a:prstGeom prst="rect">
            <a:avLst/>
          </a:prstGeom>
          <a:solidFill>
            <a:srgbClr val="EDF1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THE AIM OF IF  IS TO FLY SAFELY USING THE A/C INSTURMENTS UNDER IMC CONDITIONS.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TextBox 4"/>
          <p:cNvSpPr/>
          <p:nvPr/>
        </p:nvSpPr>
        <p:spPr>
          <a:xfrm>
            <a:off x="4325088" y="3759120"/>
            <a:ext cx="6967752" cy="26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6800" bIns="46800" anchor="t">
            <a:norm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Instrument Meteorological Conditions.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Visual Meteorological Conditions.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Instrument Flight Rules.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Visual Flight Rules.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TextBox 7"/>
          <p:cNvSpPr/>
          <p:nvPr/>
        </p:nvSpPr>
        <p:spPr>
          <a:xfrm>
            <a:off x="3021600" y="3774960"/>
            <a:ext cx="1009800" cy="26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IMC: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VMC: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IFR: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VFR: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02" name="design9002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 txBox="1"/>
          <p:nvPr/>
        </p:nvSpPr>
        <p:spPr>
          <a:xfrm>
            <a:off x="1981200" y="1934640"/>
            <a:ext cx="8362800" cy="4389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099"/>
          </a:bodyPr>
          <a:p>
            <a:pPr marL="272880" indent="-272880">
              <a:lnSpc>
                <a:spcPct val="90000"/>
              </a:lnSpc>
              <a:spcBef>
                <a:spcPts val="700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CLASS</a:t>
            </a:r>
            <a:r>
              <a:rPr b="1" lang="en-US" sz="28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	</a:t>
            </a:r>
            <a:r>
              <a:rPr b="1" lang="en-US" sz="28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A: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 algn="l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IFR FLIGTS ARE ONLY PPERMITED,AND SUBJECT TO AIR TRAFFIC CONTROL SERVICE AND ARE SEPRATED FROM EACH OTHER.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 algn="l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lnSpc>
                <a:spcPct val="90000"/>
              </a:lnSpc>
              <a:spcBef>
                <a:spcPts val="499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</a:t>
            </a:r>
            <a:r>
              <a:rPr b="1" lang="en-US" sz="28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CLASS</a:t>
            </a:r>
            <a:r>
              <a:rPr b="1" lang="en-US" sz="28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	</a:t>
            </a:r>
            <a:r>
              <a:rPr b="1" lang="en-US" sz="28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B:</a:t>
            </a: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</a:t>
            </a:r>
            <a:r>
              <a:rPr b="1" lang="en-US" sz="20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(NOT USED IN THE MUSCAT FIR) </a:t>
            </a:r>
            <a:endParaRPr b="0" lang="en-US" sz="20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 algn="l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IFR AND VFR FLIGHTS ARE PERMITED ALL FLIGTS ARE SUBJECT TO AIR TRAFFIC CONTROL SERVICE AND ARE SEPRATED FROM EACH OTHER.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AIRSPACE CLASSIFICATION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9003" name="design9003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" dur="indefinite" restart="never" nodeType="tmRoot">
          <p:childTnLst>
            <p:seq>
              <p:cTn id="40" dur="indefinite" nodeType="mainSeq">
                <p:childTnLst>
                  <p:par>
                    <p:cTn id="41" nodeType="clickEffect" fill="hold">
                      <p:stCondLst>
                        <p:cond delay="indefinite"/>
                      </p:stCondLst>
                      <p:childTnLst>
                        <p:par>
                          <p:cTn id="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" dur="1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6" dur="4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" dur="4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" dur="6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" dur="6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nodeType="clickEffect" fill="hold">
                      <p:stCondLst>
                        <p:cond delay="indefinite"/>
                      </p:stCondLst>
                      <p:childTnLst>
                        <p:par>
                          <p:cTn id="5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plus(in)" transition="in">
                                      <p:cBhvr additive="repl">
                                        <p:cTn id="54" dur="20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56" nodeType="clickEffect" fill="hold">
                      <p:stCondLst>
                        <p:cond delay="indefinite"/>
                      </p:stCondLst>
                      <p:childTnLst>
                        <p:par>
                          <p:cTn id="5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" dur="800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1" dur="800" fill="hold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" dur="800" fill="hold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" dur="800" fill="hold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67" nodeType="clickEffect" fill="hold">
                      <p:stCondLst>
                        <p:cond delay="indefinite"/>
                      </p:stCondLst>
                      <p:childTnLst>
                        <p:par>
                          <p:cTn id="6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1" dur="500" fill="hold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2" dur="500" fill="hold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3" dur="500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>
                                      <p:txEl>
                                        <p:pRg st="3" end="3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77" dur="1" fill="hold"/>
                                  <p:tgtEl>
                                    <p:spTgt spid="61">
                                      <p:txEl>
                                        <p:pRg st="4" end="4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 txBox="1"/>
          <p:nvPr/>
        </p:nvSpPr>
        <p:spPr>
          <a:xfrm>
            <a:off x="2023680" y="2057400"/>
            <a:ext cx="7527960" cy="411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944"/>
          </a:bodyPr>
          <a:p>
            <a:pPr marL="272880" indent="-272880">
              <a:lnSpc>
                <a:spcPct val="90000"/>
              </a:lnSpc>
              <a:spcBef>
                <a:spcPts val="700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CLASS</a:t>
            </a:r>
            <a:r>
              <a:rPr b="1" lang="en-US" sz="28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	</a:t>
            </a:r>
            <a:r>
              <a:rPr b="1" lang="en-US" sz="28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C:</a:t>
            </a:r>
            <a:r>
              <a:rPr b="1" lang="en-US" sz="28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 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lnSpc>
                <a:spcPct val="90000"/>
              </a:lnSpc>
              <a:spcBef>
                <a:spcPts val="2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 algn="l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IFR AND VFR FLIGHTS ARE PERMITED, ALL FLIGTS ARE SUBJECT TO AIR TRAFFIC CONTROL SERVICE AND IFR FLIGHTS ARE SEPARATED FROM OTHER IFR FLIGHTS AND FROM VFR FLIGTS. 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 algn="l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 algn="l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VFR FLIGHTS ARE SEPRATED FROM IFR FLIGHTS AND RECEIVE TRAFFIC INFO ABOUT OTHER VFR TRAFFIC. 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lnSpc>
                <a:spcPct val="90000"/>
              </a:lnSpc>
              <a:spcBef>
                <a:spcPts val="700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Rectangle 2"/>
          <p:cNvSpPr/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t" lIns="0" rIns="0" tIns="0" bIns="0" wrap="square">
            <a:normAutofit/>
          </a:bodyPr>
          <a:p>
            <a:pPr algn="l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AIRSPACE CLASSIFICATION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9004" name="design9004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8" dur="indefinite" restart="never" nodeType="tmRoot">
          <p:childTnLst>
            <p:seq>
              <p:cTn id="79" dur="indefinite" nodeType="mainSeq">
                <p:childTnLst>
                  <p:par>
                    <p:cTn id="80" nodeType="clickEffect" fill="hold">
                      <p:stCondLst>
                        <p:cond delay="indefinite"/>
                      </p:stCondLst>
                      <p:childTnLst>
                        <p:par>
                          <p:cTn id="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" dur="1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5" dur="4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6" dur="4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7" dur="6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8" dur="6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nodeType="clickEffect" fill="hold">
                      <p:stCondLst>
                        <p:cond delay="indefinite"/>
                      </p:stCondLst>
                      <p:childTnLst>
                        <p:par>
                          <p:cTn id="9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3" dur="500" fill="hold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4" dur="500" fill="hold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5" dur="500" fill="hold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36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6" dur="500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nodeType="clickEffect" fill="hold">
                      <p:stCondLst>
                        <p:cond delay="indefinite"/>
                      </p:stCondLst>
                      <p:childTnLst>
                        <p:par>
                          <p:cTn id="9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1" dur="1000" fill="hold"/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2" dur="1000" fill="hold"/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3" dur="1000" fill="hold"/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04" dur="1000"/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1809480" y="1844280"/>
            <a:ext cx="8643960" cy="4514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021"/>
          </a:bodyPr>
          <a:p>
            <a:pPr marL="272880" indent="-272880">
              <a:lnSpc>
                <a:spcPct val="90000"/>
              </a:lnSpc>
              <a:spcBef>
                <a:spcPts val="601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CLASS</a:t>
            </a:r>
            <a:r>
              <a:rPr b="1" lang="en-US" sz="28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	</a:t>
            </a:r>
            <a:r>
              <a:rPr b="1" lang="en-US" sz="28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D</a:t>
            </a:r>
            <a:r>
              <a:rPr b="0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(NOT IN USE IN MUSCAT FIR)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 algn="l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SAME LIKE CLASS C BUT HERE VFR FLIGTS RECEIVES TRAFFIC INFO ABOUT ALL OTHER TRAFFIC.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lnSpc>
                <a:spcPct val="90000"/>
              </a:lnSpc>
              <a:spcBef>
                <a:spcPts val="601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CLASS</a:t>
            </a:r>
            <a:r>
              <a:rPr b="1" lang="en-US" sz="28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	</a:t>
            </a:r>
            <a:r>
              <a:rPr b="1" lang="en-US" sz="28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E</a:t>
            </a: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(NOT IN USE IN MUSCAT FIR)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 algn="l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IFR AND VFR FLIGHTS ARE PERMITED,IFR FLIGTS ARE SUBJECT TO AIR TRAFFIC CONTROL SERVICE AND ARE SEPARATED FROM OTHER IFR FLIGHTS. ALL FLIGTS RECEIVE TRAFFIC INFO AS FAR AS PRACTICABLE. 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lvl="1" marL="639720" indent="-2458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Rectangle 2"/>
          <p:cNvSpPr/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t" lIns="0" rIns="0" tIns="0" bIns="0" wrap="square">
            <a:normAutofit/>
          </a:bodyPr>
          <a:p>
            <a:pPr algn="l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AIRSPACE CLASSIFICATION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9005" name="design9005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5" dur="indefinite" restart="never" nodeType="tmRoot">
          <p:childTnLst>
            <p:seq>
              <p:cTn id="106" dur="indefinite" nodeType="mainSeq">
                <p:childTnLst>
                  <p:par>
                    <p:cTn id="107" nodeType="clickEffect" fill="hold">
                      <p:stCondLst>
                        <p:cond delay="indefinite"/>
                      </p:stCondLst>
                      <p:childTnLst>
                        <p:par>
                          <p:cTn id="10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1" dur="8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2" dur="8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3" dur="8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4" dur="8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nodeType="clickEffect" fill="hold">
                      <p:stCondLst>
                        <p:cond delay="indefinite"/>
                      </p:stCondLst>
                      <p:childTnLst>
                        <p:par>
                          <p:cTn id="1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1" dur="1000" fill="hold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2" dur="1000" fill="hold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3" dur="1000" fill="hold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24" dur="10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5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26" nodeType="clickEffect" fill="hold">
                      <p:stCondLst>
                        <p:cond delay="indefinite"/>
                      </p:stCondLst>
                      <p:childTnLst>
                        <p:par>
                          <p:cTn id="1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0" dur="5000" fill="hold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1" dur="5000" fill="hold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1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5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33" nodeType="clickEffect" fill="hold">
                      <p:stCondLst>
                        <p:cond delay="indefinite"/>
                      </p:stCondLst>
                      <p:childTnLst>
                        <p:par>
                          <p:cTn id="1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7" dur="500" fill="hold"/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8" dur="500" fill="hold"/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9" dur="500" fill="hold"/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0" dur="500" fill="hold"/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41" dur="500"/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5">
                                      <p:txEl>
                                        <p:pRg st="3" end="3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145" dur="1" fill="hold"/>
                                  <p:tgtEl>
                                    <p:spTgt spid="65">
                                      <p:txEl>
                                        <p:pRg st="4" end="4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AIRSPACE CLASSIFICATION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918920" y="2057400"/>
            <a:ext cx="8535960" cy="411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700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CLASS F:</a:t>
            </a:r>
            <a:r>
              <a:rPr b="0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 algn="l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IFR AND VFR FLIGHTS ARE PERMITTED. ALL FLIGHTS RECEIVE AN AIR TRAFFIC ADVISORY SERVICE.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spcBef>
                <a:spcPts val="601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CLASS G:</a:t>
            </a: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</a:t>
            </a: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(NOT IN USE IN MUSCAT FIR)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 algn="l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IFR AND VFR FLIGHTS AND RECEIVE FLIGHT INFO SERVICE IF REQUESTED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. 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06" name="design9006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6" dur="indefinite" restart="never" nodeType="tmRoot">
          <p:childTnLst>
            <p:seq>
              <p:cTn id="147" dur="indefinite" nodeType="mainSeq">
                <p:childTnLst>
                  <p:par>
                    <p:cTn id="148" nodeType="clickEffect" fill="hold">
                      <p:stCondLst>
                        <p:cond delay="indefinite"/>
                      </p:stCondLst>
                      <p:childTnLst>
                        <p:par>
                          <p:cTn id="1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plus(in)" transition="in">
                                      <p:cBhvr additive="repl">
                                        <p:cTn id="152" dur="20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nodeType="clickEffect" fill="hold">
                      <p:stCondLst>
                        <p:cond delay="indefinite"/>
                      </p:stCondLst>
                      <p:childTnLst>
                        <p:par>
                          <p:cTn id="15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157" dur="20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8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59" nodeType="clickEffect" fill="hold">
                      <p:stCondLst>
                        <p:cond delay="indefinite"/>
                      </p:stCondLst>
                      <p:childTnLst>
                        <p:par>
                          <p:cTn id="1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1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3" dur="100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64" dur="400" fill="hold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5" dur="400" fill="hold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6" dur="6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7" dur="6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1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8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69" nodeType="clickEffect" fill="hold">
                      <p:stCondLst>
                        <p:cond delay="indefinite"/>
                      </p:stCondLst>
                      <p:childTnLst>
                        <p:par>
                          <p:cTn id="17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outVertical)" transition="in">
                                      <p:cBhvr additive="repl">
                                        <p:cTn id="173" dur="500"/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8">
                                      <p:txEl>
                                        <p:pRg st="3" end="3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177" dur="1" fill="hold"/>
                                  <p:tgtEl>
                                    <p:spTgt spid="68">
                                      <p:txEl>
                                        <p:pRg st="4" end="4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"/>
          <p:cNvGraphicFramePr/>
          <p:nvPr/>
        </p:nvGraphicFramePr>
        <p:xfrm>
          <a:off x="2057520" y="1052640"/>
          <a:ext cx="8305560" cy="5486400"/>
        </p:xfrm>
        <a:graphic>
          <a:graphicData uri="http://schemas.openxmlformats.org/drawingml/2006/table">
            <a:tbl>
              <a:tblPr/>
              <a:tblGrid>
                <a:gridCol w="1218960"/>
                <a:gridCol w="938160"/>
                <a:gridCol w="822600"/>
                <a:gridCol w="1096920"/>
                <a:gridCol w="1146240"/>
                <a:gridCol w="950760"/>
                <a:gridCol w="1141560"/>
                <a:gridCol w="990360"/>
              </a:tblGrid>
              <a:tr h="0"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Class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Type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of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Flight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Separation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Provided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Service Provided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VMC Visibility and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Distance from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Cloud Minima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Speed Limita-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tion 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Radio Com-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munication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Requirement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ATC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Clear-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ance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</a:tr>
              <a:tr h="0"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IFR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only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All aircraft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Air traffic control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service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Not applicable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Not applicable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Continuous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two-way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 rowSpan="2"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IFR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All aircraft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Air traffic control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service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Not applicable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Not applicable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Continuous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two-way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</a:tr>
              <a:tr h="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9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VFR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All aircraft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Air traffic control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service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8 km at and above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3050m (10000 FT)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AMSL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5 km below 3050m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(10000 FT) AMSL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Clear of clouds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Not applicable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Continuous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two-way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0" name="Rectangle 208"/>
          <p:cNvSpPr/>
          <p:nvPr/>
        </p:nvSpPr>
        <p:spPr>
          <a:xfrm>
            <a:off x="1524000" y="454644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07" name="design9007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"/>
          <p:cNvGraphicFramePr/>
          <p:nvPr/>
        </p:nvGraphicFramePr>
        <p:xfrm>
          <a:off x="1703280" y="228600"/>
          <a:ext cx="8507520" cy="6494400"/>
        </p:xfrm>
        <a:graphic>
          <a:graphicData uri="http://schemas.openxmlformats.org/drawingml/2006/table">
            <a:tbl>
              <a:tblPr/>
              <a:tblGrid>
                <a:gridCol w="647640"/>
                <a:gridCol w="865440"/>
                <a:gridCol w="934920"/>
                <a:gridCol w="1513080"/>
                <a:gridCol w="1530360"/>
                <a:gridCol w="1133280"/>
                <a:gridCol w="1046160"/>
                <a:gridCol w="836640"/>
              </a:tblGrid>
              <a:tr h="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Class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Type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of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Flight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Separation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Provided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Service Provided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VMC Visibility and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Distance from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Cloud Minima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Speed Limita-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tion 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Radio Com-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munication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Requirement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ATC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Clear-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ance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</a:tr>
              <a:tr h="0">
                <a:tc rowSpan="2"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IFR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IFR from IFR 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IFR from VFR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Air traffic control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service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Not applicable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250 KT IAS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below 3050m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(10000 FT)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AMSL, unless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advised by ATC.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Continuous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two-way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9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VFR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VFR from IFR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1) Air traffic control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service for separa-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tion from IFR;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2) VFR /IFR traffic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information (and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traffic avoidance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advice on request)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8 km at and above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3050m (10000 FT)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AMSL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5 km below 3050m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(10000 FT) AMSL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1500m horizontal;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300m vertical dis-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tance from cloud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250 KT IAS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below 3050m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(10000 FT)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AMSL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Continuous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two-way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sp>
        <p:nvSpPr>
          <p:cNvPr id="9008" name="design9008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"/>
          <p:cNvGraphicFramePr/>
          <p:nvPr/>
        </p:nvGraphicFramePr>
        <p:xfrm>
          <a:off x="1828920" y="847800"/>
          <a:ext cx="8515080" cy="5821200"/>
        </p:xfrm>
        <a:graphic>
          <a:graphicData uri="http://schemas.openxmlformats.org/drawingml/2006/table">
            <a:tbl>
              <a:tblPr/>
              <a:tblGrid>
                <a:gridCol w="684000"/>
                <a:gridCol w="663840"/>
                <a:gridCol w="960120"/>
                <a:gridCol w="1714680"/>
                <a:gridCol w="1396800"/>
                <a:gridCol w="1151280"/>
                <a:gridCol w="1152360"/>
                <a:gridCol w="792000"/>
              </a:tblGrid>
              <a:tr h="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Class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Type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of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Flight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Separation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Provided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Service Provided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VMC Visibility and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Distance from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Cloud Minima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Speed Limita-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tion 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Radio Com-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munication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Requirement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ATC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Clear-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ance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</a:tr>
              <a:tr h="0">
                <a:tc rowSpan="2"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D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IFR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IFR from IFR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Air traffic control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service including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traffic information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about VFR flights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(and traffic avoid-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ance advice on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request)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Not applicable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250 KT IAS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below 3050m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(10000 FT)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AMSL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Continuous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two-way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9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VFR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Nil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Traffic information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between VFR and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IFR flights (and traf-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fic avoidance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advice on request)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8 km at and above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3050m (10000 FT)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AMSL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5 km below 3050m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(10000 FT) AMSL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1500m horizontal;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300m vertical dis-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tance from cloud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250 KT IAS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below 3050m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(10000 FT)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AMSL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Continuous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two-way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sp>
        <p:nvSpPr>
          <p:cNvPr id="73" name="Rectangle 154"/>
          <p:cNvSpPr/>
          <p:nvPr/>
        </p:nvSpPr>
        <p:spPr>
          <a:xfrm>
            <a:off x="1524000" y="4853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09" name="design9009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"/>
          <p:cNvGraphicFramePr/>
          <p:nvPr/>
        </p:nvGraphicFramePr>
        <p:xfrm>
          <a:off x="1904880" y="380880"/>
          <a:ext cx="8439120" cy="6218280"/>
        </p:xfrm>
        <a:graphic>
          <a:graphicData uri="http://schemas.openxmlformats.org/drawingml/2006/table">
            <a:tbl>
              <a:tblPr/>
              <a:tblGrid>
                <a:gridCol w="974880"/>
                <a:gridCol w="960480"/>
                <a:gridCol w="738000"/>
                <a:gridCol w="1328760"/>
                <a:gridCol w="1701720"/>
                <a:gridCol w="1008360"/>
                <a:gridCol w="792000"/>
                <a:gridCol w="934920"/>
              </a:tblGrid>
              <a:tr h="0"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Class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Type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of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Flight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Separation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Provided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Service Provided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VMC Visibility and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Distance from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Cloud Minima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Speed Limita-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tion 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Radio Com-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munication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Requirement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ATC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Clear-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ance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</a:tr>
              <a:tr h="0">
                <a:tc rowSpan="2"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IFR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IFR from IFR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Air traffic control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service and traffic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information about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VFR flights as far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as practical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Not applicable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250 KT IAS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below 3050m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(10000 FT)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AMSL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Continuous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two-way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9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VFR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Nil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Traffic information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as far as practical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8 km at and above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3050m (10000 FT)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AMSL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5 km below 3050m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(10000 FT) AMSL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1500m horizontal;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300m vertical dis-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tance from cloud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250 KT IAS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below 3050m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(10000 FT)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AMSL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sp>
        <p:nvSpPr>
          <p:cNvPr id="75" name="Rectangle 154"/>
          <p:cNvSpPr/>
          <p:nvPr/>
        </p:nvSpPr>
        <p:spPr>
          <a:xfrm>
            <a:off x="1524000" y="469584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10" name="design9010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"/>
          <p:cNvGraphicFramePr/>
          <p:nvPr/>
        </p:nvGraphicFramePr>
        <p:xfrm>
          <a:off x="1703280" y="228600"/>
          <a:ext cx="8713800" cy="6488280"/>
        </p:xfrm>
        <a:graphic>
          <a:graphicData uri="http://schemas.openxmlformats.org/drawingml/2006/table">
            <a:tbl>
              <a:tblPr/>
              <a:tblGrid>
                <a:gridCol w="623880"/>
                <a:gridCol w="662040"/>
                <a:gridCol w="928800"/>
                <a:gridCol w="928800"/>
                <a:gridCol w="2855880"/>
                <a:gridCol w="1143000"/>
                <a:gridCol w="928440"/>
                <a:gridCol w="642960"/>
              </a:tblGrid>
              <a:tr h="0"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Class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Type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of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Flight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Separation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Provided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Service Provided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VMC Visibility and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Distance from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Cloud Minima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Speed Limita-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tion 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Radio Com-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munication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Requirement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ATC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Clear-ance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</a:tr>
              <a:tr h="0">
                <a:tc rowSpan="2"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F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IFR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IFR from IFR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as far as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practical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Air traffic advisory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service; flight infor-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mation service,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radar advisory ser-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vice.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Not applicable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250 KT IAS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below 3050m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(10000 FT)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AMSL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Continuous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two-way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9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VFR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Nil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Flight information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service, radar advi-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sory service.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8 km at and above 3050m (10000 FT) AMSL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5 km below 3050m (10000 FT) AMSL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1500m horizontal;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300m vertical distance from cloud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At and below 900m AMSL or 300m above terrain which ever is higher .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5 km (2) , clear of cloud and in sight of ground or water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250 KT IAS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below 3050m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(10000 FT)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AMSL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sp>
        <p:nvSpPr>
          <p:cNvPr id="9011" name="design9011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" name=""/>
          <p:cNvGraphicFramePr/>
          <p:nvPr/>
        </p:nvGraphicFramePr>
        <p:xfrm>
          <a:off x="1752600" y="685800"/>
          <a:ext cx="8591400" cy="5983200"/>
        </p:xfrm>
        <a:graphic>
          <a:graphicData uri="http://schemas.openxmlformats.org/drawingml/2006/table">
            <a:tbl>
              <a:tblPr/>
              <a:tblGrid>
                <a:gridCol w="669960"/>
                <a:gridCol w="646200"/>
                <a:gridCol w="933480"/>
                <a:gridCol w="1247760"/>
                <a:gridCol w="1842840"/>
                <a:gridCol w="1149480"/>
                <a:gridCol w="1149480"/>
                <a:gridCol w="952200"/>
              </a:tblGrid>
              <a:tr h="0"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Class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Type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of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Flight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Separation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Provided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Service Provided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VMC Visibility and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Distance from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Cloud Minima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Speed Limita-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tion 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Radio Com-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munication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Requirement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ATC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Clear-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ance</a:t>
                      </a:r>
                      <a:endParaRPr b="1" lang="en-US" sz="112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</a:tr>
              <a:tr h="0">
                <a:tc rowSpan="2"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G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IFR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Nil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Flight information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service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Not applicable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250 KT IAS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below 3050m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(10000 FT)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AMSL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Continuous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two-way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9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VFR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Nil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Flight information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service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8 km at and above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3050m (10000 FT)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AMSL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5 km below 3050m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(10000 FT) AMSL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1500m horizontal;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300m vertical dis-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tance from cloud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At and below 900m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AMSL or 300m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above terrain which-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ever is higher - 5 km,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clear of cloud and in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sight of ground or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water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250 KT IAS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below 3050m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(10000 FT)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AMSL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12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b="0" lang="en-US" sz="112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sp>
        <p:nvSpPr>
          <p:cNvPr id="9012" name="design9012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uFillTx/>
                <a:latin typeface="Cambria"/>
                <a:ea typeface="Cambria"/>
                <a:cs typeface="Cambria"/>
              </a:rPr>
              <a:t>AIRSPACES USED IN OMAN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981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1349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5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A</a:t>
            </a:r>
            <a:r>
              <a:rPr b="0" lang="en-US" sz="5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</a:t>
            </a:r>
            <a:endParaRPr b="0" lang="en-US" sz="5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spcBef>
                <a:spcPts val="1349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5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C</a:t>
            </a:r>
            <a:r>
              <a:rPr b="0" lang="en-US" sz="5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</a:t>
            </a:r>
            <a:endParaRPr b="0" lang="en-US" sz="5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spcBef>
                <a:spcPts val="1349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5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F</a:t>
            </a:r>
            <a:endParaRPr b="0" lang="en-US" sz="5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13" name="design9013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8" dur="indefinite" restart="never" nodeType="tmRoot">
          <p:childTnLst>
            <p:seq>
              <p:cTn id="179" dur="indefinite" nodeType="mainSeq">
                <p:childTnLst>
                  <p:par>
                    <p:cTn id="180" nodeType="clickEffect" fill="hold">
                      <p:stCondLst>
                        <p:cond delay="indefinite"/>
                      </p:stCondLst>
                      <p:childTnLst>
                        <p:par>
                          <p:cTn id="1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84" dur="8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-103,51,51)"/>
                                          </p:val>
                                        </p:tav>
                                        <p:tav tm="50000">
                                          <p:val>
                                            <p:strVal val="rgb(-103,-103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85" dur="8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-103,51,51)"/>
                                          </p:val>
                                        </p:tav>
                                        <p:tav tm="50000">
                                          <p:val>
                                            <p:strVal val="rgb(-103,-103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6" dur="8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nodeType="clickEffect" fill="hold">
                      <p:stCondLst>
                        <p:cond delay="indefinite"/>
                      </p:stCondLst>
                      <p:childTnLst>
                        <p:par>
                          <p:cTn id="1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1" dur="1000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92" dur="1000" fill="hold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3" dur="900" fill="hold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4" dur="1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1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96" nodeType="clickEffect" fill="hold">
                      <p:stCondLst>
                        <p:cond delay="indefinite"/>
                      </p:stCondLst>
                      <p:childTnLst>
                        <p:par>
                          <p:cTn id="19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0" dur="2000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1" dur="2000" fill="hold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72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2" dur="2000" fill="hold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3" dur="2000" fill="hold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2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207" dur="1" fill="hold"/>
                                  <p:tgtEl>
                                    <p:spTgt spid="79">
                                      <p:txEl>
                                        <p:pRg st="2" end="2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br>
              <a:rPr sz="2600" b="1">
                <a:solidFill>
                  <a:srgbClr val="10263F"/>
                </a:solidFill>
                <a:latin typeface="Cambria"/>
                <a:ea typeface="Cambria"/>
                <a:cs typeface="Cambria"/>
              </a:rPr>
            </a:br>
            <a:br>
              <a:rPr sz="2600" b="1">
                <a:solidFill>
                  <a:srgbClr val="10263F"/>
                </a:solidFill>
                <a:latin typeface="Cambria"/>
                <a:ea typeface="Cambria"/>
                <a:cs typeface="Cambria"/>
              </a:rPr>
            </a:br>
            <a:br>
              <a:rPr sz="2600" b="1">
                <a:solidFill>
                  <a:srgbClr val="10263F"/>
                </a:solidFill>
                <a:latin typeface="Cambria"/>
                <a:ea typeface="Cambria"/>
                <a:cs typeface="Cambria"/>
              </a:rPr>
            </a:br>
            <a:r>
              <a:rPr b="1" lang="en-US" sz="2600" spc="-1" strike="noStrike">
                <a:solidFill>
                  <a:srgbClr val="10263F"/>
                </a:solidFill>
                <a:uFillTx/>
                <a:latin typeface="Cambria"/>
                <a:ea typeface="Cambria"/>
                <a:cs typeface="Cambria"/>
              </a:rPr>
              <a:t>VMC VISIBILITY AND DISTANCE FROM CLOUD  MINIMA .</a:t>
            </a: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 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2209800" y="2714400"/>
            <a:ext cx="7772400" cy="32432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649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8 km AT AND ABOVE 10000`.</a:t>
            </a:r>
            <a:endParaRPr b="0" lang="en-US" sz="2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spcBef>
                <a:spcPts val="649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5 km BELOW 10000`.</a:t>
            </a:r>
            <a:endParaRPr b="0" lang="en-US" sz="2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spcBef>
                <a:spcPts val="649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1500M HORIZONTAL</a:t>
            </a:r>
            <a:endParaRPr b="0" lang="en-US" sz="2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spcBef>
                <a:spcPts val="649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300 M VERTICAL DISTANCE FROM CLOUD.</a:t>
            </a:r>
            <a:endParaRPr b="0" lang="en-US" sz="2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14" name="design9014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8" dur="indefinite" restart="never" nodeType="tmRoot">
          <p:childTnLst>
            <p:seq>
              <p:cTn id="209" dur="indefinite" nodeType="mainSeq">
                <p:childTnLst>
                  <p:par>
                    <p:cTn id="210" nodeType="clickEffect" fill="hold">
                      <p:stCondLst>
                        <p:cond delay="indefinite"/>
                      </p:stCondLst>
                      <p:childTnLst>
                        <p:par>
                          <p:cTn id="2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4" dur="10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15" dur="10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6" dur="10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nodeType="clickEffect" fill="hold">
                      <p:stCondLst>
                        <p:cond delay="indefinite"/>
                      </p:stCondLst>
                      <p:childTnLst>
                        <p:par>
                          <p:cTn id="2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1" dur="20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22" dur="2000" fill="hold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str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3" dur="2000" fill="hold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2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1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25" nodeType="clickEffect" fill="hold">
                      <p:stCondLst>
                        <p:cond delay="indefinite"/>
                      </p:stCondLst>
                      <p:childTnLst>
                        <p:par>
                          <p:cTn id="226" nodeType="withEffect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2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1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28" nodeType="clickEffect" fill="hold">
                      <p:stCondLst>
                        <p:cond delay="indefinite"/>
                      </p:stCondLst>
                      <p:childTnLst>
                        <p:par>
                          <p:cTn id="2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32" dur="500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1">
                                      <p:txEl>
                                        <p:pRg st="2" end="2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236" dur="1" fill="hold"/>
                                  <p:tgtEl>
                                    <p:spTgt spid="81">
                                      <p:txEl>
                                        <p:pRg st="3" end="3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5355A"/>
            </a:gs>
            <a:gs pos="100000">
              <a:srgbClr val="091626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/>
        </p:nvSpPr>
        <p:spPr>
          <a:xfrm>
            <a:off x="960120" y="2148840"/>
            <a:ext cx="10241280" cy="192024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4000" spc="-1" strike="noStrike">
                <a:solidFill>
                  <a:srgbClr val="FFFFFF"/>
                </a:solidFill>
                <a:uFillTx/>
                <a:latin typeface="Cambria"/>
                <a:ea typeface="Cambria"/>
                <a:cs typeface="Cambria"/>
              </a:rPr>
              <a:t>ARCS &amp; RADIALS</a:t>
            </a:r>
            <a:endParaRPr b="1" lang="en-US" sz="4000" spc="-1" strike="noStrike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9015" name="design9015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7E93A8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/>
        </p:nvSpPr>
        <p:spPr>
          <a:xfrm>
            <a:off x="2209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Intercepting and Maintaining a </a:t>
            </a:r>
            <a:r>
              <a:rPr b="0" lang="ar-SA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Radial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Maintaining/Correcting an Arc 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Arc Interception from a Radial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Radial Interception from an Arc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 Box 5"/>
          <p:cNvSpPr/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t" lIns="0" rIns="0" tIns="0" bIns="0" wrap="square">
            <a:normAutofit/>
          </a:bodyPr>
          <a:p>
            <a:pPr algn="l">
              <a:lnSpc>
                <a:spcPct val="100000"/>
              </a:lnSpc>
              <a:spcBef>
                <a:spcPts val="33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uFillTx/>
                <a:latin typeface="Cambria"/>
                <a:ea typeface="Cambria"/>
                <a:cs typeface="Cambria"/>
              </a:rPr>
              <a:t>ARCS &amp; RADIALS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9016" name="design9016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nodeType="clickEffect" fill="hold">
                      <p:stCondLst>
                        <p:cond delay="indefinite"/>
                      </p:stCondLst>
                      <p:childTnLst>
                        <p:par>
                          <p:cTn id="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2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4" nodeType="clickEffect" fill="hold">
                      <p:stCondLst>
                        <p:cond delay="indefinite"/>
                      </p:stCondLst>
                      <p:childTnLst>
                        <p:par>
                          <p:cTn id="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heel(8)" transition="in">
                                      <p:cBhvr additive="repl">
                                        <p:cTn id="18" dur="2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>
                                      <p:txEl>
                                        <p:pRg st="2" end="2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0" nodeType="clickEffect" fill="hold">
                      <p:stCondLst>
                        <p:cond delay="indefinite"/>
                      </p:stCondLst>
                      <p:childTnLst>
                        <p:par>
                          <p:cTn id="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" dur="2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>
                                      <p:txEl>
                                        <p:pRg st="3" end="3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28" dur="1" fill="hold"/>
                                  <p:tgtEl>
                                    <p:spTgt spid="14">
                                      <p:txEl>
                                        <p:pRg st="4" end="4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uFillTx/>
                <a:latin typeface="Cambria"/>
                <a:ea typeface="Cambria"/>
                <a:cs typeface="Cambria"/>
              </a:rPr>
              <a:t>ARCS &amp; RADIALS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7" name="Text Box 1029"/>
          <p:cNvSpPr/>
          <p:nvPr/>
        </p:nvSpPr>
        <p:spPr>
          <a:xfrm>
            <a:off x="3962280" y="3048120"/>
            <a:ext cx="464832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800" spc="-1" strike="noStrike">
                <a:solidFill>
                  <a:srgbClr val="10263F"/>
                </a:solidFill>
                <a:uFillTx/>
                <a:latin typeface="Calibri"/>
                <a:ea typeface="Calibri"/>
                <a:cs typeface="Calibri"/>
              </a:rPr>
              <a:t>THE AIMS</a:t>
            </a:r>
            <a:endParaRPr b="0" lang="en-US" sz="48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17" name="design9017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" dur="indefinite" restart="never" nodeType="tmRoot">
          <p:childTnLst>
            <p:seq>
              <p:cTn id="30" dur="indefinite" nodeType="mainSeq">
                <p:childTnLst>
                  <p:par>
                    <p:cTn id="31" nodeType="clickEffect" fill="hold">
                      <p:stCondLst>
                        <p:cond delay="indefinite"/>
                      </p:stCondLst>
                      <p:childTnLst>
                        <p:par>
                          <p:cTn id="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" dur="9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1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uFillTx/>
                <a:latin typeface="Cambria"/>
                <a:ea typeface="Cambria"/>
                <a:cs typeface="Cambria"/>
              </a:rPr>
              <a:t>ARCS &amp; RADIALS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9" name="PlaceHolder 2"/>
          <p:cNvSpPr>
            <a:spLocks noGrp="1"/>
          </p:cNvSpPr>
          <p:nvPr/>
        </p:nvSpPr>
        <p:spPr>
          <a:xfrm>
            <a:off x="2209800" y="4214520"/>
            <a:ext cx="7772400" cy="207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a.</a:t>
            </a:r>
            <a:r>
              <a:rPr b="0" lang="en-US" sz="40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40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Using VOR needle</a:t>
            </a:r>
            <a:endParaRPr b="0" lang="en-US" sz="40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b.</a:t>
            </a:r>
            <a:r>
              <a:rPr b="0" lang="en-US" sz="40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40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Using beam bar on HSI</a:t>
            </a:r>
            <a:endParaRPr b="0" lang="en-US" sz="40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 Box 4"/>
          <p:cNvSpPr/>
          <p:nvPr/>
        </p:nvSpPr>
        <p:spPr>
          <a:xfrm>
            <a:off x="2057520" y="2286000"/>
            <a:ext cx="8153280" cy="26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pc="-1" strike="noStrike">
                <a:solidFill>
                  <a:srgbClr val="10263F"/>
                </a:solidFill>
                <a:uFillTx/>
                <a:latin typeface="Calibri"/>
                <a:ea typeface="Calibri"/>
                <a:cs typeface="Calibri"/>
              </a:rPr>
              <a:t>INTERCEPTING &amp; MAINTAINING </a:t>
            </a:r>
            <a:endParaRPr b="0" lang="en-US" sz="36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pc="-1" strike="noStrike">
                <a:solidFill>
                  <a:srgbClr val="10263F"/>
                </a:solidFill>
                <a:uFillTx/>
                <a:latin typeface="Calibri"/>
                <a:ea typeface="Calibri"/>
                <a:cs typeface="Calibri"/>
              </a:rPr>
              <a:t>A RADIAL</a:t>
            </a:r>
            <a:endParaRPr b="0" lang="en-US" sz="36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6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18" name="design9018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" dur="indefinite" restart="never" nodeType="tmRoot">
          <p:childTnLst>
            <p:seq>
              <p:cTn id="40" dur="indefinite" nodeType="mainSeq">
                <p:childTnLst>
                  <p:par>
                    <p:cTn id="41" nodeType="clickEffect" fill="hold">
                      <p:stCondLst>
                        <p:cond delay="indefinite"/>
                      </p:stCondLst>
                      <p:childTnLst>
                        <p:par>
                          <p:cTn id="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4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nodeType="clickEffect" fill="hold">
                      <p:stCondLst>
                        <p:cond delay="indefinite"/>
                      </p:stCondLst>
                      <p:childTnLst>
                        <p:par>
                          <p:cTn id="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 from="(-#ppt_w/2)" to="(#ppt_x)">
                                      <p:cBhvr additive="repl">
                                        <p:cTn id="5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53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54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calcmode="lin" valueType="num" by="(#ppt_h/3+#ppt_w*0.1)">
                                      <p:cBhvr additive="sum">
                                        <p:cTn id="55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59" dur="1" fill="hold"/>
                                  <p:tgtEl>
                                    <p:spTgt spid="19">
                                      <p:txEl>
                                        <p:pRg st="2" end="2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uFillTx/>
                <a:latin typeface="Cambria"/>
                <a:ea typeface="Cambria"/>
                <a:cs typeface="Cambria"/>
              </a:rPr>
              <a:t>ARCS &amp; RADIALS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2" name="PlaceHolder 2"/>
          <p:cNvSpPr>
            <a:spLocks noGrp="1"/>
          </p:cNvSpPr>
          <p:nvPr/>
        </p:nvSpPr>
        <p:spPr>
          <a:xfrm>
            <a:off x="2209800" y="3123720"/>
            <a:ext cx="7772400" cy="297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ctr">
              <a:lnSpc>
                <a:spcPct val="100000"/>
              </a:lnSpc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‘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Pull the tail, push the head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’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of the needle to the required radial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 Box 4"/>
          <p:cNvSpPr/>
          <p:nvPr/>
        </p:nvSpPr>
        <p:spPr>
          <a:xfrm>
            <a:off x="2438400" y="2057400"/>
            <a:ext cx="746748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pc="-1" strike="noStrike">
                <a:solidFill>
                  <a:srgbClr val="10263F"/>
                </a:solidFill>
                <a:uFillTx/>
                <a:latin typeface="Calibri"/>
                <a:ea typeface="Calibri"/>
                <a:cs typeface="Calibri"/>
              </a:rPr>
              <a:t>Using a VOR needle</a:t>
            </a:r>
            <a:endParaRPr b="0" lang="en-US" sz="40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19" name="design9019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0" dur="indefinite" restart="never" nodeType="tmRoot">
          <p:childTnLst>
            <p:seq>
              <p:cTn id="61" dur="indefinite" nodeType="mainSeq">
                <p:childTnLst>
                  <p:par>
                    <p:cTn id="62" nodeType="clickEffect" fill="hold">
                      <p:stCondLst>
                        <p:cond delay="indefinite"/>
                      </p:stCondLst>
                      <p:childTnLst>
                        <p:par>
                          <p:cTn id="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4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" dur="2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7" dur="2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str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8" dur="2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uFillTx/>
                <a:latin typeface="Cambria"/>
                <a:ea typeface="Cambria"/>
                <a:cs typeface="Cambria"/>
              </a:rPr>
              <a:t>ARCS &amp; RADIALS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5" name="PlaceHolder 2"/>
          <p:cNvSpPr>
            <a:spLocks noGrp="1"/>
          </p:cNvSpPr>
          <p:nvPr/>
        </p:nvSpPr>
        <p:spPr>
          <a:xfrm>
            <a:off x="2209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800" spc="-1" strike="noStrike">
                <a:solidFill>
                  <a:srgbClr val="10263F"/>
                </a:solidFill>
                <a:uFillTx/>
                <a:latin typeface="Calibri"/>
                <a:ea typeface="Calibri"/>
                <a:cs typeface="Calibri"/>
              </a:rPr>
              <a:t>‘</a:t>
            </a:r>
            <a:r>
              <a:rPr b="1" lang="en-US" sz="4800" spc="-1" strike="noStrike">
                <a:solidFill>
                  <a:srgbClr val="10263F"/>
                </a:solidFill>
                <a:uFillTx/>
                <a:latin typeface="Calibri"/>
                <a:ea typeface="Calibri"/>
                <a:cs typeface="Calibri"/>
              </a:rPr>
              <a:t>Pulling the tail</a:t>
            </a:r>
            <a:r>
              <a:rPr b="1" lang="en-US" sz="4800" spc="-1" strike="noStrike">
                <a:solidFill>
                  <a:srgbClr val="10263F"/>
                </a:solidFill>
                <a:uFillTx/>
                <a:latin typeface="Calibri"/>
                <a:ea typeface="Calibri"/>
                <a:cs typeface="Calibri"/>
              </a:rPr>
              <a:t>’</a:t>
            </a:r>
            <a:endParaRPr b="0" lang="en-US" sz="48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ctr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On 315R, fly to intercept 360R</a:t>
            </a:r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26" name="Group 31"/>
          <p:cNvGrpSpPr/>
          <p:nvPr/>
        </p:nvGrpSpPr>
        <p:grpSpPr>
          <a:xfrm>
            <a:off x="5029320" y="3505320"/>
            <a:ext cx="2791080" cy="2819160"/>
            <a:chOff x="3505320" y="3505320"/>
            <a:chExt cx="2791080" cy="2819160"/>
          </a:xfrm>
        </p:grpSpPr>
        <p:sp>
          <p:nvSpPr>
            <p:cNvPr id="27" name="Oval 6"/>
            <p:cNvSpPr/>
            <p:nvPr/>
          </p:nvSpPr>
          <p:spPr>
            <a:xfrm>
              <a:off x="3505320" y="3962520"/>
              <a:ext cx="2514600" cy="2361960"/>
            </a:xfrm>
            <a:prstGeom prst="ellipse">
              <a:avLst/>
            </a:prstGeom>
            <a:solidFill>
              <a:srgbClr val="C9D6E4"/>
            </a:solidFill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" name="Text Box 14"/>
            <p:cNvSpPr/>
            <p:nvPr/>
          </p:nvSpPr>
          <p:spPr>
            <a:xfrm>
              <a:off x="5412960" y="3733920"/>
              <a:ext cx="88344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rPr>
                <a:t>Hdg 030</a:t>
              </a:r>
              <a:endParaRPr b="0" lang="en-US" sz="16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" name="Line 15"/>
            <p:cNvSpPr/>
            <p:nvPr/>
          </p:nvSpPr>
          <p:spPr>
            <a:xfrm>
              <a:off x="4038480" y="4343400"/>
              <a:ext cx="1524240" cy="1600200"/>
            </a:xfrm>
            <a:prstGeom prst="line">
              <a:avLst/>
            </a:prstGeom>
            <a:ln w="12600">
              <a:solidFill>
                <a:srgbClr val="10263F"/>
              </a:solidFill>
              <a:prstDash val="dash"/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" name="Line 18"/>
            <p:cNvSpPr/>
            <p:nvPr/>
          </p:nvSpPr>
          <p:spPr>
            <a:xfrm flipV="1">
              <a:off x="3581280" y="3505320"/>
              <a:ext cx="990720" cy="45720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  <a:tailEnd len="med" type="arrow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ctr" wrap="none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" name="Line 20"/>
            <p:cNvSpPr/>
            <p:nvPr/>
          </p:nvSpPr>
          <p:spPr>
            <a:xfrm>
              <a:off x="4495680" y="4114800"/>
              <a:ext cx="381240" cy="198108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ctr" wrap="none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2" name="Rectangle 22"/>
            <p:cNvSpPr/>
            <p:nvPr/>
          </p:nvSpPr>
          <p:spPr>
            <a:xfrm>
              <a:off x="5334120" y="4038480"/>
              <a:ext cx="228600" cy="228600"/>
            </a:xfrm>
            <a:prstGeom prst="rect">
              <a:avLst/>
            </a:prstGeom>
            <a:solidFill>
              <a:srgbClr val="C9D6E4"/>
            </a:solidFill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33" name="Group 30"/>
          <p:cNvGrpSpPr/>
          <p:nvPr/>
        </p:nvGrpSpPr>
        <p:grpSpPr>
          <a:xfrm>
            <a:off x="1755480" y="3429000"/>
            <a:ext cx="2892600" cy="3048120"/>
            <a:chOff x="231480" y="3429000"/>
            <a:chExt cx="2892600" cy="3048120"/>
          </a:xfrm>
        </p:grpSpPr>
        <p:grpSp>
          <p:nvGrpSpPr>
            <p:cNvPr id="34" name="Group 29"/>
            <p:cNvGrpSpPr/>
            <p:nvPr/>
          </p:nvGrpSpPr>
          <p:grpSpPr>
            <a:xfrm>
              <a:off x="231480" y="3429000"/>
              <a:ext cx="2892600" cy="3048120"/>
              <a:chOff x="231480" y="3429000"/>
              <a:chExt cx="2892600" cy="3048120"/>
            </a:xfrm>
          </p:grpSpPr>
          <p:sp>
            <p:nvSpPr>
              <p:cNvPr id="35" name="Text Box 10"/>
              <p:cNvSpPr/>
              <p:nvPr/>
            </p:nvSpPr>
            <p:spPr>
              <a:xfrm>
                <a:off x="1295280" y="3429000"/>
                <a:ext cx="1371600" cy="459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z="2400" spc="-1" strike="noStrike">
                    <a:solidFill>
                      <a:srgbClr val="10263F"/>
                    </a:solidFill>
                    <a:latin typeface="Calibri"/>
                    <a:ea typeface="Calibri"/>
                    <a:cs typeface="Calibri"/>
                  </a:rPr>
                  <a:t>Hdg 360</a:t>
                </a:r>
                <a:r>
                  <a:rPr b="0" lang="en-US" sz="1800" spc="-1" strike="noStrike">
                    <a:solidFill>
                      <a:srgbClr val="10263F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endParaRPr b="0" lang="en-US" sz="18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36" name="Text Box 13"/>
              <p:cNvSpPr/>
              <p:nvPr/>
            </p:nvSpPr>
            <p:spPr>
              <a:xfrm>
                <a:off x="231480" y="4038480"/>
                <a:ext cx="668520" cy="337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46800" bIns="46800" anchor="t">
                <a:sp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z="1600" spc="-1" strike="noStrike">
                    <a:solidFill>
                      <a:srgbClr val="10263F"/>
                    </a:solidFill>
                    <a:latin typeface="Calibri"/>
                    <a:ea typeface="Calibri"/>
                    <a:cs typeface="Calibri"/>
                  </a:rPr>
                  <a:t>315</a:t>
                </a:r>
                <a:r>
                  <a:rPr b="0" lang="en-US" sz="1600" spc="-1" strike="noStrike">
                    <a:solidFill>
                      <a:srgbClr val="10263F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:r>
                  <a:rPr b="0" lang="en-US" sz="1600" spc="-1" strike="noStrike">
                    <a:solidFill>
                      <a:srgbClr val="10263F"/>
                    </a:solidFill>
                    <a:latin typeface="Calibri"/>
                    <a:ea typeface="Calibri"/>
                    <a:cs typeface="Calibri"/>
                  </a:rPr>
                  <a:t>R</a:t>
                </a:r>
                <a:endParaRPr b="0" lang="en-US" sz="16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37" name="Oval 21"/>
              <p:cNvSpPr/>
              <p:nvPr/>
            </p:nvSpPr>
            <p:spPr>
              <a:xfrm>
                <a:off x="609480" y="4114800"/>
                <a:ext cx="2514600" cy="2362320"/>
              </a:xfrm>
              <a:prstGeom prst="ellipse">
                <a:avLst/>
              </a:prstGeom>
              <a:solidFill>
                <a:srgbClr val="C9D6E4"/>
              </a:solidFill>
              <a:ln w="12600">
                <a:solidFill>
                  <a:srgbClr val="10263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2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38" name="Line 24"/>
            <p:cNvSpPr/>
            <p:nvPr/>
          </p:nvSpPr>
          <p:spPr>
            <a:xfrm>
              <a:off x="1143000" y="4495680"/>
              <a:ext cx="1218960" cy="160020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39" name="Group 32"/>
          <p:cNvGrpSpPr/>
          <p:nvPr/>
        </p:nvGrpSpPr>
        <p:grpSpPr>
          <a:xfrm>
            <a:off x="7848480" y="3414600"/>
            <a:ext cx="2514600" cy="2909880"/>
            <a:chOff x="6324480" y="3414600"/>
            <a:chExt cx="2514600" cy="2909880"/>
          </a:xfrm>
        </p:grpSpPr>
        <p:sp>
          <p:nvSpPr>
            <p:cNvPr id="40" name="Oval 4"/>
            <p:cNvSpPr/>
            <p:nvPr/>
          </p:nvSpPr>
          <p:spPr>
            <a:xfrm>
              <a:off x="6324480" y="3962520"/>
              <a:ext cx="2514600" cy="2361960"/>
            </a:xfrm>
            <a:prstGeom prst="ellipse">
              <a:avLst/>
            </a:prstGeom>
            <a:solidFill>
              <a:srgbClr val="C9D6E4"/>
            </a:solidFill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41" name="Rectangle 23"/>
            <p:cNvSpPr/>
            <p:nvPr/>
          </p:nvSpPr>
          <p:spPr>
            <a:xfrm>
              <a:off x="7467480" y="3886200"/>
              <a:ext cx="228600" cy="228600"/>
            </a:xfrm>
            <a:prstGeom prst="rect">
              <a:avLst/>
            </a:prstGeom>
            <a:solidFill>
              <a:srgbClr val="C9D6E4"/>
            </a:solidFill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42" name="Line 25"/>
            <p:cNvSpPr/>
            <p:nvPr/>
          </p:nvSpPr>
          <p:spPr>
            <a:xfrm>
              <a:off x="7543800" y="4191120"/>
              <a:ext cx="0" cy="198108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ctr" wrap="none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43" name="Text Box 26"/>
            <p:cNvSpPr/>
            <p:nvPr/>
          </p:nvSpPr>
          <p:spPr>
            <a:xfrm>
              <a:off x="6845040" y="3414600"/>
              <a:ext cx="14241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rPr>
                <a:t>Hdg 360, 360R</a:t>
              </a:r>
              <a:endParaRPr b="0" lang="en-US" sz="16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4" name="Text Box 28"/>
          <p:cNvSpPr/>
          <p:nvPr/>
        </p:nvSpPr>
        <p:spPr>
          <a:xfrm>
            <a:off x="7541400" y="6400800"/>
            <a:ext cx="37514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6800" bIns="46800" anchor="t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adjust hdg to offset drift!</a:t>
            </a:r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20" name="design9020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9" dur="indefinite" restart="never" nodeType="tmRoot">
          <p:childTnLst>
            <p:seq>
              <p:cTn id="70" dur="indefinite" nodeType="mainSeq">
                <p:childTnLst>
                  <p:par>
                    <p:cTn id="71" nodeType="clickEffect" fill="hold">
                      <p:stCondLst>
                        <p:cond delay="indefinite"/>
                      </p:stCondLst>
                      <p:childTnLst>
                        <p:par>
                          <p:cTn id="7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heel(3)" transition="in">
                                      <p:cBhvr additive="repl">
                                        <p:cTn id="75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nodeType="clickEffect" fill="hold">
                      <p:stCondLst>
                        <p:cond delay="indefinite"/>
                      </p:stCondLst>
                      <p:childTnLst>
                        <p:par>
                          <p:cTn id="7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o>
                                        <p:strVal val="-45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1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45"/>
                                          </p:val>
                                        </p:tav>
                                        <p:tav tm="69900">
                                          <p:val>
                                            <p:strVal val="45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3" dur="156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4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nodeType="clickEffect" fill="hold">
                      <p:stCondLst>
                        <p:cond delay="indefinite"/>
                      </p:stCondLst>
                      <p:childTnLst>
                        <p:par>
                          <p:cTn id="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nodeType="clickEffect" fill="hold">
                      <p:stCondLst>
                        <p:cond delay="indefinite"/>
                      </p:stCondLst>
                      <p:childTnLst>
                        <p:par>
                          <p:cTn id="9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nodeType="clickEffect" fill="hold">
                      <p:stCondLst>
                        <p:cond delay="indefinite"/>
                      </p:stCondLst>
                      <p:childTnLst>
                        <p:par>
                          <p:cTn id="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uFillTx/>
                <a:latin typeface="Cambria"/>
                <a:ea typeface="Cambria"/>
                <a:cs typeface="Cambria"/>
              </a:rPr>
              <a:t>ARCS &amp; RADIALS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46" name="PlaceHolder 2"/>
          <p:cNvSpPr>
            <a:spLocks noGrp="1"/>
          </p:cNvSpPr>
          <p:nvPr/>
        </p:nvSpPr>
        <p:spPr>
          <a:xfrm>
            <a:off x="1809840" y="1980720"/>
            <a:ext cx="8858160" cy="166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‘</a:t>
            </a:r>
            <a:r>
              <a:rPr b="1" lang="en-US" sz="36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pushing the head</a:t>
            </a:r>
            <a:r>
              <a:rPr b="1" lang="en-US" sz="36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’</a:t>
            </a:r>
            <a:endParaRPr b="0" lang="en-US" sz="36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ctr">
              <a:spcBef>
                <a:spcPts val="601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On 315(125R!), fly to intercept 360 inbound (180R!)</a:t>
            </a:r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47" name="Group 26"/>
          <p:cNvGrpSpPr/>
          <p:nvPr/>
        </p:nvGrpSpPr>
        <p:grpSpPr>
          <a:xfrm>
            <a:off x="4726920" y="3505320"/>
            <a:ext cx="2817000" cy="2819160"/>
            <a:chOff x="3202920" y="3505320"/>
            <a:chExt cx="2817000" cy="2819160"/>
          </a:xfrm>
        </p:grpSpPr>
        <p:sp>
          <p:nvSpPr>
            <p:cNvPr id="48" name="Oval 5"/>
            <p:cNvSpPr/>
            <p:nvPr/>
          </p:nvSpPr>
          <p:spPr>
            <a:xfrm>
              <a:off x="3505320" y="3962520"/>
              <a:ext cx="2514600" cy="2361960"/>
            </a:xfrm>
            <a:prstGeom prst="ellipse">
              <a:avLst/>
            </a:prstGeom>
            <a:solidFill>
              <a:srgbClr val="C9D6E4"/>
            </a:solidFill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49" name="Text Box 11"/>
            <p:cNvSpPr/>
            <p:nvPr/>
          </p:nvSpPr>
          <p:spPr>
            <a:xfrm>
              <a:off x="3202920" y="4038480"/>
              <a:ext cx="534240" cy="58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rPr>
                <a:t>Hdg</a:t>
              </a:r>
              <a:endParaRPr b="0" lang="en-US" sz="16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b="0" lang="en-US" sz="16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rPr>
                <a:t>280</a:t>
              </a:r>
              <a:endParaRPr b="0" lang="en-US" sz="16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0" name="Line 12"/>
            <p:cNvSpPr/>
            <p:nvPr/>
          </p:nvSpPr>
          <p:spPr>
            <a:xfrm>
              <a:off x="4038480" y="4343400"/>
              <a:ext cx="1524240" cy="1600200"/>
            </a:xfrm>
            <a:prstGeom prst="line">
              <a:avLst/>
            </a:prstGeom>
            <a:ln w="12600">
              <a:solidFill>
                <a:srgbClr val="10263F"/>
              </a:solidFill>
              <a:prstDash val="dash"/>
              <a:miter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1" name="Line 13"/>
            <p:cNvSpPr/>
            <p:nvPr/>
          </p:nvSpPr>
          <p:spPr>
            <a:xfrm flipV="1">
              <a:off x="3581280" y="3505320"/>
              <a:ext cx="990720" cy="45720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  <a:tailEnd len="med" type="arrow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ctr" wrap="none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2" name="Line 14"/>
            <p:cNvSpPr/>
            <p:nvPr/>
          </p:nvSpPr>
          <p:spPr>
            <a:xfrm>
              <a:off x="4495680" y="4114800"/>
              <a:ext cx="381240" cy="198108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ctr" wrap="none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3" name="Rectangle 16"/>
            <p:cNvSpPr/>
            <p:nvPr/>
          </p:nvSpPr>
          <p:spPr>
            <a:xfrm>
              <a:off x="3429000" y="4800600"/>
              <a:ext cx="228600" cy="228600"/>
            </a:xfrm>
            <a:prstGeom prst="rect">
              <a:avLst/>
            </a:prstGeom>
            <a:solidFill>
              <a:srgbClr val="C9D6E4"/>
            </a:solidFill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54" name="Group 27"/>
          <p:cNvGrpSpPr/>
          <p:nvPr/>
        </p:nvGrpSpPr>
        <p:grpSpPr>
          <a:xfrm>
            <a:off x="7439880" y="3414600"/>
            <a:ext cx="3227040" cy="3445920"/>
            <a:chOff x="5915880" y="3414600"/>
            <a:chExt cx="3227040" cy="3445920"/>
          </a:xfrm>
        </p:grpSpPr>
        <p:sp>
          <p:nvSpPr>
            <p:cNvPr id="55" name="Oval 4"/>
            <p:cNvSpPr/>
            <p:nvPr/>
          </p:nvSpPr>
          <p:spPr>
            <a:xfrm>
              <a:off x="6324480" y="3962520"/>
              <a:ext cx="2514600" cy="2361960"/>
            </a:xfrm>
            <a:prstGeom prst="ellipse">
              <a:avLst/>
            </a:prstGeom>
            <a:solidFill>
              <a:srgbClr val="C9D6E4"/>
            </a:solidFill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6" name="Rectangle 17"/>
            <p:cNvSpPr/>
            <p:nvPr/>
          </p:nvSpPr>
          <p:spPr>
            <a:xfrm>
              <a:off x="7467480" y="3886200"/>
              <a:ext cx="228600" cy="228600"/>
            </a:xfrm>
            <a:prstGeom prst="rect">
              <a:avLst/>
            </a:prstGeom>
            <a:solidFill>
              <a:srgbClr val="C9D6E4"/>
            </a:solidFill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7" name="Line 19"/>
            <p:cNvSpPr/>
            <p:nvPr/>
          </p:nvSpPr>
          <p:spPr>
            <a:xfrm>
              <a:off x="7543800" y="4191120"/>
              <a:ext cx="0" cy="198108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ctr" wrap="none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8" name="Text Box 20"/>
            <p:cNvSpPr/>
            <p:nvPr/>
          </p:nvSpPr>
          <p:spPr>
            <a:xfrm>
              <a:off x="6845040" y="3414600"/>
              <a:ext cx="14241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rPr>
                <a:t>Hdg 360, 180R</a:t>
              </a:r>
              <a:endParaRPr b="0" lang="en-US" sz="16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9" name="Rectangle 21"/>
            <p:cNvSpPr/>
            <p:nvPr/>
          </p:nvSpPr>
          <p:spPr>
            <a:xfrm>
              <a:off x="5915880" y="6400800"/>
              <a:ext cx="5376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square"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rPr>
                <a:t>adjust hdg to offset drift!</a:t>
              </a:r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60" name="Group 24"/>
          <p:cNvGrpSpPr/>
          <p:nvPr/>
        </p:nvGrpSpPr>
        <p:grpSpPr>
          <a:xfrm>
            <a:off x="1526160" y="3276720"/>
            <a:ext cx="2893320" cy="3047400"/>
            <a:chOff x="2160" y="3276720"/>
            <a:chExt cx="2893320" cy="3047400"/>
          </a:xfrm>
        </p:grpSpPr>
        <p:grpSp>
          <p:nvGrpSpPr>
            <p:cNvPr id="61" name="Group 22"/>
            <p:cNvGrpSpPr/>
            <p:nvPr/>
          </p:nvGrpSpPr>
          <p:grpSpPr>
            <a:xfrm>
              <a:off x="2160" y="3276720"/>
              <a:ext cx="2893320" cy="3047400"/>
              <a:chOff x="2160" y="3276720"/>
              <a:chExt cx="2893320" cy="3047400"/>
            </a:xfrm>
          </p:grpSpPr>
          <p:sp>
            <p:nvSpPr>
              <p:cNvPr id="62" name="Rectangle 7"/>
              <p:cNvSpPr/>
              <p:nvPr/>
            </p:nvSpPr>
            <p:spPr>
              <a:xfrm>
                <a:off x="1523880" y="3809880"/>
                <a:ext cx="228600" cy="228240"/>
              </a:xfrm>
              <a:prstGeom prst="rect">
                <a:avLst/>
              </a:prstGeom>
              <a:solidFill>
                <a:srgbClr val="C9D6E4"/>
              </a:solidFill>
              <a:ln w="12600">
                <a:solidFill>
                  <a:srgbClr val="10263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468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2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63" name="Text Box 9"/>
              <p:cNvSpPr/>
              <p:nvPr/>
            </p:nvSpPr>
            <p:spPr>
              <a:xfrm>
                <a:off x="1371600" y="3276720"/>
                <a:ext cx="549000" cy="581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46800" bIns="46800" anchor="t" wrap="none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z="1600" spc="-1" strike="noStrike">
                    <a:solidFill>
                      <a:srgbClr val="10263F"/>
                    </a:solidFill>
                    <a:latin typeface="Calibri"/>
                    <a:ea typeface="Calibri"/>
                    <a:cs typeface="Calibri"/>
                  </a:rPr>
                  <a:t>Hdg 360 </a:t>
                </a:r>
                <a:endParaRPr b="0" lang="en-US" sz="16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64" name="Text Box 10"/>
              <p:cNvSpPr/>
              <p:nvPr/>
            </p:nvSpPr>
            <p:spPr>
              <a:xfrm>
                <a:off x="2160" y="3885840"/>
                <a:ext cx="669960" cy="337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z="1600" spc="-1" strike="noStrike">
                    <a:solidFill>
                      <a:srgbClr val="10263F"/>
                    </a:solidFill>
                    <a:latin typeface="Calibri"/>
                    <a:ea typeface="Calibri"/>
                    <a:cs typeface="Calibri"/>
                  </a:rPr>
                  <a:t>315 R</a:t>
                </a:r>
                <a:endParaRPr b="0" lang="en-US" sz="16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65" name="Oval 15"/>
              <p:cNvSpPr/>
              <p:nvPr/>
            </p:nvSpPr>
            <p:spPr>
              <a:xfrm>
                <a:off x="380880" y="3962160"/>
                <a:ext cx="2514600" cy="2361960"/>
              </a:xfrm>
              <a:prstGeom prst="ellipse">
                <a:avLst/>
              </a:prstGeom>
              <a:solidFill>
                <a:srgbClr val="C9D6E4"/>
              </a:solidFill>
              <a:ln w="12600">
                <a:solidFill>
                  <a:srgbClr val="10263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2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66" name="Line 23"/>
            <p:cNvSpPr/>
            <p:nvPr/>
          </p:nvSpPr>
          <p:spPr>
            <a:xfrm>
              <a:off x="685800" y="4495680"/>
              <a:ext cx="1676520" cy="144792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9021" name="design9021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1" dur="indefinite" restart="never" nodeType="tmRoot">
          <p:childTnLst>
            <p:seq>
              <p:cTn id="102" dur="indefinite" nodeType="mainSeq">
                <p:childTnLst>
                  <p:par>
                    <p:cTn id="103" nodeType="clickEffect" fill="hold">
                      <p:stCondLst>
                        <p:cond delay="indefinite"/>
                      </p:stCondLst>
                      <p:childTnLst>
                        <p:par>
                          <p:cTn id="1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7" dur="2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8" dur="2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str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9" dur="2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nodeType="clickEffect" fill="hold">
                      <p:stCondLst>
                        <p:cond delay="indefinite"/>
                      </p:stCondLst>
                      <p:childTnLst>
                        <p:par>
                          <p:cTn id="1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4" dur="1000" fill="hold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5" dur="1000" fill="hold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6" dur="1000" fill="hold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x+(cos(-2*pi*(1-$))*-x-sin(-2*pi*(1-$))*(1-y))*(1-$)" tm="0">
                                          <p:val>
                                            <p:strVal val="0"/>
                                          </p:val>
                                        </p:tav>
                                        <p:tav fmla="x+(cos(-2*pi*(1-$))*-x-sin(-2*pi*(1-$))*(1-y))*(1-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7" dur="1000" fill="hold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+(sin(-2*pi*(1-$))*-x+cos(-2*pi*(1-$))*(1-y))*(1-$)" tm="0">
                                          <p:val>
                                            <p:strVal val="0"/>
                                          </p:val>
                                        </p:tav>
                                        <p:tav fmla="y+(sin(-2*pi*(1-$))*-x+cos(-2*pi*(1-$))*(1-y))*(1-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nodeType="clickEffect" fill="hold">
                      <p:stCondLst>
                        <p:cond delay="indefinite"/>
                      </p:stCondLst>
                      <p:childTnLst>
                        <p:par>
                          <p:cTn id="1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nodeType="clickEffect" fill="hold">
                      <p:stCondLst>
                        <p:cond delay="indefinite"/>
                      </p:stCondLst>
                      <p:childTnLst>
                        <p:par>
                          <p:cTn id="1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4" nodeType="clickEffect" fill="hold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Bottom)" transition="in">
                                      <p:cBhvr additive="repl">
                                        <p:cTn id="1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0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28" nodeType="clickEffect" fill="hold">
                      <p:stCondLst>
                        <p:cond delay="indefinite"/>
                      </p:stCondLst>
                      <p:childTnLst>
                        <p:par>
                          <p:cTn id="1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0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uFillTx/>
                <a:latin typeface="Cambria"/>
                <a:ea typeface="Cambria"/>
                <a:cs typeface="Cambria"/>
              </a:rPr>
              <a:t>ARCS &amp; RADIALS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68" name="PlaceHolder 2"/>
          <p:cNvSpPr>
            <a:spLocks noGrp="1"/>
          </p:cNvSpPr>
          <p:nvPr/>
        </p:nvSpPr>
        <p:spPr>
          <a:xfrm>
            <a:off x="2209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5400" spc="-1" strike="noStrike">
                <a:solidFill>
                  <a:srgbClr val="10263F"/>
                </a:solidFill>
                <a:uFillTx/>
                <a:latin typeface="Calibri"/>
                <a:ea typeface="Calibri"/>
                <a:cs typeface="Calibri"/>
              </a:rPr>
              <a:t>using an HSI</a:t>
            </a:r>
            <a:endParaRPr b="0" lang="en-US" sz="5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ctr">
              <a:spcBef>
                <a:spcPts val="700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select required course (120) on HSI</a:t>
            </a:r>
            <a:endParaRPr b="0" lang="en-US" sz="28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Line 13"/>
          <p:cNvSpPr/>
          <p:nvPr/>
        </p:nvSpPr>
        <p:spPr>
          <a:xfrm>
            <a:off x="3124200" y="5029200"/>
            <a:ext cx="0" cy="0"/>
          </a:xfrm>
          <a:prstGeom prst="line">
            <a:avLst/>
          </a:prstGeom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-46800" bIns="-46800" anchor="ctr" wrap="none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70" name="Group 34"/>
          <p:cNvGrpSpPr/>
          <p:nvPr/>
        </p:nvGrpSpPr>
        <p:grpSpPr>
          <a:xfrm>
            <a:off x="2209800" y="3733920"/>
            <a:ext cx="2666880" cy="3124080"/>
            <a:chOff x="685800" y="3733920"/>
            <a:chExt cx="2666880" cy="3124080"/>
          </a:xfrm>
        </p:grpSpPr>
        <p:sp>
          <p:nvSpPr>
            <p:cNvPr id="71" name="Rectangle 16"/>
            <p:cNvSpPr/>
            <p:nvPr/>
          </p:nvSpPr>
          <p:spPr>
            <a:xfrm>
              <a:off x="1828800" y="4038480"/>
              <a:ext cx="304560" cy="304920"/>
            </a:xfrm>
            <a:prstGeom prst="rect">
              <a:avLst/>
            </a:prstGeom>
            <a:solidFill>
              <a:srgbClr val="C9D6E4"/>
            </a:solidFill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2" name="Text Box 17"/>
            <p:cNvSpPr/>
            <p:nvPr/>
          </p:nvSpPr>
          <p:spPr>
            <a:xfrm>
              <a:off x="1526400" y="3733920"/>
              <a:ext cx="88344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rPr>
                <a:t>Hdg 360</a:t>
              </a:r>
              <a:endParaRPr b="0" lang="en-US" sz="16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3" name="Oval 25"/>
            <p:cNvSpPr/>
            <p:nvPr/>
          </p:nvSpPr>
          <p:spPr>
            <a:xfrm>
              <a:off x="685800" y="4343400"/>
              <a:ext cx="2666880" cy="2514600"/>
            </a:xfrm>
            <a:prstGeom prst="ellipse">
              <a:avLst/>
            </a:prstGeom>
            <a:solidFill>
              <a:srgbClr val="C9D6E4"/>
            </a:solidFill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4" name="Line 26"/>
            <p:cNvSpPr/>
            <p:nvPr/>
          </p:nvSpPr>
          <p:spPr>
            <a:xfrm>
              <a:off x="1981080" y="4495680"/>
              <a:ext cx="0" cy="60984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ctr" wrap="none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5" name="Line 27"/>
            <p:cNvSpPr/>
            <p:nvPr/>
          </p:nvSpPr>
          <p:spPr>
            <a:xfrm>
              <a:off x="1981080" y="5181480"/>
              <a:ext cx="0" cy="60984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ctr" wrap="none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6" name="Line 29"/>
            <p:cNvSpPr/>
            <p:nvPr/>
          </p:nvSpPr>
          <p:spPr>
            <a:xfrm>
              <a:off x="1981080" y="5867280"/>
              <a:ext cx="0" cy="83844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ctr" wrap="none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77" name="Group 35"/>
          <p:cNvGrpSpPr/>
          <p:nvPr/>
        </p:nvGrpSpPr>
        <p:grpSpPr>
          <a:xfrm>
            <a:off x="6553200" y="4235400"/>
            <a:ext cx="3087720" cy="2623680"/>
            <a:chOff x="5029200" y="4235400"/>
            <a:chExt cx="3087720" cy="2623680"/>
          </a:xfrm>
        </p:grpSpPr>
        <p:sp>
          <p:nvSpPr>
            <p:cNvPr id="78" name="Oval 8"/>
            <p:cNvSpPr/>
            <p:nvPr/>
          </p:nvSpPr>
          <p:spPr>
            <a:xfrm>
              <a:off x="5029200" y="4235400"/>
              <a:ext cx="2666880" cy="2514600"/>
            </a:xfrm>
            <a:prstGeom prst="ellipse">
              <a:avLst/>
            </a:prstGeom>
            <a:solidFill>
              <a:srgbClr val="C9D6E4"/>
            </a:solidFill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9" name="Rectangle 19"/>
            <p:cNvSpPr/>
            <p:nvPr/>
          </p:nvSpPr>
          <p:spPr>
            <a:xfrm>
              <a:off x="7812000" y="4995720"/>
              <a:ext cx="304920" cy="304920"/>
            </a:xfrm>
            <a:prstGeom prst="rect">
              <a:avLst/>
            </a:prstGeom>
            <a:solidFill>
              <a:srgbClr val="C9D6E4"/>
            </a:solidFill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0" name="Line 21"/>
            <p:cNvSpPr/>
            <p:nvPr/>
          </p:nvSpPr>
          <p:spPr>
            <a:xfrm flipH="1" flipV="1">
              <a:off x="6629400" y="5911560"/>
              <a:ext cx="457200" cy="45720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ctr" wrap="none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1" name="Line 31"/>
            <p:cNvSpPr/>
            <p:nvPr/>
          </p:nvSpPr>
          <p:spPr>
            <a:xfrm>
              <a:off x="5486400" y="4692600"/>
              <a:ext cx="457200" cy="53316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ctr" wrap="none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2" name="Line 32"/>
            <p:cNvSpPr/>
            <p:nvPr/>
          </p:nvSpPr>
          <p:spPr>
            <a:xfrm>
              <a:off x="6477120" y="4997160"/>
              <a:ext cx="457200" cy="53352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ctr" wrap="none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3" name="Text Box 33"/>
            <p:cNvSpPr/>
            <p:nvPr/>
          </p:nvSpPr>
          <p:spPr>
            <a:xfrm>
              <a:off x="7241400" y="6521400"/>
              <a:ext cx="48384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rPr>
                <a:t>120</a:t>
              </a:r>
              <a:endParaRPr b="0" lang="en-US" sz="16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9022" name="design9022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5" dur="indefinite" restart="never" nodeType="tmRoot">
          <p:childTnLst>
            <p:seq>
              <p:cTn id="136" dur="indefinite" nodeType="mainSeq">
                <p:childTnLst>
                  <p:par>
                    <p:cTn id="137" nodeType="clickEffect" fill="hold">
                      <p:stCondLst>
                        <p:cond delay="indefinite"/>
                      </p:stCondLst>
                      <p:childTnLst>
                        <p:par>
                          <p:cTn id="1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nodeType="clickEffect" fill="hold">
                      <p:stCondLst>
                        <p:cond delay="indefinite"/>
                      </p:stCondLst>
                      <p:childTnLst>
                        <p:par>
                          <p:cTn id="14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4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4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uFillTx/>
                <a:latin typeface="Cambria"/>
                <a:ea typeface="Cambria"/>
                <a:cs typeface="Cambria"/>
              </a:rPr>
              <a:t>ARCS &amp; RADIALS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85" name="PlaceHolder 2"/>
          <p:cNvSpPr>
            <a:spLocks noGrp="1"/>
          </p:cNvSpPr>
          <p:nvPr/>
        </p:nvSpPr>
        <p:spPr>
          <a:xfrm>
            <a:off x="2209800" y="1676520"/>
            <a:ext cx="7772400" cy="441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0" algn="ctr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ctr">
              <a:spcBef>
                <a:spcPts val="700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turn onto intercept hdg (090)</a:t>
            </a:r>
            <a:endParaRPr b="0" lang="en-US" sz="28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ctr">
              <a:spcBef>
                <a:spcPts val="700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establish on desired course</a:t>
            </a:r>
            <a:endParaRPr b="0" lang="en-US" sz="28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Line 6"/>
          <p:cNvSpPr/>
          <p:nvPr/>
        </p:nvSpPr>
        <p:spPr>
          <a:xfrm>
            <a:off x="3124200" y="5029200"/>
            <a:ext cx="0" cy="0"/>
          </a:xfrm>
          <a:prstGeom prst="line">
            <a:avLst/>
          </a:prstGeom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-46800" bIns="-46800" anchor="ctr" wrap="none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87" name="Group 32"/>
          <p:cNvGrpSpPr/>
          <p:nvPr/>
        </p:nvGrpSpPr>
        <p:grpSpPr>
          <a:xfrm>
            <a:off x="1981200" y="3657600"/>
            <a:ext cx="2666880" cy="3200400"/>
            <a:chOff x="457200" y="3657600"/>
            <a:chExt cx="2666880" cy="3200400"/>
          </a:xfrm>
        </p:grpSpPr>
        <p:sp>
          <p:nvSpPr>
            <p:cNvPr id="88" name="Rectangle 8"/>
            <p:cNvSpPr/>
            <p:nvPr/>
          </p:nvSpPr>
          <p:spPr>
            <a:xfrm>
              <a:off x="1600200" y="4038480"/>
              <a:ext cx="304560" cy="304920"/>
            </a:xfrm>
            <a:prstGeom prst="rect">
              <a:avLst/>
            </a:prstGeom>
            <a:solidFill>
              <a:srgbClr val="C9D6E4"/>
            </a:solidFill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9" name="Text Box 9"/>
            <p:cNvSpPr/>
            <p:nvPr/>
          </p:nvSpPr>
          <p:spPr>
            <a:xfrm>
              <a:off x="1297800" y="3657600"/>
              <a:ext cx="88344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rPr>
                <a:t>Hdg 090</a:t>
              </a:r>
              <a:endParaRPr b="0" lang="en-US" sz="16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90" name="Text Box 10"/>
            <p:cNvSpPr/>
            <p:nvPr/>
          </p:nvSpPr>
          <p:spPr>
            <a:xfrm>
              <a:off x="2288520" y="4114800"/>
              <a:ext cx="48384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rPr>
                <a:t>120</a:t>
              </a:r>
              <a:endParaRPr b="0" lang="en-US" sz="16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91" name="Oval 13"/>
            <p:cNvSpPr/>
            <p:nvPr/>
          </p:nvSpPr>
          <p:spPr>
            <a:xfrm>
              <a:off x="457200" y="4343400"/>
              <a:ext cx="2666880" cy="2514600"/>
            </a:xfrm>
            <a:prstGeom prst="ellipse">
              <a:avLst/>
            </a:prstGeom>
            <a:solidFill>
              <a:srgbClr val="C9D6E4"/>
            </a:solidFill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92" name="Line 20"/>
            <p:cNvSpPr/>
            <p:nvPr/>
          </p:nvSpPr>
          <p:spPr>
            <a:xfrm flipH="1">
              <a:off x="1980720" y="4572000"/>
              <a:ext cx="304920" cy="60948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ctr" wrap="none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93" name="Line 22"/>
            <p:cNvSpPr/>
            <p:nvPr/>
          </p:nvSpPr>
          <p:spPr>
            <a:xfrm flipH="1">
              <a:off x="1294920" y="5943600"/>
              <a:ext cx="304920" cy="60948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ctr" wrap="none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94" name="Line 23"/>
          <p:cNvSpPr/>
          <p:nvPr/>
        </p:nvSpPr>
        <p:spPr>
          <a:xfrm flipH="1">
            <a:off x="2743320" y="5029200"/>
            <a:ext cx="380880" cy="685800"/>
          </a:xfrm>
          <a:prstGeom prst="line">
            <a:avLst/>
          </a:prstGeom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Line 24"/>
          <p:cNvSpPr/>
          <p:nvPr/>
        </p:nvSpPr>
        <p:spPr>
          <a:xfrm flipH="1">
            <a:off x="2971920" y="5105520"/>
            <a:ext cx="380880" cy="761760"/>
          </a:xfrm>
          <a:prstGeom prst="line">
            <a:avLst/>
          </a:prstGeom>
          <a:ln w="12600">
            <a:solidFill>
              <a:srgbClr val="10263F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Line 26"/>
          <p:cNvSpPr/>
          <p:nvPr/>
        </p:nvSpPr>
        <p:spPr>
          <a:xfrm flipH="1">
            <a:off x="3124200" y="5181480"/>
            <a:ext cx="380880" cy="762120"/>
          </a:xfrm>
          <a:prstGeom prst="line">
            <a:avLst/>
          </a:prstGeom>
          <a:ln w="12600">
            <a:solidFill>
              <a:srgbClr val="10263F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97" name="Group 33"/>
          <p:cNvGrpSpPr/>
          <p:nvPr/>
        </p:nvGrpSpPr>
        <p:grpSpPr>
          <a:xfrm>
            <a:off x="6553200" y="3657600"/>
            <a:ext cx="2666880" cy="3200400"/>
            <a:chOff x="5029200" y="3657600"/>
            <a:chExt cx="2666880" cy="3200400"/>
          </a:xfrm>
        </p:grpSpPr>
        <p:sp>
          <p:nvSpPr>
            <p:cNvPr id="98" name="Oval 4"/>
            <p:cNvSpPr/>
            <p:nvPr/>
          </p:nvSpPr>
          <p:spPr>
            <a:xfrm>
              <a:off x="5029200" y="4343400"/>
              <a:ext cx="2666880" cy="2514600"/>
            </a:xfrm>
            <a:prstGeom prst="ellipse">
              <a:avLst/>
            </a:prstGeom>
            <a:solidFill>
              <a:srgbClr val="C9D6E4"/>
            </a:solidFill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99" name="Rectangle 11"/>
            <p:cNvSpPr/>
            <p:nvPr/>
          </p:nvSpPr>
          <p:spPr>
            <a:xfrm>
              <a:off x="6248520" y="4038480"/>
              <a:ext cx="304560" cy="304920"/>
            </a:xfrm>
            <a:prstGeom prst="rect">
              <a:avLst/>
            </a:prstGeom>
            <a:solidFill>
              <a:srgbClr val="C9D6E4"/>
            </a:solidFill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00" name="Text Box 27"/>
            <p:cNvSpPr/>
            <p:nvPr/>
          </p:nvSpPr>
          <p:spPr>
            <a:xfrm>
              <a:off x="5642640" y="3657600"/>
              <a:ext cx="140148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rPr>
                <a:t>Hdg &amp; cse 120</a:t>
              </a:r>
              <a:endParaRPr b="0" lang="en-US" sz="16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01" name="Line 28"/>
            <p:cNvSpPr/>
            <p:nvPr/>
          </p:nvSpPr>
          <p:spPr>
            <a:xfrm>
              <a:off x="6400800" y="4495680"/>
              <a:ext cx="0" cy="76212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ctr" wrap="none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02" name="Line 29"/>
            <p:cNvSpPr/>
            <p:nvPr/>
          </p:nvSpPr>
          <p:spPr>
            <a:xfrm>
              <a:off x="6400800" y="5334120"/>
              <a:ext cx="0" cy="60948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ctr" wrap="none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03" name="Line 31"/>
            <p:cNvSpPr/>
            <p:nvPr/>
          </p:nvSpPr>
          <p:spPr>
            <a:xfrm>
              <a:off x="6400800" y="6095880"/>
              <a:ext cx="0" cy="53352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ctr" wrap="none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9023" name="design9023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7" dur="indefinite" restart="never" nodeType="tmRoot">
          <p:childTnLst>
            <p:seq>
              <p:cTn id="148" dur="indefinite" nodeType="mainSeq">
                <p:childTnLst>
                  <p:par>
                    <p:cTn id="149" nodeType="clickEffect" fill="hold">
                      <p:stCondLst>
                        <p:cond delay="indefinite"/>
                      </p:stCondLst>
                      <p:childTnLst>
                        <p:par>
                          <p:cTn id="15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153" dur="20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nodeType="clickEffect" fill="hold">
                      <p:stCondLst>
                        <p:cond delay="indefinite"/>
                      </p:stCondLst>
                      <p:childTnLst>
                        <p:par>
                          <p:cTn id="15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6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8" dur="500" fill="hold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9" dur="500" fill="hold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0" dur="500" fill="hold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1" dur="500" fill="hold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62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nodeType="clickEffect" fill="hold">
                      <p:stCondLst>
                        <p:cond delay="indefinite"/>
                      </p:stCondLst>
                      <p:childTnLst>
                        <p:par>
                          <p:cTn id="1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16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nodeType="clickEffect" fill="hold">
                      <p:stCondLst>
                        <p:cond delay="indefinite"/>
                      </p:stCondLst>
                      <p:childTnLst>
                        <p:par>
                          <p:cTn id="1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nodeType="clickEffect" fill="hold">
                      <p:stCondLst>
                        <p:cond delay="indefinite"/>
                      </p:stCondLst>
                      <p:childTnLst>
                        <p:par>
                          <p:cTn id="1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7" nodeType="clickEffect" fill="hold">
                      <p:stCondLst>
                        <p:cond delay="indefinite"/>
                      </p:stCondLst>
                      <p:childTnLst>
                        <p:par>
                          <p:cTn id="1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set>
                                <p:cBhvr>
                                  <p:cTn id="1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2" nodeType="clickEffect" fill="hold">
                      <p:stCondLst>
                        <p:cond delay="indefinite"/>
                      </p:stCondLst>
                      <p:childTnLst>
                        <p:par>
                          <p:cTn id="1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uFillTx/>
                <a:latin typeface="Cambria"/>
                <a:ea typeface="Cambria"/>
                <a:cs typeface="Cambria"/>
              </a:rPr>
              <a:t>ARCS &amp; RADIALS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05" name="PlaceHolder 2"/>
          <p:cNvSpPr>
            <a:spLocks noGrp="1"/>
          </p:cNvSpPr>
          <p:nvPr/>
        </p:nvSpPr>
        <p:spPr>
          <a:xfrm>
            <a:off x="2209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l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MAINTAINING AN ARC</a:t>
            </a:r>
            <a:endParaRPr b="0" lang="en-US" sz="36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To maintain an arc the aircraft must be kept at 90° to the beacon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Line 4"/>
          <p:cNvSpPr/>
          <p:nvPr/>
        </p:nvSpPr>
        <p:spPr>
          <a:xfrm>
            <a:off x="6553200" y="4343400"/>
            <a:ext cx="0" cy="1752480"/>
          </a:xfrm>
          <a:prstGeom prst="line">
            <a:avLst/>
          </a:prstGeom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Line 5"/>
          <p:cNvSpPr/>
          <p:nvPr/>
        </p:nvSpPr>
        <p:spPr>
          <a:xfrm>
            <a:off x="6553200" y="5867280"/>
            <a:ext cx="0" cy="609840"/>
          </a:xfrm>
          <a:prstGeom prst="line">
            <a:avLst/>
          </a:prstGeom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Line 6"/>
          <p:cNvSpPr/>
          <p:nvPr/>
        </p:nvSpPr>
        <p:spPr>
          <a:xfrm>
            <a:off x="6553200" y="6477120"/>
            <a:ext cx="2666880" cy="0"/>
          </a:xfrm>
          <a:prstGeom prst="line">
            <a:avLst/>
          </a:prstGeom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Arc 8"/>
          <p:cNvSpPr/>
          <p:nvPr/>
        </p:nvSpPr>
        <p:spPr>
          <a:xfrm>
            <a:off x="6553200" y="4419720"/>
            <a:ext cx="2233440" cy="2124000"/>
          </a:xfrm>
          <a:custGeom>
            <a:avLst/>
            <a:gdLst>
              <a:gd name="textAreaLeft" fmla="*/ 0 w 2233440"/>
              <a:gd name="textAreaRight" fmla="*/ 2233440 w 2233440"/>
              <a:gd name="textAreaTop" fmla="*/ 0 h 2124000"/>
              <a:gd name="textAreaBottom" fmla="*/ 2124360 h 2124000"/>
            </a:gdLst>
            <a:ahLst/>
            <a:rect l="textAreaLeft" t="textAreaTop" r="textAreaRight" b="textAreaBottom"/>
            <a:pathLst>
              <a:path fill="none" w="21509" h="21527">
                <a:moveTo>
                  <a:pt x="1771" y="-1"/>
                </a:moveTo>
                <a:cubicBezTo>
                  <a:pt x="12222" y="859"/>
                  <a:pt x="20546" y="9102"/>
                  <a:pt x="21508" y="19545"/>
                </a:cubicBezTo>
              </a:path>
              <a:path stroke="0" w="21509" h="21527">
                <a:moveTo>
                  <a:pt x="1771" y="-1"/>
                </a:moveTo>
                <a:cubicBezTo>
                  <a:pt x="12222" y="859"/>
                  <a:pt x="20546" y="9102"/>
                  <a:pt x="21508" y="19545"/>
                </a:cubicBezTo>
                <a:lnTo>
                  <a:pt x="0" y="21527"/>
                </a:lnTo>
                <a:lnTo>
                  <a:pt x="1771" y="-1"/>
                </a:lnTo>
                <a:close/>
              </a:path>
            </a:pathLst>
          </a:custGeom>
          <a:noFill/>
          <a:ln w="12600">
            <a:solidFill>
              <a:srgbClr val="1026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AutoShape 9"/>
          <p:cNvSpPr/>
          <p:nvPr/>
        </p:nvSpPr>
        <p:spPr>
          <a:xfrm rot="16207200">
            <a:off x="8624640" y="6157440"/>
            <a:ext cx="609480" cy="333360"/>
          </a:xfrm>
          <a:custGeom>
            <a:avLst/>
            <a:gdLst>
              <a:gd name="textAreaLeft" fmla="*/ 95040 w 609480"/>
              <a:gd name="textAreaRight" fmla="*/ 533520 w 609480"/>
              <a:gd name="textAreaTop" fmla="*/ 83160 h 333360"/>
              <a:gd name="textAreaBottom" fmla="*/ 250200 h 33336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C9D6E4"/>
          </a:solidFill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AutoShape 10"/>
          <p:cNvSpPr/>
          <p:nvPr/>
        </p:nvSpPr>
        <p:spPr>
          <a:xfrm rot="13777200">
            <a:off x="8014800" y="4862160"/>
            <a:ext cx="609840" cy="333360"/>
          </a:xfrm>
          <a:custGeom>
            <a:avLst/>
            <a:gdLst>
              <a:gd name="textAreaLeft" fmla="*/ 95040 w 609840"/>
              <a:gd name="textAreaRight" fmla="*/ 533880 w 609840"/>
              <a:gd name="textAreaTop" fmla="*/ 83160 h 333360"/>
              <a:gd name="textAreaBottom" fmla="*/ 250200 h 33336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C9D6E4"/>
          </a:solidFill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AutoShape 11"/>
          <p:cNvSpPr/>
          <p:nvPr/>
        </p:nvSpPr>
        <p:spPr>
          <a:xfrm rot="10967400">
            <a:off x="6643200" y="4176720"/>
            <a:ext cx="609840" cy="333360"/>
          </a:xfrm>
          <a:custGeom>
            <a:avLst/>
            <a:gdLst>
              <a:gd name="textAreaLeft" fmla="*/ 95040 w 609840"/>
              <a:gd name="textAreaRight" fmla="*/ 533880 w 609840"/>
              <a:gd name="textAreaTop" fmla="*/ 83160 h 333360"/>
              <a:gd name="textAreaBottom" fmla="*/ 250200 h 33336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C9D6E4"/>
          </a:solidFill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24" name="design9024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6" dur="indefinite" restart="never" nodeType="tmRoot">
          <p:childTnLst>
            <p:seq>
              <p:cTn id="187" dur="indefinite" nodeType="mainSeq">
                <p:childTnLst>
                  <p:par>
                    <p:cTn id="188" nodeType="clickEffect" fill="hold">
                      <p:stCondLst>
                        <p:cond delay="indefinite"/>
                      </p:stCondLst>
                      <p:childTnLst>
                        <p:par>
                          <p:cTn id="18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2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nodeType="clickEffect" fill="hold">
                      <p:stCondLst>
                        <p:cond delay="indefinite"/>
                      </p:stCondLst>
                      <p:childTnLst>
                        <p:par>
                          <p:cTn id="19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7" dur="2000"/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98" dur="2000" fill="hold"/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str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9" dur="2000" fill="hold"/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nodeType="clickEffect" fill="hold">
                      <p:stCondLst>
                        <p:cond delay="indefinite"/>
                      </p:stCondLst>
                      <p:childTnLst>
                        <p:par>
                          <p:cTn id="20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4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5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uFillTx/>
                <a:latin typeface="Cambria"/>
                <a:ea typeface="Cambria"/>
                <a:cs typeface="Cambria"/>
              </a:rPr>
              <a:t>ARCS &amp; RADIALS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14" name="PlaceHolder 2"/>
          <p:cNvSpPr>
            <a:spLocks noGrp="1"/>
          </p:cNvSpPr>
          <p:nvPr/>
        </p:nvSpPr>
        <p:spPr>
          <a:xfrm>
            <a:off x="2209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This is achieved by keeping the VOR needle at 90° to the aircraft heading on the compass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15" name="Group 30"/>
          <p:cNvGrpSpPr/>
          <p:nvPr/>
        </p:nvGrpSpPr>
        <p:grpSpPr>
          <a:xfrm>
            <a:off x="6326760" y="3733920"/>
            <a:ext cx="3737880" cy="2895480"/>
            <a:chOff x="4802760" y="3733920"/>
            <a:chExt cx="3737880" cy="2895480"/>
          </a:xfrm>
        </p:grpSpPr>
        <p:sp>
          <p:nvSpPr>
            <p:cNvPr id="116" name="Line 4"/>
            <p:cNvSpPr/>
            <p:nvPr/>
          </p:nvSpPr>
          <p:spPr>
            <a:xfrm>
              <a:off x="5029200" y="4343400"/>
              <a:ext cx="0" cy="175248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ctr" wrap="none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17" name="Line 5"/>
            <p:cNvSpPr/>
            <p:nvPr/>
          </p:nvSpPr>
          <p:spPr>
            <a:xfrm>
              <a:off x="5029200" y="5867280"/>
              <a:ext cx="0" cy="60984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ctr" wrap="none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18" name="Line 6"/>
            <p:cNvSpPr/>
            <p:nvPr/>
          </p:nvSpPr>
          <p:spPr>
            <a:xfrm>
              <a:off x="5029200" y="6477120"/>
              <a:ext cx="2666880" cy="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grpSp>
          <p:nvGrpSpPr>
            <p:cNvPr id="119" name="Group 29"/>
            <p:cNvGrpSpPr/>
            <p:nvPr/>
          </p:nvGrpSpPr>
          <p:grpSpPr>
            <a:xfrm>
              <a:off x="4802760" y="3733920"/>
              <a:ext cx="3737880" cy="2895480"/>
              <a:chOff x="4802760" y="3733920"/>
              <a:chExt cx="3737880" cy="2895480"/>
            </a:xfrm>
          </p:grpSpPr>
          <p:sp>
            <p:nvSpPr>
              <p:cNvPr id="120" name="Arc 7"/>
              <p:cNvSpPr/>
              <p:nvPr/>
            </p:nvSpPr>
            <p:spPr>
              <a:xfrm>
                <a:off x="5029200" y="4419720"/>
                <a:ext cx="2233440" cy="2124000"/>
              </a:xfrm>
              <a:custGeom>
                <a:avLst/>
                <a:gdLst>
                  <a:gd name="textAreaLeft" fmla="*/ 0 w 2233440"/>
                  <a:gd name="textAreaRight" fmla="*/ 2233440 w 2233440"/>
                  <a:gd name="textAreaTop" fmla="*/ 0 h 2124000"/>
                  <a:gd name="textAreaBottom" fmla="*/ 2124360 h 2124000"/>
                </a:gdLst>
                <a:ahLst/>
                <a:rect l="textAreaLeft" t="textAreaTop" r="textAreaRight" b="textAreaBottom"/>
                <a:pathLst>
                  <a:path fill="none" w="21509" h="21527">
                    <a:moveTo>
                      <a:pt x="1771" y="-1"/>
                    </a:moveTo>
                    <a:cubicBezTo>
                      <a:pt x="12222" y="859"/>
                      <a:pt x="20546" y="9102"/>
                      <a:pt x="21508" y="19545"/>
                    </a:cubicBezTo>
                  </a:path>
                  <a:path stroke="0" w="21509" h="21527">
                    <a:moveTo>
                      <a:pt x="1771" y="-1"/>
                    </a:moveTo>
                    <a:cubicBezTo>
                      <a:pt x="12222" y="859"/>
                      <a:pt x="20546" y="9102"/>
                      <a:pt x="21508" y="19545"/>
                    </a:cubicBezTo>
                    <a:lnTo>
                      <a:pt x="0" y="21527"/>
                    </a:lnTo>
                    <a:lnTo>
                      <a:pt x="1771" y="-1"/>
                    </a:lnTo>
                    <a:close/>
                  </a:path>
                </a:pathLst>
              </a:custGeom>
              <a:noFill/>
              <a:ln w="12600">
                <a:solidFill>
                  <a:srgbClr val="10263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US" sz="2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21" name="AutoShape 8"/>
              <p:cNvSpPr/>
              <p:nvPr/>
            </p:nvSpPr>
            <p:spPr>
              <a:xfrm rot="16207200">
                <a:off x="7100640" y="6157440"/>
                <a:ext cx="609480" cy="333360"/>
              </a:xfrm>
              <a:custGeom>
                <a:avLst/>
                <a:gdLst>
                  <a:gd name="textAreaLeft" fmla="*/ 95040 w 609480"/>
                  <a:gd name="textAreaRight" fmla="*/ 533520 w 609480"/>
                  <a:gd name="textAreaTop" fmla="*/ 82440 h 333360"/>
                  <a:gd name="textAreaBottom" fmla="*/ 249480 h 333360"/>
                </a:gdLst>
                <a:ahLst/>
                <a:rect l="textAreaLeft" t="textAreaTop" r="textAreaRight" b="textAreaBottom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lnTo>
                      <a:pt x="16200" y="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lnTo>
                      <a:pt x="135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lnTo>
                      <a:pt x="0" y="5400"/>
                    </a:lnTo>
                    <a:close/>
                  </a:path>
                </a:pathLst>
              </a:custGeom>
              <a:solidFill>
                <a:srgbClr val="C9D6E4"/>
              </a:solidFill>
              <a:ln w="12600">
                <a:solidFill>
                  <a:srgbClr val="10263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46800" bIns="46800" anchor="ctr">
                <a:noAutofit/>
              </a:bodyPr>
              <a:p>
                <a:endParaRPr b="0" lang="en-US" sz="2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22" name="AutoShape 9"/>
              <p:cNvSpPr/>
              <p:nvPr/>
            </p:nvSpPr>
            <p:spPr>
              <a:xfrm rot="13777200">
                <a:off x="6490800" y="4862160"/>
                <a:ext cx="609840" cy="333360"/>
              </a:xfrm>
              <a:custGeom>
                <a:avLst/>
                <a:gdLst>
                  <a:gd name="textAreaLeft" fmla="*/ 95040 w 609840"/>
                  <a:gd name="textAreaRight" fmla="*/ 533880 w 609840"/>
                  <a:gd name="textAreaTop" fmla="*/ 82440 h 333360"/>
                  <a:gd name="textAreaBottom" fmla="*/ 249480 h 333360"/>
                </a:gdLst>
                <a:ahLst/>
                <a:rect l="textAreaLeft" t="textAreaTop" r="textAreaRight" b="textAreaBottom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lnTo>
                      <a:pt x="16200" y="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lnTo>
                      <a:pt x="135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lnTo>
                      <a:pt x="0" y="5400"/>
                    </a:lnTo>
                    <a:close/>
                  </a:path>
                </a:pathLst>
              </a:custGeom>
              <a:solidFill>
                <a:srgbClr val="C9D6E4"/>
              </a:solidFill>
              <a:ln w="12600">
                <a:solidFill>
                  <a:srgbClr val="10263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46800" bIns="46800" anchor="ctr">
                <a:noAutofit/>
              </a:bodyPr>
              <a:p>
                <a:endParaRPr b="0" lang="en-US" sz="2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23" name="AutoShape 10"/>
              <p:cNvSpPr/>
              <p:nvPr/>
            </p:nvSpPr>
            <p:spPr>
              <a:xfrm rot="10967400">
                <a:off x="5119200" y="4176720"/>
                <a:ext cx="609840" cy="333360"/>
              </a:xfrm>
              <a:custGeom>
                <a:avLst/>
                <a:gdLst>
                  <a:gd name="textAreaLeft" fmla="*/ 95040 w 609840"/>
                  <a:gd name="textAreaRight" fmla="*/ 533880 w 609840"/>
                  <a:gd name="textAreaTop" fmla="*/ 82440 h 333360"/>
                  <a:gd name="textAreaBottom" fmla="*/ 249480 h 333360"/>
                </a:gdLst>
                <a:ahLst/>
                <a:rect l="textAreaLeft" t="textAreaTop" r="textAreaRight" b="textAreaBottom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lnTo>
                      <a:pt x="16200" y="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lnTo>
                      <a:pt x="135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lnTo>
                      <a:pt x="0" y="5400"/>
                    </a:lnTo>
                    <a:close/>
                  </a:path>
                </a:pathLst>
              </a:custGeom>
              <a:solidFill>
                <a:srgbClr val="C9D6E4"/>
              </a:solidFill>
              <a:ln w="12600">
                <a:solidFill>
                  <a:srgbClr val="10263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46800" bIns="46800" anchor="ctr">
                <a:noAutofit/>
              </a:bodyPr>
              <a:p>
                <a:endParaRPr b="0" lang="en-US" sz="2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24" name="Text Box 12"/>
              <p:cNvSpPr/>
              <p:nvPr/>
            </p:nvSpPr>
            <p:spPr>
              <a:xfrm flipV="1" rot="10699800">
                <a:off x="7772040" y="6248520"/>
                <a:ext cx="763560" cy="337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46800" bIns="46800" anchor="t" wrap="none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z="1600" spc="-1" strike="noStrike">
                    <a:solidFill>
                      <a:srgbClr val="10263F"/>
                    </a:solidFill>
                    <a:latin typeface="Calibri"/>
                    <a:ea typeface="Calibri"/>
                    <a:cs typeface="Calibri"/>
                  </a:rPr>
                  <a:t>090R</a:t>
                </a:r>
                <a:endParaRPr b="0" lang="en-US" sz="16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25" name="Text Box 13"/>
              <p:cNvSpPr/>
              <p:nvPr/>
            </p:nvSpPr>
            <p:spPr>
              <a:xfrm>
                <a:off x="7165080" y="4572000"/>
                <a:ext cx="619560" cy="337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z="1600" spc="-1" strike="noStrike">
                    <a:solidFill>
                      <a:srgbClr val="10263F"/>
                    </a:solidFill>
                    <a:latin typeface="Calibri"/>
                    <a:ea typeface="Calibri"/>
                    <a:cs typeface="Calibri"/>
                  </a:rPr>
                  <a:t>045R</a:t>
                </a:r>
                <a:endParaRPr b="0" lang="en-US" sz="16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26" name="Text Box 14"/>
              <p:cNvSpPr/>
              <p:nvPr/>
            </p:nvSpPr>
            <p:spPr>
              <a:xfrm>
                <a:off x="4802760" y="3733920"/>
                <a:ext cx="619560" cy="337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z="1600" spc="-1" strike="noStrike">
                    <a:solidFill>
                      <a:srgbClr val="10263F"/>
                    </a:solidFill>
                    <a:latin typeface="Calibri"/>
                    <a:ea typeface="Calibri"/>
                    <a:cs typeface="Calibri"/>
                  </a:rPr>
                  <a:t>360R</a:t>
                </a:r>
                <a:endParaRPr b="0" lang="en-US" sz="16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p:grpSp>
      </p:grpSp>
      <p:grpSp>
        <p:nvGrpSpPr>
          <p:cNvPr id="127" name="Group 31"/>
          <p:cNvGrpSpPr/>
          <p:nvPr/>
        </p:nvGrpSpPr>
        <p:grpSpPr>
          <a:xfrm>
            <a:off x="2286120" y="3718440"/>
            <a:ext cx="3504960" cy="2758680"/>
            <a:chOff x="762120" y="3718440"/>
            <a:chExt cx="3504960" cy="2758680"/>
          </a:xfrm>
        </p:grpSpPr>
        <p:grpSp>
          <p:nvGrpSpPr>
            <p:cNvPr id="128" name="Group 28"/>
            <p:cNvGrpSpPr/>
            <p:nvPr/>
          </p:nvGrpSpPr>
          <p:grpSpPr>
            <a:xfrm>
              <a:off x="762120" y="3718440"/>
              <a:ext cx="3504960" cy="2758680"/>
              <a:chOff x="762120" y="3718440"/>
              <a:chExt cx="3504960" cy="2758680"/>
            </a:xfrm>
          </p:grpSpPr>
          <p:sp>
            <p:nvSpPr>
              <p:cNvPr id="129" name="Oval 11"/>
              <p:cNvSpPr/>
              <p:nvPr/>
            </p:nvSpPr>
            <p:spPr>
              <a:xfrm>
                <a:off x="762120" y="4038480"/>
                <a:ext cx="2590560" cy="2438640"/>
              </a:xfrm>
              <a:prstGeom prst="ellipse">
                <a:avLst/>
              </a:prstGeom>
              <a:solidFill>
                <a:srgbClr val="C9D6E4"/>
              </a:solidFill>
              <a:ln w="12600">
                <a:solidFill>
                  <a:srgbClr val="10263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2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0" name="Line 15"/>
              <p:cNvSpPr/>
              <p:nvPr/>
            </p:nvSpPr>
            <p:spPr>
              <a:xfrm>
                <a:off x="838080" y="5257800"/>
                <a:ext cx="2438640" cy="0"/>
              </a:xfrm>
              <a:prstGeom prst="line">
                <a:avLst/>
              </a:prstGeom>
              <a:ln w="12600">
                <a:solidFill>
                  <a:srgbClr val="10263F"/>
                </a:solidFill>
                <a:miter/>
                <a:head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US" sz="2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1" name="Line 16"/>
              <p:cNvSpPr/>
              <p:nvPr/>
            </p:nvSpPr>
            <p:spPr>
              <a:xfrm flipV="1">
                <a:off x="1295280" y="4343400"/>
                <a:ext cx="1447920" cy="1828800"/>
              </a:xfrm>
              <a:prstGeom prst="line">
                <a:avLst/>
              </a:prstGeom>
              <a:ln w="12600">
                <a:solidFill>
                  <a:srgbClr val="10263F"/>
                </a:solidFill>
                <a:prstDash val="dash"/>
                <a:miter/>
                <a:head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US" sz="2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2" name="Line 17"/>
              <p:cNvSpPr/>
              <p:nvPr/>
            </p:nvSpPr>
            <p:spPr>
              <a:xfrm>
                <a:off x="1981080" y="4114800"/>
                <a:ext cx="0" cy="2209680"/>
              </a:xfrm>
              <a:prstGeom prst="line">
                <a:avLst/>
              </a:prstGeom>
              <a:ln w="12600">
                <a:solidFill>
                  <a:srgbClr val="10263F"/>
                </a:solidFill>
                <a:prstDash val="dash"/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46800" bIns="46800" anchor="ctr" wrap="none">
                <a:noAutofit/>
              </a:bodyPr>
              <a:p>
                <a:endParaRPr b="0" lang="en-US" sz="2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3" name="AutoShape 18"/>
              <p:cNvSpPr/>
              <p:nvPr/>
            </p:nvSpPr>
            <p:spPr>
              <a:xfrm rot="16207200">
                <a:off x="3214440" y="5166720"/>
                <a:ext cx="609480" cy="333360"/>
              </a:xfrm>
              <a:custGeom>
                <a:avLst/>
                <a:gdLst>
                  <a:gd name="textAreaLeft" fmla="*/ 95040 w 609480"/>
                  <a:gd name="textAreaRight" fmla="*/ 533520 w 609480"/>
                  <a:gd name="textAreaTop" fmla="*/ 82440 h 333360"/>
                  <a:gd name="textAreaBottom" fmla="*/ 249480 h 333360"/>
                </a:gdLst>
                <a:ahLst/>
                <a:rect l="textAreaLeft" t="textAreaTop" r="textAreaRight" b="textAreaBottom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lnTo>
                      <a:pt x="16200" y="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lnTo>
                      <a:pt x="135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lnTo>
                      <a:pt x="0" y="5400"/>
                    </a:lnTo>
                    <a:close/>
                  </a:path>
                </a:pathLst>
              </a:custGeom>
              <a:solidFill>
                <a:srgbClr val="C9D6E4"/>
              </a:solidFill>
              <a:ln w="12600">
                <a:solidFill>
                  <a:srgbClr val="10263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46800" bIns="46800" anchor="ctr">
                <a:noAutofit/>
              </a:bodyPr>
              <a:p>
                <a:endParaRPr b="0" lang="en-US" sz="2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4" name="AutoShape 19"/>
              <p:cNvSpPr/>
              <p:nvPr/>
            </p:nvSpPr>
            <p:spPr>
              <a:xfrm rot="13777200">
                <a:off x="2681280" y="4023720"/>
                <a:ext cx="609480" cy="333360"/>
              </a:xfrm>
              <a:custGeom>
                <a:avLst/>
                <a:gdLst>
                  <a:gd name="textAreaLeft" fmla="*/ 95040 w 609480"/>
                  <a:gd name="textAreaRight" fmla="*/ 533520 w 609480"/>
                  <a:gd name="textAreaTop" fmla="*/ 82440 h 333360"/>
                  <a:gd name="textAreaBottom" fmla="*/ 249480 h 333360"/>
                </a:gdLst>
                <a:ahLst/>
                <a:rect l="textAreaLeft" t="textAreaTop" r="textAreaRight" b="textAreaBottom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lnTo>
                      <a:pt x="16200" y="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lnTo>
                      <a:pt x="135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lnTo>
                      <a:pt x="0" y="5400"/>
                    </a:lnTo>
                    <a:close/>
                  </a:path>
                </a:pathLst>
              </a:custGeom>
              <a:solidFill>
                <a:srgbClr val="C9D6E4"/>
              </a:solidFill>
              <a:ln w="12600">
                <a:solidFill>
                  <a:srgbClr val="10263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46800" bIns="46800" anchor="ctr">
                <a:noAutofit/>
              </a:bodyPr>
              <a:p>
                <a:endParaRPr b="0" lang="en-US" sz="2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5" name="AutoShape 21"/>
              <p:cNvSpPr/>
              <p:nvPr/>
            </p:nvSpPr>
            <p:spPr>
              <a:xfrm rot="10625400">
                <a:off x="1599480" y="3733560"/>
                <a:ext cx="609480" cy="333360"/>
              </a:xfrm>
              <a:custGeom>
                <a:avLst/>
                <a:gdLst>
                  <a:gd name="textAreaLeft" fmla="*/ 95040 w 609480"/>
                  <a:gd name="textAreaRight" fmla="*/ 533520 w 609480"/>
                  <a:gd name="textAreaTop" fmla="*/ 82440 h 333360"/>
                  <a:gd name="textAreaBottom" fmla="*/ 249480 h 333360"/>
                </a:gdLst>
                <a:ahLst/>
                <a:rect l="textAreaLeft" t="textAreaTop" r="textAreaRight" b="textAreaBottom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lnTo>
                      <a:pt x="16200" y="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lnTo>
                      <a:pt x="135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lnTo>
                      <a:pt x="0" y="5400"/>
                    </a:lnTo>
                    <a:close/>
                  </a:path>
                </a:pathLst>
              </a:custGeom>
              <a:solidFill>
                <a:srgbClr val="C9D6E4"/>
              </a:solidFill>
              <a:ln w="12600">
                <a:solidFill>
                  <a:srgbClr val="10263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46800" bIns="46800" anchor="ctr">
                <a:noAutofit/>
              </a:bodyPr>
              <a:p>
                <a:endParaRPr b="0" lang="en-US" sz="2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36" name="Text Box 24"/>
              <p:cNvSpPr/>
              <p:nvPr/>
            </p:nvSpPr>
            <p:spPr>
              <a:xfrm>
                <a:off x="3429000" y="6095880"/>
                <a:ext cx="838080" cy="337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46800" bIns="46800" anchor="t" wrap="none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z="1600" spc="-1" strike="noStrike">
                    <a:solidFill>
                      <a:srgbClr val="10263F"/>
                    </a:solidFill>
                    <a:latin typeface="Calibri"/>
                    <a:ea typeface="Calibri"/>
                    <a:cs typeface="Calibri"/>
                  </a:rPr>
                  <a:t>12.0</a:t>
                </a:r>
                <a:endParaRPr b="0" lang="en-US" sz="16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137" name="Rectangle 27"/>
            <p:cNvSpPr/>
            <p:nvPr/>
          </p:nvSpPr>
          <p:spPr>
            <a:xfrm>
              <a:off x="3352680" y="6019920"/>
              <a:ext cx="685800" cy="457200"/>
            </a:xfrm>
            <a:prstGeom prst="rect">
              <a:avLst/>
            </a:prstGeom>
            <a:noFill/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9025" name="design9025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7" dur="indefinite" restart="never" nodeType="tmRoot">
          <p:childTnLst>
            <p:seq>
              <p:cTn id="208" dur="indefinite" nodeType="mainSeq">
                <p:childTnLst>
                  <p:par>
                    <p:cTn id="209" nodeType="clickEffect" fill="hold">
                      <p:stCondLst>
                        <p:cond delay="indefinite"/>
                      </p:stCondLst>
                      <p:childTnLst>
                        <p:par>
                          <p:cTn id="2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1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nodeType="clickEffect" fill="hold">
                      <p:stCondLst>
                        <p:cond delay="indefinite"/>
                      </p:stCondLst>
                      <p:childTnLst>
                        <p:par>
                          <p:cTn id="2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6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21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uFillTx/>
                <a:latin typeface="Cambria"/>
                <a:ea typeface="Cambria"/>
                <a:cs typeface="Cambria"/>
              </a:rPr>
              <a:t>ARCS &amp; RADIALS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39" name="PlaceHolder 2"/>
          <p:cNvSpPr>
            <a:spLocks noGrp="1"/>
          </p:cNvSpPr>
          <p:nvPr/>
        </p:nvSpPr>
        <p:spPr>
          <a:xfrm>
            <a:off x="2209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In practise,a heading is maintained until the needle 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‘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drops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’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by 10° below the horizontal 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" name="Line 5"/>
          <p:cNvSpPr/>
          <p:nvPr/>
        </p:nvSpPr>
        <p:spPr>
          <a:xfrm>
            <a:off x="6553200" y="5867280"/>
            <a:ext cx="0" cy="609840"/>
          </a:xfrm>
          <a:prstGeom prst="line">
            <a:avLst/>
          </a:prstGeom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41" name="Group 28"/>
          <p:cNvGrpSpPr/>
          <p:nvPr/>
        </p:nvGrpSpPr>
        <p:grpSpPr>
          <a:xfrm>
            <a:off x="6553200" y="4343400"/>
            <a:ext cx="3511440" cy="2253960"/>
            <a:chOff x="5029200" y="4343400"/>
            <a:chExt cx="3511440" cy="2253960"/>
          </a:xfrm>
        </p:grpSpPr>
        <p:sp>
          <p:nvSpPr>
            <p:cNvPr id="142" name="Line 4"/>
            <p:cNvSpPr/>
            <p:nvPr/>
          </p:nvSpPr>
          <p:spPr>
            <a:xfrm>
              <a:off x="5029200" y="4343400"/>
              <a:ext cx="0" cy="175248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ctr" wrap="none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43" name="Line 6"/>
            <p:cNvSpPr/>
            <p:nvPr/>
          </p:nvSpPr>
          <p:spPr>
            <a:xfrm>
              <a:off x="5029200" y="6477120"/>
              <a:ext cx="2666880" cy="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44" name="Arc 7"/>
            <p:cNvSpPr/>
            <p:nvPr/>
          </p:nvSpPr>
          <p:spPr>
            <a:xfrm>
              <a:off x="5029200" y="4419720"/>
              <a:ext cx="2233440" cy="2124000"/>
            </a:xfrm>
            <a:custGeom>
              <a:avLst/>
              <a:gdLst>
                <a:gd name="textAreaLeft" fmla="*/ 0 w 2233440"/>
                <a:gd name="textAreaRight" fmla="*/ 2233440 w 2233440"/>
                <a:gd name="textAreaTop" fmla="*/ 0 h 2124000"/>
                <a:gd name="textAreaBottom" fmla="*/ 2124360 h 2124000"/>
              </a:gdLst>
              <a:ahLst/>
              <a:rect l="textAreaLeft" t="textAreaTop" r="textAreaRight" b="textAreaBottom"/>
              <a:pathLst>
                <a:path fill="none" w="21509" h="21527">
                  <a:moveTo>
                    <a:pt x="1771" y="-1"/>
                  </a:moveTo>
                  <a:cubicBezTo>
                    <a:pt x="12222" y="859"/>
                    <a:pt x="20546" y="9102"/>
                    <a:pt x="21508" y="19545"/>
                  </a:cubicBezTo>
                </a:path>
                <a:path stroke="0" w="21509" h="21527">
                  <a:moveTo>
                    <a:pt x="1771" y="-1"/>
                  </a:moveTo>
                  <a:cubicBezTo>
                    <a:pt x="12222" y="859"/>
                    <a:pt x="20546" y="9102"/>
                    <a:pt x="21508" y="19545"/>
                  </a:cubicBezTo>
                  <a:lnTo>
                    <a:pt x="0" y="21527"/>
                  </a:lnTo>
                  <a:lnTo>
                    <a:pt x="1771" y="-1"/>
                  </a:lnTo>
                  <a:close/>
                </a:path>
              </a:pathLst>
            </a:custGeom>
            <a:noFill/>
            <a:ln w="12600">
              <a:solidFill>
                <a:srgbClr val="10263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45" name="AutoShape 8"/>
            <p:cNvSpPr/>
            <p:nvPr/>
          </p:nvSpPr>
          <p:spPr>
            <a:xfrm rot="16207200">
              <a:off x="6948360" y="5700240"/>
              <a:ext cx="609480" cy="333360"/>
            </a:xfrm>
            <a:custGeom>
              <a:avLst/>
              <a:gdLst>
                <a:gd name="textAreaLeft" fmla="*/ 95040 w 609480"/>
                <a:gd name="textAreaRight" fmla="*/ 533520 w 609480"/>
                <a:gd name="textAreaTop" fmla="*/ 82440 h 333360"/>
                <a:gd name="textAreaBottom" fmla="*/ 249480 h 333360"/>
              </a:gdLst>
              <a:ahLst/>
              <a:rect l="textAreaLeft" t="textAreaTop" r="textAreaRight" b="textAreaBottom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C9D6E4"/>
            </a:solidFill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46" name="Text Box 12"/>
            <p:cNvSpPr/>
            <p:nvPr/>
          </p:nvSpPr>
          <p:spPr>
            <a:xfrm flipV="1" rot="10699800">
              <a:off x="7772040" y="6248520"/>
              <a:ext cx="7635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t" wrap="none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rPr>
                <a:t>090R</a:t>
              </a:r>
              <a:endParaRPr b="0" lang="en-US" sz="16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47" name="Line 21"/>
            <p:cNvSpPr/>
            <p:nvPr/>
          </p:nvSpPr>
          <p:spPr>
            <a:xfrm flipV="1">
              <a:off x="5029200" y="5867280"/>
              <a:ext cx="2743200" cy="609840"/>
            </a:xfrm>
            <a:prstGeom prst="line">
              <a:avLst/>
            </a:prstGeom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48" name="Text Box 22"/>
            <p:cNvSpPr/>
            <p:nvPr/>
          </p:nvSpPr>
          <p:spPr>
            <a:xfrm>
              <a:off x="7850880" y="5715000"/>
              <a:ext cx="6195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rPr>
                <a:t>085R</a:t>
              </a:r>
              <a:endParaRPr b="0" lang="en-US" sz="16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49" name="Group 27"/>
          <p:cNvGrpSpPr/>
          <p:nvPr/>
        </p:nvGrpSpPr>
        <p:grpSpPr>
          <a:xfrm>
            <a:off x="2286120" y="4038480"/>
            <a:ext cx="3276360" cy="2514600"/>
            <a:chOff x="762120" y="4038480"/>
            <a:chExt cx="3276360" cy="2514600"/>
          </a:xfrm>
        </p:grpSpPr>
        <p:sp>
          <p:nvSpPr>
            <p:cNvPr id="150" name="AutoShape 18"/>
            <p:cNvSpPr/>
            <p:nvPr/>
          </p:nvSpPr>
          <p:spPr>
            <a:xfrm rot="16207200">
              <a:off x="3214440" y="4785840"/>
              <a:ext cx="609480" cy="333360"/>
            </a:xfrm>
            <a:custGeom>
              <a:avLst/>
              <a:gdLst>
                <a:gd name="textAreaLeft" fmla="*/ 95040 w 609480"/>
                <a:gd name="textAreaRight" fmla="*/ 533520 w 609480"/>
                <a:gd name="textAreaTop" fmla="*/ 82440 h 333360"/>
                <a:gd name="textAreaBottom" fmla="*/ 249480 h 333360"/>
              </a:gdLst>
              <a:ahLst/>
              <a:rect l="textAreaLeft" t="textAreaTop" r="textAreaRight" b="textAreaBottom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C9D6E4"/>
            </a:solidFill>
            <a:ln w="1260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endParaRPr>
            </a:p>
          </p:txBody>
        </p:sp>
        <p:grpSp>
          <p:nvGrpSpPr>
            <p:cNvPr id="151" name="Group 26"/>
            <p:cNvGrpSpPr/>
            <p:nvPr/>
          </p:nvGrpSpPr>
          <p:grpSpPr>
            <a:xfrm>
              <a:off x="762120" y="4038480"/>
              <a:ext cx="3276360" cy="2514600"/>
              <a:chOff x="762120" y="4038480"/>
              <a:chExt cx="3276360" cy="2514600"/>
            </a:xfrm>
          </p:grpSpPr>
          <p:sp>
            <p:nvSpPr>
              <p:cNvPr id="152" name="Oval 11"/>
              <p:cNvSpPr/>
              <p:nvPr/>
            </p:nvSpPr>
            <p:spPr>
              <a:xfrm>
                <a:off x="762120" y="4038480"/>
                <a:ext cx="2590560" cy="2438640"/>
              </a:xfrm>
              <a:prstGeom prst="ellipse">
                <a:avLst/>
              </a:prstGeom>
              <a:solidFill>
                <a:srgbClr val="C9D6E4"/>
              </a:solidFill>
              <a:ln w="12600">
                <a:solidFill>
                  <a:srgbClr val="10263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2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53" name="Line 23"/>
              <p:cNvSpPr/>
              <p:nvPr/>
            </p:nvSpPr>
            <p:spPr>
              <a:xfrm flipV="1">
                <a:off x="914400" y="4876920"/>
                <a:ext cx="2286000" cy="838080"/>
              </a:xfrm>
              <a:prstGeom prst="line">
                <a:avLst/>
              </a:prstGeom>
              <a:ln w="12600">
                <a:solidFill>
                  <a:srgbClr val="10263F"/>
                </a:solidFill>
                <a:miter/>
                <a:head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US" sz="2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54" name="Rectangle 24"/>
              <p:cNvSpPr/>
              <p:nvPr/>
            </p:nvSpPr>
            <p:spPr>
              <a:xfrm>
                <a:off x="3352680" y="6095880"/>
                <a:ext cx="685800" cy="457200"/>
              </a:xfrm>
              <a:prstGeom prst="rect">
                <a:avLst/>
              </a:prstGeom>
              <a:noFill/>
              <a:ln w="12600">
                <a:solidFill>
                  <a:srgbClr val="10263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468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2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  <p:sp>
            <p:nvSpPr>
              <p:cNvPr id="155" name="Text Box 25"/>
              <p:cNvSpPr/>
              <p:nvPr/>
            </p:nvSpPr>
            <p:spPr>
              <a:xfrm>
                <a:off x="3431520" y="6172200"/>
                <a:ext cx="534240" cy="337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z="1600" spc="-1" strike="noStrike">
                    <a:solidFill>
                      <a:srgbClr val="10263F"/>
                    </a:solidFill>
                    <a:latin typeface="Calibri"/>
                    <a:ea typeface="Calibri"/>
                    <a:cs typeface="Calibri"/>
                  </a:rPr>
                  <a:t>12.5</a:t>
                </a:r>
                <a:endParaRPr b="0" lang="en-US" sz="16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p:grpSp>
      </p:grpSp>
      <p:sp>
        <p:nvSpPr>
          <p:cNvPr id="9026" name="design9026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9" dur="indefinite" restart="never" nodeType="tmRoot">
          <p:childTnLst>
            <p:seq>
              <p:cTn id="220" dur="indefinite" nodeType="mainSeq">
                <p:childTnLst>
                  <p:par>
                    <p:cTn id="221" nodeType="clickEffect" fill="hold">
                      <p:stCondLst>
                        <p:cond delay="indefinite"/>
                      </p:stCondLst>
                      <p:childTnLst>
                        <p:par>
                          <p:cTn id="2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22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nodeType="clickEffect" fill="hold">
                      <p:stCondLst>
                        <p:cond delay="indefinite"/>
                      </p:stCondLst>
                      <p:childTnLst>
                        <p:par>
                          <p:cTn id="2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8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23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nodeType="clickEffect" fill="hold">
                      <p:stCondLst>
                        <p:cond delay="indefinite"/>
                      </p:stCondLst>
                      <p:childTnLst>
                        <p:par>
                          <p:cTn id="2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5" dur="770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6" dur="770" fill="hold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37" dur="123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38" dur="770" fill="hold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calcmode="lin" valueType="num" from="(0.5)" to="(#ppt_x)">
                                      <p:cBhvr additive="repl">
                                        <p:cTn id="239" dur="123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40" dur="770" fill="hold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calcmode="lin" valueType="num" from="(#ppt_y+0.4)" to="(#ppt_y)">
                                      <p:cBhvr additive="repl">
                                        <p:cTn id="241" dur="123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uFillTx/>
                <a:latin typeface="Cambria"/>
                <a:ea typeface="Cambria"/>
                <a:cs typeface="Cambria"/>
              </a:rPr>
              <a:t>ARCS &amp; RADIALS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57" name="PlaceHolder 2"/>
          <p:cNvSpPr>
            <a:spLocks noGrp="1"/>
          </p:cNvSpPr>
          <p:nvPr/>
        </p:nvSpPr>
        <p:spPr>
          <a:xfrm>
            <a:off x="2209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The aircraft is then turned toward the beacon until the needle 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‘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climbs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’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10° above the horizontal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" name="Line 4"/>
          <p:cNvSpPr/>
          <p:nvPr/>
        </p:nvSpPr>
        <p:spPr>
          <a:xfrm>
            <a:off x="6553200" y="4343400"/>
            <a:ext cx="0" cy="1752480"/>
          </a:xfrm>
          <a:prstGeom prst="line">
            <a:avLst/>
          </a:prstGeom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9" name="Line 5"/>
          <p:cNvSpPr/>
          <p:nvPr/>
        </p:nvSpPr>
        <p:spPr>
          <a:xfrm>
            <a:off x="6553200" y="5867280"/>
            <a:ext cx="0" cy="609840"/>
          </a:xfrm>
          <a:prstGeom prst="line">
            <a:avLst/>
          </a:prstGeom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0" name="Line 6"/>
          <p:cNvSpPr/>
          <p:nvPr/>
        </p:nvSpPr>
        <p:spPr>
          <a:xfrm>
            <a:off x="6553200" y="6477120"/>
            <a:ext cx="2666880" cy="0"/>
          </a:xfrm>
          <a:prstGeom prst="line">
            <a:avLst/>
          </a:prstGeom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1" name="Arc 7"/>
          <p:cNvSpPr/>
          <p:nvPr/>
        </p:nvSpPr>
        <p:spPr>
          <a:xfrm>
            <a:off x="6553200" y="4419720"/>
            <a:ext cx="2233440" cy="2124000"/>
          </a:xfrm>
          <a:custGeom>
            <a:avLst/>
            <a:gdLst>
              <a:gd name="textAreaLeft" fmla="*/ 0 w 2233440"/>
              <a:gd name="textAreaRight" fmla="*/ 2233440 w 2233440"/>
              <a:gd name="textAreaTop" fmla="*/ 0 h 2124000"/>
              <a:gd name="textAreaBottom" fmla="*/ 2124360 h 2124000"/>
            </a:gdLst>
            <a:ahLst/>
            <a:rect l="textAreaLeft" t="textAreaTop" r="textAreaRight" b="textAreaBottom"/>
            <a:pathLst>
              <a:path fill="none" w="21509" h="21527">
                <a:moveTo>
                  <a:pt x="1771" y="-1"/>
                </a:moveTo>
                <a:cubicBezTo>
                  <a:pt x="12222" y="859"/>
                  <a:pt x="20546" y="9102"/>
                  <a:pt x="21508" y="19545"/>
                </a:cubicBezTo>
              </a:path>
              <a:path stroke="0" w="21509" h="21527">
                <a:moveTo>
                  <a:pt x="1771" y="-1"/>
                </a:moveTo>
                <a:cubicBezTo>
                  <a:pt x="12222" y="859"/>
                  <a:pt x="20546" y="9102"/>
                  <a:pt x="21508" y="19545"/>
                </a:cubicBezTo>
                <a:lnTo>
                  <a:pt x="0" y="21527"/>
                </a:lnTo>
                <a:lnTo>
                  <a:pt x="1771" y="-1"/>
                </a:lnTo>
                <a:close/>
              </a:path>
            </a:pathLst>
          </a:custGeom>
          <a:noFill/>
          <a:ln w="12600">
            <a:solidFill>
              <a:srgbClr val="1026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" name="AutoShape 8"/>
          <p:cNvSpPr/>
          <p:nvPr/>
        </p:nvSpPr>
        <p:spPr>
          <a:xfrm rot="14928000">
            <a:off x="8320080" y="5395320"/>
            <a:ext cx="609480" cy="333360"/>
          </a:xfrm>
          <a:custGeom>
            <a:avLst/>
            <a:gdLst>
              <a:gd name="textAreaLeft" fmla="*/ 95040 w 609480"/>
              <a:gd name="textAreaRight" fmla="*/ 533520 w 609480"/>
              <a:gd name="textAreaTop" fmla="*/ 83160 h 333360"/>
              <a:gd name="textAreaBottom" fmla="*/ 250200 h 33336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C9D6E4"/>
          </a:solidFill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3" name="Oval 9"/>
          <p:cNvSpPr/>
          <p:nvPr/>
        </p:nvSpPr>
        <p:spPr>
          <a:xfrm>
            <a:off x="2286120" y="4038480"/>
            <a:ext cx="2590560" cy="2438640"/>
          </a:xfrm>
          <a:prstGeom prst="ellipse">
            <a:avLst/>
          </a:prstGeom>
          <a:solidFill>
            <a:srgbClr val="C9D6E4"/>
          </a:solidFill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4" name="Text Box 10"/>
          <p:cNvSpPr/>
          <p:nvPr/>
        </p:nvSpPr>
        <p:spPr>
          <a:xfrm flipV="1" rot="10699800">
            <a:off x="9296040" y="6248520"/>
            <a:ext cx="763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 wrap="none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090R</a:t>
            </a:r>
            <a:endParaRPr b="0" lang="en-US" sz="16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5" name="AutoShape 11"/>
          <p:cNvSpPr/>
          <p:nvPr/>
        </p:nvSpPr>
        <p:spPr>
          <a:xfrm rot="16207200">
            <a:off x="4738440" y="4785840"/>
            <a:ext cx="609480" cy="333360"/>
          </a:xfrm>
          <a:custGeom>
            <a:avLst/>
            <a:gdLst>
              <a:gd name="textAreaLeft" fmla="*/ 95040 w 609480"/>
              <a:gd name="textAreaRight" fmla="*/ 533520 w 609480"/>
              <a:gd name="textAreaTop" fmla="*/ 83160 h 333360"/>
              <a:gd name="textAreaBottom" fmla="*/ 250200 h 33336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C9D6E4"/>
          </a:solidFill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6" name="Line 12"/>
          <p:cNvSpPr/>
          <p:nvPr/>
        </p:nvSpPr>
        <p:spPr>
          <a:xfrm flipV="1">
            <a:off x="6553200" y="5867280"/>
            <a:ext cx="2743200" cy="609840"/>
          </a:xfrm>
          <a:prstGeom prst="line">
            <a:avLst/>
          </a:prstGeom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7" name="Text Box 13"/>
          <p:cNvSpPr/>
          <p:nvPr/>
        </p:nvSpPr>
        <p:spPr>
          <a:xfrm>
            <a:off x="9374880" y="5715000"/>
            <a:ext cx="619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085R</a:t>
            </a:r>
            <a:endParaRPr b="0" lang="en-US" sz="16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8" name="Rectangle 15"/>
          <p:cNvSpPr/>
          <p:nvPr/>
        </p:nvSpPr>
        <p:spPr>
          <a:xfrm>
            <a:off x="4876680" y="6095880"/>
            <a:ext cx="685800" cy="457200"/>
          </a:xfrm>
          <a:prstGeom prst="rect">
            <a:avLst/>
          </a:prstGeom>
          <a:noFill/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9" name="Text Box 16"/>
          <p:cNvSpPr/>
          <p:nvPr/>
        </p:nvSpPr>
        <p:spPr>
          <a:xfrm>
            <a:off x="4955520" y="6172200"/>
            <a:ext cx="5342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11.5</a:t>
            </a:r>
            <a:endParaRPr b="0" lang="en-US" sz="16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0" name="Line 17"/>
          <p:cNvSpPr/>
          <p:nvPr/>
        </p:nvSpPr>
        <p:spPr>
          <a:xfrm>
            <a:off x="2514720" y="4876920"/>
            <a:ext cx="2133360" cy="761760"/>
          </a:xfrm>
          <a:prstGeom prst="line">
            <a:avLst/>
          </a:prstGeom>
          <a:ln w="12600">
            <a:solidFill>
              <a:srgbClr val="10263F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27" name="design9027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2" dur="indefinite" restart="never" nodeType="tmRoot">
          <p:childTnLst>
            <p:seq>
              <p:cTn id="243" dur="indefinite" nodeType="mainSeq">
                <p:childTnLst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uFillTx/>
                <a:latin typeface="Cambria"/>
                <a:ea typeface="Cambria"/>
                <a:cs typeface="Cambria"/>
              </a:rPr>
              <a:t>ARCS &amp; RADIALS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72" name="PlaceHolder 2"/>
          <p:cNvSpPr>
            <a:spLocks noGrp="1"/>
          </p:cNvSpPr>
          <p:nvPr/>
        </p:nvSpPr>
        <p:spPr>
          <a:xfrm>
            <a:off x="2209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40" lnSpcReduction="10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This heading is maintained as the needle passes through the horizontal &amp; again 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‘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drops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’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10° below the horizontal. 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The aircraft is then turned again towards the beacon until the needle has climbed 10° above the horizontal.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The process is repeated to maintain the arc!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28" name="design9028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0" dur="indefinite" restart="never" nodeType="tmRoot">
          <p:childTnLst>
            <p:seq>
              <p:cTn id="251" dur="indefinite" nodeType="mainSeq">
                <p:childTnLst>
                  <p:par>
                    <p:cTn id="252" nodeType="clickEffect" fill="hold">
                      <p:stCondLst>
                        <p:cond delay="indefinite"/>
                      </p:stCondLst>
                      <p:childTnLst>
                        <p:par>
                          <p:cTn id="2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4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6" dur="2000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57" dur="2000" fill="hold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str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8" dur="2000" fill="hold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nodeType="clickEffect" fill="hold">
                      <p:stCondLst>
                        <p:cond delay="indefinite"/>
                      </p:stCondLst>
                      <p:childTnLst>
                        <p:par>
                          <p:cTn id="2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3" dur="2000"/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2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65" nodeType="clickEffect" fill="hold">
                      <p:stCondLst>
                        <p:cond delay="indefinite"/>
                      </p:stCondLst>
                      <p:childTnLst>
                        <p:par>
                          <p:cTn id="2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9" dur="500" fill="hold"/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0" dur="500" fill="hold"/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1" dur="500" fill="hold"/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2" dur="500" fill="hold"/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73" dur="500"/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2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277" dur="1" fill="hold"/>
                                  <p:tgtEl>
                                    <p:spTgt spid="172">
                                      <p:txEl>
                                        <p:pRg st="2" end="2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ARCS &amp; RADIALS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74" name="PlaceHolder 2"/>
          <p:cNvSpPr>
            <a:spLocks noGrp="1"/>
          </p:cNvSpPr>
          <p:nvPr/>
        </p:nvSpPr>
        <p:spPr>
          <a:xfrm>
            <a:off x="2209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l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CORRECTING AN ARC</a:t>
            </a:r>
            <a:endParaRPr b="0" lang="en-US" sz="36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a. When too close to the beacon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601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turn aircraft away from beacon until correct distance achieved; turn aircraft back towards beacon until needle horizontal.</a:t>
            </a:r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5" name="Oval 4"/>
          <p:cNvSpPr/>
          <p:nvPr/>
        </p:nvSpPr>
        <p:spPr>
          <a:xfrm>
            <a:off x="2286120" y="4419720"/>
            <a:ext cx="2590560" cy="2438280"/>
          </a:xfrm>
          <a:prstGeom prst="ellipse">
            <a:avLst/>
          </a:prstGeom>
          <a:solidFill>
            <a:srgbClr val="C9D6E4"/>
          </a:solidFill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6" name="Line 5"/>
          <p:cNvSpPr/>
          <p:nvPr/>
        </p:nvSpPr>
        <p:spPr>
          <a:xfrm>
            <a:off x="6553200" y="4343400"/>
            <a:ext cx="0" cy="1752480"/>
          </a:xfrm>
          <a:prstGeom prst="line">
            <a:avLst/>
          </a:prstGeom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7" name="Arc 6"/>
          <p:cNvSpPr/>
          <p:nvPr/>
        </p:nvSpPr>
        <p:spPr>
          <a:xfrm>
            <a:off x="6476880" y="4421160"/>
            <a:ext cx="2238480" cy="2124000"/>
          </a:xfrm>
          <a:custGeom>
            <a:avLst/>
            <a:gdLst>
              <a:gd name="textAreaLeft" fmla="*/ 0 w 2238480"/>
              <a:gd name="textAreaRight" fmla="*/ 2238840 w 2238480"/>
              <a:gd name="textAreaTop" fmla="*/ 0 h 2124000"/>
              <a:gd name="textAreaBottom" fmla="*/ 2124360 h 2124000"/>
            </a:gdLst>
            <a:ahLst/>
            <a:rect l="textAreaLeft" t="textAreaTop" r="textAreaRight" b="textAreaBottom"/>
            <a:pathLst>
              <a:path fill="none" w="21551" h="21527">
                <a:moveTo>
                  <a:pt x="1771" y="-1"/>
                </a:moveTo>
                <a:cubicBezTo>
                  <a:pt x="12423" y="876"/>
                  <a:pt x="20833" y="9411"/>
                  <a:pt x="21551" y="20075"/>
                </a:cubicBezTo>
              </a:path>
              <a:path stroke="0" w="21551" h="21527">
                <a:moveTo>
                  <a:pt x="1771" y="-1"/>
                </a:moveTo>
                <a:cubicBezTo>
                  <a:pt x="12423" y="876"/>
                  <a:pt x="20833" y="9411"/>
                  <a:pt x="21551" y="20075"/>
                </a:cubicBezTo>
                <a:lnTo>
                  <a:pt x="0" y="21527"/>
                </a:lnTo>
                <a:lnTo>
                  <a:pt x="1771" y="-1"/>
                </a:lnTo>
                <a:close/>
              </a:path>
            </a:pathLst>
          </a:custGeom>
          <a:noFill/>
          <a:ln w="12600">
            <a:solidFill>
              <a:srgbClr val="1026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8" name="Line 7"/>
          <p:cNvSpPr/>
          <p:nvPr/>
        </p:nvSpPr>
        <p:spPr>
          <a:xfrm>
            <a:off x="6553200" y="6019920"/>
            <a:ext cx="0" cy="533160"/>
          </a:xfrm>
          <a:prstGeom prst="line">
            <a:avLst/>
          </a:prstGeom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9" name="Line 8"/>
          <p:cNvSpPr/>
          <p:nvPr/>
        </p:nvSpPr>
        <p:spPr>
          <a:xfrm>
            <a:off x="6553200" y="6553080"/>
            <a:ext cx="2895480" cy="0"/>
          </a:xfrm>
          <a:prstGeom prst="line">
            <a:avLst/>
          </a:prstGeom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0" name="Line 9"/>
          <p:cNvSpPr/>
          <p:nvPr/>
        </p:nvSpPr>
        <p:spPr>
          <a:xfrm>
            <a:off x="2438400" y="5638680"/>
            <a:ext cx="2362320" cy="0"/>
          </a:xfrm>
          <a:prstGeom prst="line">
            <a:avLst/>
          </a:prstGeom>
          <a:ln w="12600">
            <a:solidFill>
              <a:srgbClr val="10263F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1" name="AutoShape 10"/>
          <p:cNvSpPr/>
          <p:nvPr/>
        </p:nvSpPr>
        <p:spPr>
          <a:xfrm rot="16207200">
            <a:off x="4738440" y="5471640"/>
            <a:ext cx="609480" cy="333360"/>
          </a:xfrm>
          <a:custGeom>
            <a:avLst/>
            <a:gdLst>
              <a:gd name="textAreaLeft" fmla="*/ 95040 w 609480"/>
              <a:gd name="textAreaRight" fmla="*/ 533520 w 609480"/>
              <a:gd name="textAreaTop" fmla="*/ 83160 h 333360"/>
              <a:gd name="textAreaBottom" fmla="*/ 250200 h 33336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C9D6E4"/>
          </a:solidFill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2" name="AutoShape 11"/>
          <p:cNvSpPr/>
          <p:nvPr/>
        </p:nvSpPr>
        <p:spPr>
          <a:xfrm rot="16207200">
            <a:off x="8624640" y="6386040"/>
            <a:ext cx="609480" cy="333360"/>
          </a:xfrm>
          <a:custGeom>
            <a:avLst/>
            <a:gdLst>
              <a:gd name="textAreaLeft" fmla="*/ 95040 w 609480"/>
              <a:gd name="textAreaRight" fmla="*/ 533520 w 609480"/>
              <a:gd name="textAreaTop" fmla="*/ 83160 h 333360"/>
              <a:gd name="textAreaBottom" fmla="*/ 250200 h 33336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noFill/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3" name="Rectangle 12"/>
          <p:cNvSpPr/>
          <p:nvPr/>
        </p:nvSpPr>
        <p:spPr>
          <a:xfrm>
            <a:off x="4876680" y="6400800"/>
            <a:ext cx="685800" cy="457200"/>
          </a:xfrm>
          <a:prstGeom prst="rect">
            <a:avLst/>
          </a:prstGeom>
          <a:noFill/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4" name="Text Box 13"/>
          <p:cNvSpPr/>
          <p:nvPr/>
        </p:nvSpPr>
        <p:spPr>
          <a:xfrm>
            <a:off x="4955520" y="6521400"/>
            <a:ext cx="5342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10.0</a:t>
            </a:r>
            <a:endParaRPr b="0" lang="en-US" sz="16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5" name="AutoShape 14"/>
          <p:cNvSpPr/>
          <p:nvPr/>
        </p:nvSpPr>
        <p:spPr>
          <a:xfrm rot="16207200">
            <a:off x="8167440" y="6386040"/>
            <a:ext cx="609480" cy="333360"/>
          </a:xfrm>
          <a:custGeom>
            <a:avLst/>
            <a:gdLst>
              <a:gd name="textAreaLeft" fmla="*/ 95040 w 609480"/>
              <a:gd name="textAreaRight" fmla="*/ 533520 w 609480"/>
              <a:gd name="textAreaTop" fmla="*/ 83160 h 333360"/>
              <a:gd name="textAreaBottom" fmla="*/ 250200 h 33336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C9D6E4"/>
          </a:solidFill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6" name="AutoShape 15"/>
          <p:cNvSpPr/>
          <p:nvPr/>
        </p:nvSpPr>
        <p:spPr>
          <a:xfrm rot="17542800">
            <a:off x="8167080" y="5776920"/>
            <a:ext cx="609840" cy="333360"/>
          </a:xfrm>
          <a:custGeom>
            <a:avLst/>
            <a:gdLst>
              <a:gd name="textAreaLeft" fmla="*/ 95040 w 609840"/>
              <a:gd name="textAreaRight" fmla="*/ 533880 w 609840"/>
              <a:gd name="textAreaTop" fmla="*/ 83160 h 333360"/>
              <a:gd name="textAreaBottom" fmla="*/ 250200 h 33336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C9D6E4"/>
          </a:solidFill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29" name="design9029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uFillTx/>
                <a:latin typeface="Cambria"/>
                <a:ea typeface="Cambria"/>
                <a:cs typeface="Cambria"/>
              </a:rPr>
              <a:t>ARCS &amp; RADIALS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88" name="PlaceHolder 2"/>
          <p:cNvSpPr>
            <a:spLocks noGrp="1"/>
          </p:cNvSpPr>
          <p:nvPr/>
        </p:nvSpPr>
        <p:spPr>
          <a:xfrm>
            <a:off x="2209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l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b. When too far out from the beacon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601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turn aircraft towards beacon until correct distance achieved; turn aircraft away from beacon until needle horizontal.</a:t>
            </a:r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9" name="Oval 4"/>
          <p:cNvSpPr/>
          <p:nvPr/>
        </p:nvSpPr>
        <p:spPr>
          <a:xfrm>
            <a:off x="2362080" y="3962520"/>
            <a:ext cx="2590920" cy="2438280"/>
          </a:xfrm>
          <a:prstGeom prst="ellipse">
            <a:avLst/>
          </a:prstGeom>
          <a:solidFill>
            <a:srgbClr val="C9D6E4"/>
          </a:solidFill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0" name="Line 5"/>
          <p:cNvSpPr/>
          <p:nvPr/>
        </p:nvSpPr>
        <p:spPr>
          <a:xfrm>
            <a:off x="6629520" y="4038480"/>
            <a:ext cx="0" cy="1752840"/>
          </a:xfrm>
          <a:prstGeom prst="line">
            <a:avLst/>
          </a:prstGeom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1" name="Arc 6"/>
          <p:cNvSpPr/>
          <p:nvPr/>
        </p:nvSpPr>
        <p:spPr>
          <a:xfrm>
            <a:off x="6553200" y="4191120"/>
            <a:ext cx="2238480" cy="2124000"/>
          </a:xfrm>
          <a:custGeom>
            <a:avLst/>
            <a:gdLst>
              <a:gd name="textAreaLeft" fmla="*/ 0 w 2238480"/>
              <a:gd name="textAreaRight" fmla="*/ 2238840 w 2238480"/>
              <a:gd name="textAreaTop" fmla="*/ 0 h 2124000"/>
              <a:gd name="textAreaBottom" fmla="*/ 2124360 h 2124000"/>
            </a:gdLst>
            <a:ahLst/>
            <a:rect l="textAreaLeft" t="textAreaTop" r="textAreaRight" b="textAreaBottom"/>
            <a:pathLst>
              <a:path fill="none" w="21551" h="21527">
                <a:moveTo>
                  <a:pt x="1771" y="-1"/>
                </a:moveTo>
                <a:cubicBezTo>
                  <a:pt x="12423" y="876"/>
                  <a:pt x="20833" y="9411"/>
                  <a:pt x="21551" y="20075"/>
                </a:cubicBezTo>
              </a:path>
              <a:path stroke="0" w="21551" h="21527">
                <a:moveTo>
                  <a:pt x="1771" y="-1"/>
                </a:moveTo>
                <a:cubicBezTo>
                  <a:pt x="12423" y="876"/>
                  <a:pt x="20833" y="9411"/>
                  <a:pt x="21551" y="20075"/>
                </a:cubicBezTo>
                <a:lnTo>
                  <a:pt x="0" y="21527"/>
                </a:lnTo>
                <a:lnTo>
                  <a:pt x="1771" y="-1"/>
                </a:lnTo>
                <a:close/>
              </a:path>
            </a:pathLst>
          </a:custGeom>
          <a:noFill/>
          <a:ln w="12600">
            <a:solidFill>
              <a:srgbClr val="1026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2" name="Line 7"/>
          <p:cNvSpPr/>
          <p:nvPr/>
        </p:nvSpPr>
        <p:spPr>
          <a:xfrm>
            <a:off x="6629520" y="5791320"/>
            <a:ext cx="0" cy="533160"/>
          </a:xfrm>
          <a:prstGeom prst="line">
            <a:avLst/>
          </a:prstGeom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3" name="Line 8"/>
          <p:cNvSpPr/>
          <p:nvPr/>
        </p:nvSpPr>
        <p:spPr>
          <a:xfrm>
            <a:off x="6629520" y="6324480"/>
            <a:ext cx="2895480" cy="0"/>
          </a:xfrm>
          <a:prstGeom prst="line">
            <a:avLst/>
          </a:prstGeom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4" name="Line 9"/>
          <p:cNvSpPr/>
          <p:nvPr/>
        </p:nvSpPr>
        <p:spPr>
          <a:xfrm>
            <a:off x="2514720" y="5181480"/>
            <a:ext cx="2361960" cy="0"/>
          </a:xfrm>
          <a:prstGeom prst="line">
            <a:avLst/>
          </a:prstGeom>
          <a:ln w="12600">
            <a:solidFill>
              <a:srgbClr val="10263F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5" name="AutoShape 10"/>
          <p:cNvSpPr/>
          <p:nvPr/>
        </p:nvSpPr>
        <p:spPr>
          <a:xfrm rot="16207200">
            <a:off x="4890720" y="5090760"/>
            <a:ext cx="609840" cy="333360"/>
          </a:xfrm>
          <a:custGeom>
            <a:avLst/>
            <a:gdLst>
              <a:gd name="textAreaLeft" fmla="*/ 95040 w 609840"/>
              <a:gd name="textAreaRight" fmla="*/ 533880 w 609840"/>
              <a:gd name="textAreaTop" fmla="*/ 83160 h 333360"/>
              <a:gd name="textAreaBottom" fmla="*/ 250200 h 33336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C9D6E4"/>
          </a:solidFill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" name="AutoShape 11"/>
          <p:cNvSpPr/>
          <p:nvPr/>
        </p:nvSpPr>
        <p:spPr>
          <a:xfrm rot="16207200">
            <a:off x="8624640" y="6157440"/>
            <a:ext cx="609480" cy="333360"/>
          </a:xfrm>
          <a:custGeom>
            <a:avLst/>
            <a:gdLst>
              <a:gd name="textAreaLeft" fmla="*/ 95040 w 609480"/>
              <a:gd name="textAreaRight" fmla="*/ 533520 w 609480"/>
              <a:gd name="textAreaTop" fmla="*/ 83160 h 333360"/>
              <a:gd name="textAreaBottom" fmla="*/ 250200 h 33336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noFill/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7" name="Rectangle 12"/>
          <p:cNvSpPr/>
          <p:nvPr/>
        </p:nvSpPr>
        <p:spPr>
          <a:xfrm>
            <a:off x="4876680" y="6019920"/>
            <a:ext cx="685800" cy="457200"/>
          </a:xfrm>
          <a:prstGeom prst="rect">
            <a:avLst/>
          </a:prstGeom>
          <a:noFill/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8" name="Text Box 13"/>
          <p:cNvSpPr/>
          <p:nvPr/>
        </p:nvSpPr>
        <p:spPr>
          <a:xfrm>
            <a:off x="4955520" y="6019920"/>
            <a:ext cx="5342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14.0</a:t>
            </a:r>
            <a:endParaRPr b="0" lang="en-US" sz="16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9" name="AutoShape 14"/>
          <p:cNvSpPr/>
          <p:nvPr/>
        </p:nvSpPr>
        <p:spPr>
          <a:xfrm rot="16207200">
            <a:off x="9005880" y="6157440"/>
            <a:ext cx="609480" cy="333360"/>
          </a:xfrm>
          <a:custGeom>
            <a:avLst/>
            <a:gdLst>
              <a:gd name="textAreaLeft" fmla="*/ 95040 w 609480"/>
              <a:gd name="textAreaRight" fmla="*/ 533520 w 609480"/>
              <a:gd name="textAreaTop" fmla="*/ 83160 h 333360"/>
              <a:gd name="textAreaBottom" fmla="*/ 250200 h 33336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C9D6E4"/>
          </a:solidFill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0" name="AutoShape 15"/>
          <p:cNvSpPr/>
          <p:nvPr/>
        </p:nvSpPr>
        <p:spPr>
          <a:xfrm rot="13170000">
            <a:off x="8609880" y="5486040"/>
            <a:ext cx="609480" cy="333360"/>
          </a:xfrm>
          <a:custGeom>
            <a:avLst/>
            <a:gdLst>
              <a:gd name="textAreaLeft" fmla="*/ 95040 w 609480"/>
              <a:gd name="textAreaRight" fmla="*/ 533520 w 609480"/>
              <a:gd name="textAreaTop" fmla="*/ 83160 h 333360"/>
              <a:gd name="textAreaBottom" fmla="*/ 250200 h 33336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C9D6E4"/>
          </a:solidFill>
          <a:ln w="1260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30" name="design9030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8" dur="indefinite" restart="never" nodeType="tmRoot">
          <p:childTnLst>
            <p:seq>
              <p:cTn id="279" dur="indefinite" nodeType="mainSeq">
                <p:childTnLst>
                  <p:par>
                    <p:cTn id="280" nodeType="clickEffect" fill="hold">
                      <p:stCondLst>
                        <p:cond delay="indefinite"/>
                      </p:stCondLst>
                      <p:childTnLst>
                        <p:par>
                          <p:cTn id="2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4" dur="1000" fill="hold"/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5" dur="1000" fill="hold"/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6" dur="1000" fill="hold"/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x+(cos(-2*pi*(1-$))*-x-sin(-2*pi*(1-$))*(1-y))*(1-$)" tm="0">
                                          <p:val>
                                            <p:strVal val="0"/>
                                          </p:val>
                                        </p:tav>
                                        <p:tav fmla="x+(cos(-2*pi*(1-$))*-x-sin(-2*pi*(1-$))*(1-y))*(1-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7" dur="1000" fill="hold"/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+(sin(-2*pi*(1-$))*-x+cos(-2*pi*(1-$))*(1-y))*(1-$)" tm="0">
                                          <p:val>
                                            <p:strVal val="0"/>
                                          </p:val>
                                        </p:tav>
                                        <p:tav fmla="y+(sin(-2*pi*(1-$))*-x+cos(-2*pi*(1-$))*(1-y))*(1-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nodeType="clickEffect" fill="hold">
                      <p:stCondLst>
                        <p:cond delay="indefinite"/>
                      </p:stCondLst>
                      <p:childTnLst>
                        <p:par>
                          <p:cTn id="28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o>
                                        <p:strVal val="-45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3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45"/>
                                          </p:val>
                                        </p:tav>
                                        <p:tav tm="69900">
                                          <p:val>
                                            <p:strVal val="45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5" dur="156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6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uFillTx/>
                <a:latin typeface="Cambria"/>
                <a:ea typeface="Cambria"/>
                <a:cs typeface="Cambria"/>
              </a:rPr>
              <a:t>ARCS &amp; RADIALS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02" name="PlaceHolder 2"/>
          <p:cNvSpPr>
            <a:spLocks noGrp="1"/>
          </p:cNvSpPr>
          <p:nvPr/>
        </p:nvSpPr>
        <p:spPr>
          <a:xfrm>
            <a:off x="2209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40" lnSpcReduction="10000"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ARC INTERCEPTION FROM A RADIAL</a:t>
            </a:r>
            <a:endParaRPr b="0" lang="en-US" sz="28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Maintain radial until 0.5 mile from required arc</a:t>
            </a:r>
            <a:endParaRPr b="0" lang="en-US" sz="28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At 0.5 mile from arc, turn aircraft until VOR needle at 90° to aircraft</a:t>
            </a:r>
            <a:r>
              <a:rPr b="0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’</a:t>
            </a:r>
            <a:r>
              <a:rPr b="0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s heading</a:t>
            </a:r>
            <a:endParaRPr b="0" lang="en-US" sz="28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Check actual distance from beacon:</a:t>
            </a:r>
            <a:endParaRPr b="0" lang="en-US" sz="28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if correct, maintain arc</a:t>
            </a:r>
            <a:endParaRPr b="0" lang="en-US" sz="24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if too close/too far out correct to required 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distance an then maintain!</a:t>
            </a:r>
            <a:r>
              <a:rPr b="0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</a:t>
            </a:r>
            <a:endParaRPr b="0" lang="en-US" sz="28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</a:t>
            </a:r>
            <a:endParaRPr b="0" lang="en-US" sz="28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31" name="design9031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7" dur="indefinite" restart="never" nodeType="tmRoot">
          <p:childTnLst>
            <p:seq>
              <p:cTn id="298" dur="indefinite" nodeType="mainSeq">
                <p:childTnLst>
                  <p:par>
                    <p:cTn id="299" nodeType="clickEffect" fill="hold">
                      <p:stCondLst>
                        <p:cond delay="indefinite"/>
                      </p:stCondLst>
                      <p:childTnLst>
                        <p:par>
                          <p:cTn id="3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1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3" dur="800"/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04" dur="800" fill="hold"/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5" dur="800" fill="hold"/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6" dur="800" fill="hold"/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nodeType="clickEffect" fill="hold">
                      <p:stCondLst>
                        <p:cond delay="indefinite"/>
                      </p:stCondLst>
                      <p:childTnLst>
                        <p:par>
                          <p:cTn id="3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1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313" dur="500"/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3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2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315" nodeType="clickEffect" fill="hold">
                      <p:stCondLst>
                        <p:cond delay="indefinite"/>
                      </p:stCondLst>
                      <p:childTnLst>
                        <p:par>
                          <p:cTn id="3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9" dur="1000"/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20" dur="1000" fill="hold"/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1" dur="900" fill="hold"/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2" dur="1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3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2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324" nodeType="clickEffect" fill="hold">
                      <p:stCondLst>
                        <p:cond delay="indefinite"/>
                      </p:stCondLst>
                      <p:childTnLst>
                        <p:par>
                          <p:cTn id="3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6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8" dur="500"/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3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2">
                                      <p:txEl>
                                        <p:pRg st="2" end="2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330" nodeType="clickEffect" fill="hold">
                      <p:stCondLst>
                        <p:cond delay="indefinite"/>
                      </p:stCondLst>
                      <p:childTnLst>
                        <p:par>
                          <p:cTn id="33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4" dur="2000"/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35" dur="2000" fill="hold"/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str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6" dur="2000" fill="hold"/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3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2">
                                      <p:txEl>
                                        <p:pRg st="3" end="3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338" nodeType="clickEffect" fill="hold">
                      <p:stCondLst>
                        <p:cond delay="indefinite"/>
                      </p:stCondLst>
                      <p:childTnLst>
                        <p:par>
                          <p:cTn id="3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2" dur="1000" fill="hold"/>
                                        <p:tgtEl>
                                          <p:spTgt spid="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3" dur="1000" fill="hold"/>
                                        <p:tgtEl>
                                          <p:spTgt spid="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44" dur="1000"/>
                                        <p:tgtEl>
                                          <p:spTgt spid="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3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2">
                                      <p:txEl>
                                        <p:pRg st="4" end="4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346" nodeType="clickEffect" fill="hold">
                      <p:stCondLst>
                        <p:cond delay="indefinite"/>
                      </p:stCondLst>
                      <p:childTnLst>
                        <p:par>
                          <p:cTn id="3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0" dur="1000"/>
                                        <p:tgtEl>
                                          <p:spTgt spid="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51" dur="1000" fill="hold"/>
                                        <p:tgtEl>
                                          <p:spTgt spid="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2" dur="1000" fill="hold"/>
                                        <p:tgtEl>
                                          <p:spTgt spid="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3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2">
                                      <p:txEl>
                                        <p:pRg st="5" end="5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356" dur="1" fill="hold"/>
                                  <p:tgtEl>
                                    <p:spTgt spid="202">
                                      <p:txEl>
                                        <p:pRg st="7" end="7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uFillTx/>
                <a:latin typeface="Cambria"/>
                <a:ea typeface="Cambria"/>
                <a:cs typeface="Cambria"/>
              </a:rPr>
              <a:t>ARCS &amp; RADIALS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04" name="PlaceHolder 2"/>
          <p:cNvSpPr>
            <a:spLocks noGrp="1"/>
          </p:cNvSpPr>
          <p:nvPr/>
        </p:nvSpPr>
        <p:spPr>
          <a:xfrm>
            <a:off x="2209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9052" lnSpcReduction="10000"/>
          </a:bodyPr>
          <a:p>
            <a:pPr marL="343080" indent="-343080" algn="l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RADIAL INTERCEPTION FROM AN ARC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maintain arc until 5° before reaching required radial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turn aircraft onto desired heading for intercepting and maintaining required radial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adjust aircraft heading as required to maintain radial! 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32" name="design9032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7" dur="indefinite" restart="never" nodeType="tmRoot">
          <p:childTnLst>
            <p:seq>
              <p:cTn id="358" dur="indefinite" nodeType="mainSeq">
                <p:childTnLst>
                  <p:par>
                    <p:cTn id="359" nodeType="clickEffect" fill="hold">
                      <p:stCondLst>
                        <p:cond delay="indefinite"/>
                      </p:stCondLst>
                      <p:childTnLst>
                        <p:par>
                          <p:cTn id="3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1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3" dur="1000" fill="hold"/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4" dur="1000" fill="hold"/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65" dur="1000"/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nodeType="clickEffect" fill="hold">
                      <p:stCondLst>
                        <p:cond delay="indefinite"/>
                      </p:stCondLst>
                      <p:childTnLst>
                        <p:par>
                          <p:cTn id="36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0" dur="500" fill="hold"/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1" dur="500" fill="hold"/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72" dur="500"/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3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4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374" nodeType="clickEffect" fill="hold">
                      <p:stCondLst>
                        <p:cond delay="indefinite"/>
                      </p:stCondLst>
                      <p:childTnLst>
                        <p:par>
                          <p:cTn id="37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6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8" dur="1000" fill="hold"/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9" dur="1000" fill="hold"/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0" dur="1000" fill="hold"/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x+(cos(-2*pi*(1-$))*-x-sin(-2*pi*(1-$))*(1-y))*(1-$)" tm="0">
                                          <p:val>
                                            <p:strVal val="0"/>
                                          </p:val>
                                        </p:tav>
                                        <p:tav fmla="x+(cos(-2*pi*(1-$))*-x-sin(-2*pi*(1-$))*(1-y))*(1-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1" dur="1000" fill="hold"/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+(sin(-2*pi*(1-$))*-x+cos(-2*pi*(1-$))*(1-y))*(1-$)" tm="0">
                                          <p:val>
                                            <p:strVal val="0"/>
                                          </p:val>
                                        </p:tav>
                                        <p:tav fmla="y+(sin(-2*pi*(1-$))*-x+cos(-2*pi*(1-$))*(1-y))*(1-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3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4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383" nodeType="clickEffect" fill="hold">
                      <p:stCondLst>
                        <p:cond delay="indefinite"/>
                      </p:stCondLst>
                      <p:childTnLst>
                        <p:par>
                          <p:cTn id="3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animClr clrSpc="rgb">
                                <p:cBhvr>
                                  <p:cTn id="3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4">
                                      <p:txEl>
                                        <p:pRg st="2" end="2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390" dur="1" fill="hold"/>
                                  <p:tgtEl>
                                    <p:spTgt spid="204">
                                      <p:txEl>
                                        <p:pRg st="3" end="3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uFillTx/>
                <a:latin typeface="Cambria"/>
                <a:ea typeface="Cambria"/>
                <a:cs typeface="Cambria"/>
              </a:rPr>
              <a:t>ARCS &amp; RADIALS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06" name="PlaceHolder 2"/>
          <p:cNvSpPr>
            <a:spLocks noGrp="1"/>
          </p:cNvSpPr>
          <p:nvPr/>
        </p:nvSpPr>
        <p:spPr>
          <a:xfrm>
            <a:off x="2209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5928"/>
          </a:bodyPr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We have studied: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Homing Principles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Intercepting and Maintaining a 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Radial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Maintaining/Correcting an Arc 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Arc Interception from a Radial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Radial Interception from an Arc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33" name="design9033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1" dur="indefinite" restart="never" nodeType="tmRoot">
          <p:childTnLst>
            <p:seq>
              <p:cTn id="392" dur="indefinite" nodeType="mainSeq">
                <p:childTnLst>
                  <p:par>
                    <p:cTn id="393" nodeType="clickEffect" fill="hold">
                      <p:stCondLst>
                        <p:cond delay="indefinite"/>
                      </p:stCondLst>
                      <p:childTnLst>
                        <p:par>
                          <p:cTn id="39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7" dur="500" fill="hold"/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8" dur="500" fill="hold"/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9" dur="500" fill="hold"/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0" dur="500" fill="hold"/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401" dur="500"/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nodeType="clickEffect" fill="hold">
                      <p:stCondLst>
                        <p:cond delay="indefinite"/>
                      </p:stCondLst>
                      <p:childTnLst>
                        <p:par>
                          <p:cTn id="4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4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6" dur="800"/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07" dur="800" fill="hold"/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8" dur="800" fill="hold"/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9" dur="800" fill="hold"/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4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6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413" nodeType="clickEffect" fill="hold">
                      <p:stCondLst>
                        <p:cond delay="indefinite"/>
                      </p:stCondLst>
                      <p:childTnLst>
                        <p:par>
                          <p:cTn id="4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 additive="repl">
                                        <p:cTn id="417" dur="500"/>
                                        <p:tgtEl>
                                          <p:spTgt spid="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4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6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419" nodeType="clickEffect" fill="hold">
                      <p:stCondLst>
                        <p:cond delay="indefinite"/>
                      </p:stCondLst>
                      <p:childTnLst>
                        <p:par>
                          <p:cTn id="4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1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3" dur="500" fill="hold"/>
                                        <p:tgtEl>
                                          <p:spTgt spid="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4" dur="500" fill="hold"/>
                                        <p:tgtEl>
                                          <p:spTgt spid="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425" dur="500"/>
                                        <p:tgtEl>
                                          <p:spTgt spid="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4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6">
                                      <p:txEl>
                                        <p:pRg st="2" end="2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427" nodeType="clickEffect" fill="hold">
                      <p:stCondLst>
                        <p:cond delay="indefinite"/>
                      </p:stCondLst>
                      <p:childTnLst>
                        <p:par>
                          <p:cTn id="4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1" dur="2000"/>
                                        <p:tgtEl>
                                          <p:spTgt spid="2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32" dur="2000" fill="hold"/>
                                        <p:tgtEl>
                                          <p:spTgt spid="2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str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3" dur="2000" fill="hold"/>
                                        <p:tgtEl>
                                          <p:spTgt spid="2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4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6">
                                      <p:txEl>
                                        <p:pRg st="3" end="3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435" nodeType="clickEffect" fill="hold">
                      <p:stCondLst>
                        <p:cond delay="indefinite"/>
                      </p:stCondLst>
                      <p:childTnLst>
                        <p:par>
                          <p:cTn id="4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out)" transition="in">
                                      <p:cBhvr additive="repl">
                                        <p:cTn id="439" dur="2000"/>
                                        <p:tgtEl>
                                          <p:spTgt spid="2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4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6">
                                      <p:txEl>
                                        <p:pRg st="4" end="4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443" dur="1" fill="hold"/>
                                  <p:tgtEl>
                                    <p:spTgt spid="206">
                                      <p:txEl>
                                        <p:pRg st="5" end="5"/>
                                      </p:txEl>
                                    </p:spTgt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10263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5355A"/>
            </a:gs>
            <a:gs pos="100000">
              <a:srgbClr val="091626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ARCS &amp; RADIALS</a:t>
            </a:r>
            <a:endParaRPr b="1" lang="en-US" sz="2600" spc="-1" strike="noStrike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08" name="PlaceHolder 2"/>
          <p:cNvSpPr>
            <a:spLocks noGrp="1"/>
          </p:cNvSpPr>
          <p:nvPr/>
        </p:nvSpPr>
        <p:spPr>
          <a:xfrm>
            <a:off x="2209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400" spc="-1" strike="noStrik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343080" indent="-343080" algn="ctr"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5400" spc="-1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ANY</a:t>
            </a:r>
            <a:endParaRPr b="0" lang="en-US" sz="5400" spc="-1" strike="noStrik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343080" indent="-343080" algn="ctr"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5400" spc="-1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QUESTIONS?</a:t>
            </a:r>
            <a:endParaRPr b="0" lang="en-US" sz="5400" spc="-1" strike="noStrik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34" name="design9034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7E93A8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44" dur="indefinite" restart="never" nodeType="tmRoot">
          <p:childTnLst>
            <p:seq>
              <p:cTn id="445" dur="indefinite" nodeType="mainSeq">
                <p:childTnLst>
                  <p:par>
                    <p:cTn id="446" nodeType="clickEffect" fill="hold">
                      <p:stCondLst>
                        <p:cond delay="indefinite"/>
                      </p:stCondLst>
                      <p:childTnLst>
                        <p:par>
                          <p:cTn id="4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48" nodeType="clickEffect" fill="hold" presetClass="entr" presetID="19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0" dur="5000" fill="hold"/>
                                        <p:tgtEl>
                                          <p:spTgt spid="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1" dur="5000" fill="hold"/>
                                        <p:tgtEl>
                                          <p:spTgt spid="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2" nodeType="clickEffect" fill="hold">
                      <p:stCondLst>
                        <p:cond delay="indefinite"/>
                      </p:stCondLst>
                      <p:childTnLst>
                        <p:par>
                          <p:cTn id="4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4" nodeType="clickEffect" fill="hold" presetClass="entr" presetID="19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6" dur="5000" fill="hold"/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7" dur="5000" fill="hold"/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5355A"/>
            </a:gs>
            <a:gs pos="100000">
              <a:srgbClr val="091626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/>
        </p:nvSpPr>
        <p:spPr>
          <a:xfrm>
            <a:off x="2286120" y="2514240"/>
            <a:ext cx="7238880" cy="76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algn="ctr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08C82"/>
                </a:solidFill>
                <a:latin typeface="Calibri"/>
                <a:ea typeface="Calibri"/>
                <a:cs typeface="Calibri"/>
              </a:rPr>
              <a:t>AIM</a:t>
            </a:r>
            <a:r>
              <a:rPr b="0" lang="en-US" sz="3200" spc="-1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: </a:t>
            </a: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FLY POINT TO POINT NAVIGATION USING VOR-DME</a:t>
            </a:r>
            <a:endParaRPr b="0" lang="en-US" sz="2000" spc="-1" strike="noStrik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FIX TO FIX</a:t>
            </a:r>
            <a:endParaRPr b="1" lang="en-US" sz="2600" spc="-1" strike="noStrike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4" name="Rectangle 9"/>
          <p:cNvSpPr/>
          <p:nvPr/>
        </p:nvSpPr>
        <p:spPr>
          <a:xfrm>
            <a:off x="2438400" y="3657600"/>
            <a:ext cx="8854440" cy="2209680"/>
          </a:xfrm>
          <a:prstGeom prst="rect">
            <a:avLst/>
          </a:prstGeom>
          <a:solidFill>
            <a:srgbClr val="1C3A5E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6800" bIns="46800" anchor="ctr">
            <a:noAutofit/>
            <a:norm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THER ARE TWO METHODES</a:t>
            </a:r>
            <a:endParaRPr b="0" lang="en-US" sz="2400" spc="-1" strike="noStrik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</a:t>
            </a: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</a:t>
            </a: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KNEEPAD MAP</a:t>
            </a:r>
            <a:endParaRPr b="0" lang="en-US" sz="2400" spc="-1" strike="noStrik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</a:t>
            </a: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</a:t>
            </a: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HSI</a:t>
            </a:r>
            <a:endParaRPr b="0" lang="en-US" sz="2400" spc="-1" strike="noStrik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35" name="design9035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7E93A8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/>
        </p:nvSpPr>
        <p:spPr>
          <a:xfrm>
            <a:off x="2209800" y="3808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0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KNEEPAD MAP</a:t>
            </a:r>
            <a:endParaRPr b="1" lang="en-US" sz="20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6" name="PlaceHolder 2"/>
          <p:cNvSpPr>
            <a:spLocks noGrp="1"/>
          </p:cNvSpPr>
          <p:nvPr/>
        </p:nvSpPr>
        <p:spPr>
          <a:xfrm>
            <a:off x="2895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Oval 5"/>
          <p:cNvSpPr/>
          <p:nvPr/>
        </p:nvSpPr>
        <p:spPr>
          <a:xfrm>
            <a:off x="3505080" y="1143000"/>
            <a:ext cx="5334120" cy="5029200"/>
          </a:xfrm>
          <a:prstGeom prst="ellipse">
            <a:avLst/>
          </a:prstGeom>
          <a:solidFill>
            <a:srgbClr val="EDF1F5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Oval 6"/>
          <p:cNvSpPr/>
          <p:nvPr/>
        </p:nvSpPr>
        <p:spPr>
          <a:xfrm>
            <a:off x="4267200" y="1828800"/>
            <a:ext cx="3886200" cy="3657600"/>
          </a:xfrm>
          <a:prstGeom prst="ellipse">
            <a:avLst/>
          </a:prstGeom>
          <a:solidFill>
            <a:srgbClr val="EDF1F5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Oval 7"/>
          <p:cNvSpPr/>
          <p:nvPr/>
        </p:nvSpPr>
        <p:spPr>
          <a:xfrm>
            <a:off x="4876680" y="2438280"/>
            <a:ext cx="2667240" cy="2514600"/>
          </a:xfrm>
          <a:prstGeom prst="ellipse">
            <a:avLst/>
          </a:prstGeom>
          <a:solidFill>
            <a:srgbClr val="EDF1F5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Oval 8"/>
          <p:cNvSpPr/>
          <p:nvPr/>
        </p:nvSpPr>
        <p:spPr>
          <a:xfrm>
            <a:off x="5410200" y="2895480"/>
            <a:ext cx="1676520" cy="1600200"/>
          </a:xfrm>
          <a:prstGeom prst="ellipse">
            <a:avLst/>
          </a:prstGeom>
          <a:solidFill>
            <a:srgbClr val="EDF1F5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AutoShape 9"/>
          <p:cNvSpPr/>
          <p:nvPr/>
        </p:nvSpPr>
        <p:spPr>
          <a:xfrm>
            <a:off x="6172320" y="3429000"/>
            <a:ext cx="228600" cy="304920"/>
          </a:xfrm>
          <a:prstGeom prst="pie">
            <a:avLst/>
          </a:prstGeom>
          <a:solidFill>
            <a:srgbClr val="C9D6E4"/>
          </a:solidFill>
          <a:ln w="9360">
            <a:solidFill>
              <a:srgbClr val="1F2C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Line 10"/>
          <p:cNvSpPr/>
          <p:nvPr/>
        </p:nvSpPr>
        <p:spPr>
          <a:xfrm>
            <a:off x="6248280" y="1143000"/>
            <a:ext cx="0" cy="5029200"/>
          </a:xfrm>
          <a:prstGeom prst="line">
            <a:avLst/>
          </a:prstGeom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Line 11"/>
          <p:cNvSpPr/>
          <p:nvPr/>
        </p:nvSpPr>
        <p:spPr>
          <a:xfrm flipH="1">
            <a:off x="3504720" y="3581280"/>
            <a:ext cx="5334120" cy="0"/>
          </a:xfrm>
          <a:prstGeom prst="line">
            <a:avLst/>
          </a:prstGeom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Line 12"/>
          <p:cNvSpPr/>
          <p:nvPr/>
        </p:nvSpPr>
        <p:spPr>
          <a:xfrm flipH="1">
            <a:off x="4876320" y="1447920"/>
            <a:ext cx="2590920" cy="4419360"/>
          </a:xfrm>
          <a:prstGeom prst="line">
            <a:avLst/>
          </a:prstGeom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Line 13"/>
          <p:cNvSpPr/>
          <p:nvPr/>
        </p:nvSpPr>
        <p:spPr>
          <a:xfrm flipH="1">
            <a:off x="3886320" y="2362320"/>
            <a:ext cx="4572000" cy="2590560"/>
          </a:xfrm>
          <a:prstGeom prst="line">
            <a:avLst/>
          </a:prstGeom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Line 14"/>
          <p:cNvSpPr/>
          <p:nvPr/>
        </p:nvSpPr>
        <p:spPr>
          <a:xfrm flipH="1" flipV="1">
            <a:off x="4800360" y="1447560"/>
            <a:ext cx="2819160" cy="4343400"/>
          </a:xfrm>
          <a:prstGeom prst="line">
            <a:avLst/>
          </a:prstGeom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Line 15"/>
          <p:cNvSpPr/>
          <p:nvPr/>
        </p:nvSpPr>
        <p:spPr>
          <a:xfrm flipH="1" flipV="1">
            <a:off x="3885960" y="2361960"/>
            <a:ext cx="4647960" cy="2438280"/>
          </a:xfrm>
          <a:prstGeom prst="line">
            <a:avLst/>
          </a:prstGeom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AutoShape 17"/>
          <p:cNvSpPr/>
          <p:nvPr/>
        </p:nvSpPr>
        <p:spPr>
          <a:xfrm>
            <a:off x="5029320" y="5029200"/>
            <a:ext cx="380880" cy="304920"/>
          </a:xfrm>
          <a:custGeom>
            <a:avLst/>
            <a:gdLst>
              <a:gd name="textAreaLeft" fmla="*/ 156960 w 380880"/>
              <a:gd name="textAreaRight" fmla="*/ 223920 w 380880"/>
              <a:gd name="textAreaTop" fmla="*/ 125640 h 304920"/>
              <a:gd name="textAreaBottom" fmla="*/ 179280 h 304920"/>
            </a:gdLst>
            <a:ahLst/>
            <a:rect l="textAreaLeft" t="textAreaTop" r="textAreaRight" b="textAreaBottom"/>
            <a:pathLst>
              <a:path w="21600" h="21600">
                <a:moveTo>
                  <a:pt x="0" y="10800"/>
                </a:moveTo>
                <a:lnTo>
                  <a:pt x="8900" y="8900"/>
                </a:lnTo>
                <a:lnTo>
                  <a:pt x="10800" y="0"/>
                </a:lnTo>
                <a:lnTo>
                  <a:pt x="12700" y="8900"/>
                </a:lnTo>
                <a:lnTo>
                  <a:pt x="21600" y="10800"/>
                </a:lnTo>
                <a:lnTo>
                  <a:pt x="12700" y="12700"/>
                </a:lnTo>
                <a:lnTo>
                  <a:pt x="10800" y="21600"/>
                </a:lnTo>
                <a:lnTo>
                  <a:pt x="8900" y="12700"/>
                </a:lnTo>
                <a:lnTo>
                  <a:pt x="0" y="10800"/>
                </a:lnTo>
                <a:close/>
              </a:path>
            </a:pathLst>
          </a:custGeom>
          <a:solidFill>
            <a:srgbClr val="C9D6E4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6840" bIns="684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AutoShape 18"/>
          <p:cNvSpPr/>
          <p:nvPr/>
        </p:nvSpPr>
        <p:spPr>
          <a:xfrm>
            <a:off x="7315320" y="4038480"/>
            <a:ext cx="228600" cy="304920"/>
          </a:xfrm>
          <a:custGeom>
            <a:avLst/>
            <a:gdLst>
              <a:gd name="textAreaLeft" fmla="*/ 94320 w 228600"/>
              <a:gd name="textAreaRight" fmla="*/ 134280 w 228600"/>
              <a:gd name="textAreaTop" fmla="*/ 125640 h 304920"/>
              <a:gd name="textAreaBottom" fmla="*/ 179280 h 304920"/>
            </a:gdLst>
            <a:ahLst/>
            <a:rect l="textAreaLeft" t="textAreaTop" r="textAreaRight" b="textAreaBottom"/>
            <a:pathLst>
              <a:path w="21600" h="21600">
                <a:moveTo>
                  <a:pt x="0" y="10800"/>
                </a:moveTo>
                <a:lnTo>
                  <a:pt x="8900" y="8900"/>
                </a:lnTo>
                <a:lnTo>
                  <a:pt x="10800" y="0"/>
                </a:lnTo>
                <a:lnTo>
                  <a:pt x="12700" y="8900"/>
                </a:lnTo>
                <a:lnTo>
                  <a:pt x="21600" y="10800"/>
                </a:lnTo>
                <a:lnTo>
                  <a:pt x="12700" y="12700"/>
                </a:lnTo>
                <a:lnTo>
                  <a:pt x="10800" y="21600"/>
                </a:lnTo>
                <a:lnTo>
                  <a:pt x="8900" y="12700"/>
                </a:lnTo>
                <a:lnTo>
                  <a:pt x="0" y="10800"/>
                </a:lnTo>
                <a:close/>
              </a:path>
            </a:pathLst>
          </a:custGeom>
          <a:solidFill>
            <a:srgbClr val="C9D6E4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6840" bIns="684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Line 21"/>
          <p:cNvSpPr/>
          <p:nvPr/>
        </p:nvSpPr>
        <p:spPr>
          <a:xfrm flipV="1">
            <a:off x="5333880" y="4267080"/>
            <a:ext cx="1981440" cy="914400"/>
          </a:xfrm>
          <a:prstGeom prst="line">
            <a:avLst/>
          </a:prstGeom>
          <a:ln w="9360">
            <a:solidFill>
              <a:srgbClr val="1F2C3A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WordArt 24"/>
          <p:cNvSpPr txBox="1"/>
          <p:nvPr/>
        </p:nvSpPr>
        <p:spPr>
          <a:xfrm>
            <a:off x="8077080" y="2666880"/>
            <a:ext cx="228600" cy="30492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30</a:t>
            </a:r>
            <a:endParaRPr b="0" lang="en-US" sz="1600" spc="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WordArt 25"/>
          <p:cNvSpPr txBox="1"/>
          <p:nvPr/>
        </p:nvSpPr>
        <p:spPr>
          <a:xfrm>
            <a:off x="7543920" y="2971800"/>
            <a:ext cx="304560" cy="30492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20</a:t>
            </a:r>
            <a:endParaRPr b="0" lang="en-US" sz="1600" spc="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WordArt 26"/>
          <p:cNvSpPr txBox="1"/>
          <p:nvPr/>
        </p:nvSpPr>
        <p:spPr>
          <a:xfrm>
            <a:off x="7086720" y="3200400"/>
            <a:ext cx="331560" cy="28728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10</a:t>
            </a:r>
            <a:endParaRPr b="0" lang="en-US" sz="1600" spc="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WordArt 27"/>
          <p:cNvSpPr txBox="1"/>
          <p:nvPr/>
        </p:nvSpPr>
        <p:spPr>
          <a:xfrm>
            <a:off x="8686920" y="2286000"/>
            <a:ext cx="334800" cy="28728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40</a:t>
            </a:r>
            <a:endParaRPr b="0" lang="en-US" sz="1600" spc="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WordArt 28"/>
          <p:cNvSpPr txBox="1"/>
          <p:nvPr/>
        </p:nvSpPr>
        <p:spPr>
          <a:xfrm>
            <a:off x="6019680" y="914400"/>
            <a:ext cx="460440" cy="36360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700" spc="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360</a:t>
            </a:r>
            <a:endParaRPr b="0" lang="en-US" sz="1700" spc="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WordArt 29"/>
          <p:cNvSpPr txBox="1"/>
          <p:nvPr/>
        </p:nvSpPr>
        <p:spPr>
          <a:xfrm>
            <a:off x="6096000" y="5943600"/>
            <a:ext cx="307800" cy="36360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180</a:t>
            </a:r>
            <a:endParaRPr b="0" lang="en-US" sz="1600" spc="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WordArt 30"/>
          <p:cNvSpPr txBox="1"/>
          <p:nvPr/>
        </p:nvSpPr>
        <p:spPr>
          <a:xfrm>
            <a:off x="8686920" y="3429000"/>
            <a:ext cx="331560" cy="36360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700" spc="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90</a:t>
            </a:r>
            <a:endParaRPr b="0" lang="en-US" sz="1700" spc="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WordArt 31"/>
          <p:cNvSpPr txBox="1"/>
          <p:nvPr/>
        </p:nvSpPr>
        <p:spPr>
          <a:xfrm>
            <a:off x="3352800" y="3352680"/>
            <a:ext cx="311040" cy="38124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270</a:t>
            </a:r>
            <a:endParaRPr b="0" lang="en-US" sz="1600" spc="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WordArt 32"/>
          <p:cNvSpPr txBox="1"/>
          <p:nvPr/>
        </p:nvSpPr>
        <p:spPr>
          <a:xfrm>
            <a:off x="4724400" y="5638680"/>
            <a:ext cx="384120" cy="43992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700" spc="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210</a:t>
            </a:r>
            <a:endParaRPr b="0" lang="en-US" sz="1700" spc="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WordArt 33"/>
          <p:cNvSpPr txBox="1"/>
          <p:nvPr/>
        </p:nvSpPr>
        <p:spPr>
          <a:xfrm>
            <a:off x="8458320" y="4572000"/>
            <a:ext cx="460080" cy="51588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120</a:t>
            </a:r>
            <a:endParaRPr b="0" lang="en-US" sz="2000" spc="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36" name="design9036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val 4"/>
          <p:cNvSpPr/>
          <p:nvPr/>
        </p:nvSpPr>
        <p:spPr>
          <a:xfrm>
            <a:off x="3810000" y="1447920"/>
            <a:ext cx="4800600" cy="4419360"/>
          </a:xfrm>
          <a:prstGeom prst="ellipse">
            <a:avLst/>
          </a:prstGeom>
          <a:solidFill>
            <a:srgbClr val="C9D6E4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AutoShape 7"/>
          <p:cNvSpPr/>
          <p:nvPr/>
        </p:nvSpPr>
        <p:spPr>
          <a:xfrm>
            <a:off x="6172320" y="1371600"/>
            <a:ext cx="75960" cy="152280"/>
          </a:xfrm>
          <a:prstGeom prst="flowChartTerminator">
            <a:avLst/>
          </a:prstGeom>
          <a:solidFill>
            <a:srgbClr val="C9D6E4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AutoShape 8"/>
          <p:cNvSpPr/>
          <p:nvPr/>
        </p:nvSpPr>
        <p:spPr>
          <a:xfrm>
            <a:off x="6248280" y="5715000"/>
            <a:ext cx="76320" cy="152280"/>
          </a:xfrm>
          <a:prstGeom prst="flowChartTerminator">
            <a:avLst/>
          </a:prstGeom>
          <a:solidFill>
            <a:srgbClr val="C9D6E4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AutoShape 9"/>
          <p:cNvSpPr/>
          <p:nvPr/>
        </p:nvSpPr>
        <p:spPr>
          <a:xfrm>
            <a:off x="8458320" y="3581280"/>
            <a:ext cx="152280" cy="76320"/>
          </a:xfrm>
          <a:prstGeom prst="flowChartTerminator">
            <a:avLst/>
          </a:prstGeom>
          <a:solidFill>
            <a:srgbClr val="C9D6E4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7200" bIns="72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AutoShape 10"/>
          <p:cNvSpPr/>
          <p:nvPr/>
        </p:nvSpPr>
        <p:spPr>
          <a:xfrm>
            <a:off x="3733680" y="3505320"/>
            <a:ext cx="152640" cy="75960"/>
          </a:xfrm>
          <a:prstGeom prst="flowChartTerminator">
            <a:avLst/>
          </a:prstGeom>
          <a:solidFill>
            <a:srgbClr val="C9D6E4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6840" bIns="684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Line 12"/>
          <p:cNvSpPr/>
          <p:nvPr/>
        </p:nvSpPr>
        <p:spPr>
          <a:xfrm>
            <a:off x="3886320" y="3581280"/>
            <a:ext cx="4724280" cy="0"/>
          </a:xfrm>
          <a:prstGeom prst="line">
            <a:avLst/>
          </a:prstGeom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Line 13"/>
          <p:cNvSpPr/>
          <p:nvPr/>
        </p:nvSpPr>
        <p:spPr>
          <a:xfrm>
            <a:off x="6248280" y="1447920"/>
            <a:ext cx="0" cy="4572000"/>
          </a:xfrm>
          <a:prstGeom prst="line">
            <a:avLst/>
          </a:prstGeom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Line 16"/>
          <p:cNvSpPr/>
          <p:nvPr/>
        </p:nvSpPr>
        <p:spPr>
          <a:xfrm flipH="1">
            <a:off x="5028960" y="1828800"/>
            <a:ext cx="2514600" cy="3429000"/>
          </a:xfrm>
          <a:prstGeom prst="line">
            <a:avLst/>
          </a:prstGeom>
          <a:ln w="9360">
            <a:solidFill>
              <a:srgbClr val="B3261E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WordArt 20"/>
          <p:cNvSpPr txBox="1"/>
          <p:nvPr/>
        </p:nvSpPr>
        <p:spPr>
          <a:xfrm>
            <a:off x="7315320" y="1523880"/>
            <a:ext cx="536400" cy="51588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210</a:t>
            </a:r>
            <a:endParaRPr b="0" lang="en-US" sz="2400" spc="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AutoShape 22"/>
          <p:cNvSpPr/>
          <p:nvPr/>
        </p:nvSpPr>
        <p:spPr>
          <a:xfrm>
            <a:off x="7162680" y="2133720"/>
            <a:ext cx="152640" cy="228600"/>
          </a:xfrm>
          <a:custGeom>
            <a:avLst/>
            <a:gdLst>
              <a:gd name="textAreaLeft" fmla="*/ 63000 w 152640"/>
              <a:gd name="textAreaRight" fmla="*/ 89640 w 152640"/>
              <a:gd name="textAreaTop" fmla="*/ 94320 h 228600"/>
              <a:gd name="textAreaBottom" fmla="*/ 134280 h 228600"/>
            </a:gdLst>
            <a:ahLst/>
            <a:rect l="textAreaLeft" t="textAreaTop" r="textAreaRight" b="textAreaBottom"/>
            <a:pathLst>
              <a:path w="21600" h="21600">
                <a:moveTo>
                  <a:pt x="0" y="10800"/>
                </a:moveTo>
                <a:lnTo>
                  <a:pt x="8900" y="8900"/>
                </a:lnTo>
                <a:lnTo>
                  <a:pt x="10800" y="0"/>
                </a:lnTo>
                <a:lnTo>
                  <a:pt x="12700" y="8900"/>
                </a:lnTo>
                <a:lnTo>
                  <a:pt x="21600" y="10800"/>
                </a:lnTo>
                <a:lnTo>
                  <a:pt x="12700" y="12700"/>
                </a:lnTo>
                <a:lnTo>
                  <a:pt x="10800" y="21600"/>
                </a:lnTo>
                <a:lnTo>
                  <a:pt x="8900" y="12700"/>
                </a:lnTo>
                <a:lnTo>
                  <a:pt x="0" y="10800"/>
                </a:lnTo>
                <a:close/>
              </a:path>
            </a:pathLst>
          </a:custGeom>
          <a:solidFill>
            <a:srgbClr val="C9D6E4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-6840" bIns="-684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AutoShape 23"/>
          <p:cNvSpPr/>
          <p:nvPr/>
        </p:nvSpPr>
        <p:spPr>
          <a:xfrm>
            <a:off x="4419480" y="2057400"/>
            <a:ext cx="152640" cy="152280"/>
          </a:xfrm>
          <a:custGeom>
            <a:avLst/>
            <a:gdLst>
              <a:gd name="textAreaLeft" fmla="*/ 63000 w 152640"/>
              <a:gd name="textAreaRight" fmla="*/ 89640 w 152640"/>
              <a:gd name="textAreaTop" fmla="*/ 62640 h 152280"/>
              <a:gd name="textAreaBottom" fmla="*/ 89640 h 152280"/>
            </a:gdLst>
            <a:ahLst/>
            <a:rect l="textAreaLeft" t="textAreaTop" r="textAreaRight" b="textAreaBottom"/>
            <a:pathLst>
              <a:path w="21600" h="21600">
                <a:moveTo>
                  <a:pt x="0" y="10800"/>
                </a:moveTo>
                <a:lnTo>
                  <a:pt x="8900" y="8900"/>
                </a:lnTo>
                <a:lnTo>
                  <a:pt x="10800" y="0"/>
                </a:lnTo>
                <a:lnTo>
                  <a:pt x="12700" y="8900"/>
                </a:lnTo>
                <a:lnTo>
                  <a:pt x="21600" y="10800"/>
                </a:lnTo>
                <a:lnTo>
                  <a:pt x="12700" y="12700"/>
                </a:lnTo>
                <a:lnTo>
                  <a:pt x="10800" y="21600"/>
                </a:lnTo>
                <a:lnTo>
                  <a:pt x="8900" y="12700"/>
                </a:lnTo>
                <a:lnTo>
                  <a:pt x="0" y="10800"/>
                </a:lnTo>
                <a:close/>
              </a:path>
            </a:pathLst>
          </a:custGeom>
          <a:solidFill>
            <a:srgbClr val="C9D6E4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-19800" bIns="-19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" name="AutoShape 24"/>
          <p:cNvSpPr/>
          <p:nvPr/>
        </p:nvSpPr>
        <p:spPr>
          <a:xfrm>
            <a:off x="4038600" y="3505320"/>
            <a:ext cx="2133720" cy="228600"/>
          </a:xfrm>
          <a:prstGeom prst="leftArrow">
            <a:avLst>
              <a:gd name="adj1" fmla="val 50000"/>
              <a:gd name="adj2" fmla="val 233346"/>
            </a:avLst>
          </a:prstGeom>
          <a:solidFill>
            <a:srgbClr val="B3261E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AutoShape 26"/>
          <p:cNvSpPr/>
          <p:nvPr/>
        </p:nvSpPr>
        <p:spPr>
          <a:xfrm>
            <a:off x="4724400" y="2057400"/>
            <a:ext cx="2514600" cy="228600"/>
          </a:xfrm>
          <a:prstGeom prst="leftArrow">
            <a:avLst>
              <a:gd name="adj1" fmla="val 50000"/>
              <a:gd name="adj2" fmla="val 275000"/>
            </a:avLst>
          </a:prstGeom>
          <a:solidFill>
            <a:srgbClr val="B3261E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" name="WordArt 27"/>
          <p:cNvSpPr txBox="1"/>
          <p:nvPr/>
        </p:nvSpPr>
        <p:spPr>
          <a:xfrm>
            <a:off x="7467600" y="2133720"/>
            <a:ext cx="609480" cy="30456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P P</a:t>
            </a:r>
            <a:endParaRPr b="0" lang="en-US" sz="1600" spc="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WordArt 29"/>
          <p:cNvSpPr txBox="1"/>
          <p:nvPr/>
        </p:nvSpPr>
        <p:spPr>
          <a:xfrm>
            <a:off x="5867400" y="5714640"/>
            <a:ext cx="612720" cy="36360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700" spc="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360</a:t>
            </a:r>
            <a:endParaRPr b="0" lang="en-US" sz="1700" spc="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WordArt 30"/>
          <p:cNvSpPr txBox="1"/>
          <p:nvPr/>
        </p:nvSpPr>
        <p:spPr>
          <a:xfrm>
            <a:off x="5943720" y="1066680"/>
            <a:ext cx="536400" cy="36360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700" spc="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180</a:t>
            </a:r>
            <a:endParaRPr b="0" lang="en-US" sz="1700" spc="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WordArt 31"/>
          <p:cNvSpPr txBox="1"/>
          <p:nvPr/>
        </p:nvSpPr>
        <p:spPr>
          <a:xfrm>
            <a:off x="2971920" y="3429000"/>
            <a:ext cx="790560" cy="38088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R H</a:t>
            </a:r>
            <a:endParaRPr b="0" lang="en-US" sz="1800" spc="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WordArt 32"/>
          <p:cNvSpPr txBox="1"/>
          <p:nvPr/>
        </p:nvSpPr>
        <p:spPr>
          <a:xfrm>
            <a:off x="5791080" y="1981080"/>
            <a:ext cx="723960" cy="36360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700" spc="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R T</a:t>
            </a:r>
            <a:endParaRPr b="0" lang="en-US" sz="1700" spc="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WordArt 35"/>
          <p:cNvSpPr txBox="1"/>
          <p:nvPr/>
        </p:nvSpPr>
        <p:spPr>
          <a:xfrm>
            <a:off x="3047880" y="1828800"/>
            <a:ext cx="866880" cy="363600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000" spc="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DES</a:t>
            </a:r>
            <a:endParaRPr b="1" lang="en-US" sz="2000" spc="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60" name="WordArt 36"/>
          <p:cNvSpPr txBox="1"/>
          <p:nvPr/>
        </p:nvSpPr>
        <p:spPr>
          <a:xfrm>
            <a:off x="4038600" y="1905120"/>
            <a:ext cx="536400" cy="38088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120</a:t>
            </a:r>
            <a:endParaRPr b="0" lang="en-US" sz="1800" spc="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AutoShape 37"/>
          <p:cNvSpPr/>
          <p:nvPr/>
        </p:nvSpPr>
        <p:spPr>
          <a:xfrm rot="18595800">
            <a:off x="4873080" y="2003760"/>
            <a:ext cx="299880" cy="1320480"/>
          </a:xfrm>
          <a:prstGeom prst="upArrow">
            <a:avLst>
              <a:gd name="adj1" fmla="val 50000"/>
              <a:gd name="adj2" fmla="val 110084"/>
            </a:avLst>
          </a:prstGeom>
          <a:solidFill>
            <a:srgbClr val="C9D6E4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AutoShape 39"/>
          <p:cNvSpPr/>
          <p:nvPr/>
        </p:nvSpPr>
        <p:spPr>
          <a:xfrm rot="2202000">
            <a:off x="4819440" y="4578480"/>
            <a:ext cx="1245960" cy="155520"/>
          </a:xfrm>
          <a:prstGeom prst="flowChartProcess">
            <a:avLst/>
          </a:prstGeom>
          <a:solidFill>
            <a:srgbClr val="C9D6E4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AutoShape 40"/>
          <p:cNvSpPr/>
          <p:nvPr/>
        </p:nvSpPr>
        <p:spPr>
          <a:xfrm rot="2362200">
            <a:off x="7010040" y="4724280"/>
            <a:ext cx="1066680" cy="150840"/>
          </a:xfrm>
          <a:prstGeom prst="flowChartProcess">
            <a:avLst/>
          </a:prstGeom>
          <a:solidFill>
            <a:srgbClr val="C9D6E4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WordArt 41"/>
          <p:cNvSpPr txBox="1"/>
          <p:nvPr/>
        </p:nvSpPr>
        <p:spPr>
          <a:xfrm>
            <a:off x="7010400" y="1828800"/>
            <a:ext cx="255600" cy="30492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30</a:t>
            </a:r>
            <a:endParaRPr b="0" lang="en-US" sz="1600" spc="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" name="WordArt 42"/>
          <p:cNvSpPr txBox="1"/>
          <p:nvPr/>
        </p:nvSpPr>
        <p:spPr>
          <a:xfrm>
            <a:off x="4267200" y="2286000"/>
            <a:ext cx="255600" cy="21096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40</a:t>
            </a:r>
            <a:endParaRPr b="0" lang="en-US" sz="1600" spc="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WordArt 20"/>
          <p:cNvSpPr txBox="1"/>
          <p:nvPr/>
        </p:nvSpPr>
        <p:spPr>
          <a:xfrm>
            <a:off x="2809920" y="4341960"/>
            <a:ext cx="536400" cy="51588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1" strike="noStrike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088</a:t>
            </a:r>
            <a:endParaRPr b="0" lang="en-US" sz="2400" spc="1" strike="noStrike">
              <a:solidFill>
                <a:srgbClr val="B3261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37" name="design9037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" dur="indefinite" restart="never" nodeType="tmRoot">
          <p:childTnLst>
            <p:seq>
              <p:cTn id="8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audio isNarration="0">
                                      <p:cMediaNode showWhenStopped="1">
                                        <p:cTn/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67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/>
        </p:nvSpPr>
        <p:spPr>
          <a:xfrm>
            <a:off x="2209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8" name="" descr=""/>
          <p:cNvPicPr/>
          <p:nvPr/>
        </p:nvPicPr>
        <p:blipFill>
          <a:blip r:embed="rId2"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ln w="0">
            <a:noFill/>
          </a:ln>
        </p:spPr>
      </p:pic>
      <p:sp>
        <p:nvSpPr>
          <p:cNvPr id="9038" name="design9038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/>
        </p:nvSpPr>
        <p:spPr>
          <a:xfrm>
            <a:off x="868680" y="256032"/>
            <a:ext cx="10424160" cy="78638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2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HSI</a:t>
            </a:r>
            <a:endParaRPr b="1" lang="en-US" sz="22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70" name="PlaceHolder 2"/>
          <p:cNvSpPr>
            <a:spLocks noGrp="1"/>
          </p:cNvSpPr>
          <p:nvPr/>
        </p:nvSpPr>
        <p:spPr>
          <a:xfrm>
            <a:off x="2209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 algn="l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" name="Oval 4"/>
          <p:cNvSpPr/>
          <p:nvPr/>
        </p:nvSpPr>
        <p:spPr>
          <a:xfrm>
            <a:off x="3962280" y="1219320"/>
            <a:ext cx="4724640" cy="4419360"/>
          </a:xfrm>
          <a:prstGeom prst="ellipse">
            <a:avLst/>
          </a:prstGeom>
          <a:solidFill>
            <a:srgbClr val="C9D6E4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AutoShape 5"/>
          <p:cNvSpPr/>
          <p:nvPr/>
        </p:nvSpPr>
        <p:spPr>
          <a:xfrm flipH="1" flipV="1" rot="21462600">
            <a:off x="6245400" y="1142280"/>
            <a:ext cx="76320" cy="228600"/>
          </a:xfrm>
          <a:prstGeom prst="upArrow">
            <a:avLst>
              <a:gd name="adj1" fmla="val 50000"/>
              <a:gd name="adj2" fmla="val 74882"/>
            </a:avLst>
          </a:prstGeom>
          <a:solidFill>
            <a:srgbClr val="C9D6E4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AutoShape 6"/>
          <p:cNvSpPr/>
          <p:nvPr/>
        </p:nvSpPr>
        <p:spPr>
          <a:xfrm>
            <a:off x="6172320" y="3276720"/>
            <a:ext cx="228600" cy="228600"/>
          </a:xfrm>
          <a:prstGeom prst="flowChartProcess">
            <a:avLst/>
          </a:prstGeom>
          <a:solidFill>
            <a:srgbClr val="C9D6E4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AutoShape 7"/>
          <p:cNvSpPr/>
          <p:nvPr/>
        </p:nvSpPr>
        <p:spPr>
          <a:xfrm>
            <a:off x="6324600" y="5486400"/>
            <a:ext cx="76320" cy="152280"/>
          </a:xfrm>
          <a:prstGeom prst="upArrow">
            <a:avLst>
              <a:gd name="adj1" fmla="val 50000"/>
              <a:gd name="adj2" fmla="val 49882"/>
            </a:avLst>
          </a:prstGeom>
          <a:solidFill>
            <a:srgbClr val="C9D6E4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Rectangle 8"/>
          <p:cNvSpPr/>
          <p:nvPr/>
        </p:nvSpPr>
        <p:spPr>
          <a:xfrm rot="2865600">
            <a:off x="7223880" y="1678680"/>
            <a:ext cx="150840" cy="1650960"/>
          </a:xfrm>
          <a:prstGeom prst="rect">
            <a:avLst/>
          </a:prstGeom>
          <a:solidFill>
            <a:srgbClr val="C9D6E4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AutoShape 9"/>
          <p:cNvSpPr/>
          <p:nvPr/>
        </p:nvSpPr>
        <p:spPr>
          <a:xfrm rot="19104600">
            <a:off x="4343520" y="4114440"/>
            <a:ext cx="1904760" cy="304920"/>
          </a:xfrm>
          <a:prstGeom prst="leftArrow">
            <a:avLst>
              <a:gd name="adj1" fmla="val 50000"/>
              <a:gd name="adj2" fmla="val 156169"/>
            </a:avLst>
          </a:prstGeom>
          <a:solidFill>
            <a:srgbClr val="C9D6E4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WordArt 10"/>
          <p:cNvSpPr txBox="1"/>
          <p:nvPr/>
        </p:nvSpPr>
        <p:spPr>
          <a:xfrm>
            <a:off x="6172320" y="1371600"/>
            <a:ext cx="384120" cy="30492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360</a:t>
            </a:r>
            <a:endParaRPr b="0" lang="en-US" sz="1600" spc="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WordArt 11"/>
          <p:cNvSpPr txBox="1"/>
          <p:nvPr/>
        </p:nvSpPr>
        <p:spPr>
          <a:xfrm>
            <a:off x="6172320" y="5181480"/>
            <a:ext cx="304560" cy="22860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180</a:t>
            </a:r>
            <a:endParaRPr b="0" lang="en-US" sz="1600" spc="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39" name="design9039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5355A"/>
            </a:gs>
            <a:gs pos="100000">
              <a:srgbClr val="091626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0" name="design9040"/>
          <p:cNvSpPr txBox="1"/>
          <p:nvPr/>
        </p:nvSpPr>
        <p:spPr>
          <a:xfrm>
            <a:off x="960120" y="2148840"/>
            <a:ext cx="10241280" cy="1920240"/>
          </a:xfrm>
          <a:prstGeom prst="rect">
            <a:avLst/>
          </a:prstGeom>
          <a:noFill/>
        </p:spPr>
        <p:txBody>
          <a:bodyPr anchor="ctr" lIns="0" rIns="0" tIns="0" bIns="0" wrap="square"/>
          <a:lstStyle/>
          <a:p>
            <a:pPr algn="l">
              <a:buNone/>
            </a:pP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HOLDING PROCEDURE</a:t>
            </a:r>
          </a:p>
        </p:txBody>
      </p:sp>
      <p:sp>
        <p:nvSpPr>
          <p:cNvPr id="9041" name="design9041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7E93A8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</p:spTree>
  </p:cSld>
  <p:transition>
    <p:wipe dir="d"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Picture 5" descr="Radar Operator"/>
          <p:cNvPicPr/>
          <p:nvPr/>
        </p:nvPicPr>
        <p:blipFill>
          <a:blip r:embed="rId2"/>
          <a:stretch/>
        </p:blipFill>
        <p:spPr>
          <a:xfrm>
            <a:off x="2856000" y="0"/>
            <a:ext cx="6238800" cy="6858000"/>
          </a:xfrm>
          <a:prstGeom prst="rect">
            <a:avLst/>
          </a:prstGeom>
          <a:ln w="28440">
            <a:solidFill>
              <a:srgbClr val="10263F"/>
            </a:solidFill>
            <a:miter/>
          </a:ln>
        </p:spPr>
      </p:pic>
      <p:sp>
        <p:nvSpPr>
          <p:cNvPr id="183" name="Rectangle 7"/>
          <p:cNvSpPr/>
          <p:nvPr/>
        </p:nvSpPr>
        <p:spPr>
          <a:xfrm>
            <a:off x="6527640" y="333360"/>
            <a:ext cx="2521080" cy="1727280"/>
          </a:xfrm>
          <a:prstGeom prst="rect">
            <a:avLst/>
          </a:prstGeom>
          <a:solidFill>
            <a:srgbClr val="EDF1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4" name="AutoShape 6"/>
          <p:cNvSpPr/>
          <p:nvPr/>
        </p:nvSpPr>
        <p:spPr>
          <a:xfrm rot="429000">
            <a:off x="6102480" y="0"/>
            <a:ext cx="3019320" cy="2286000"/>
          </a:xfrm>
          <a:prstGeom prst="cloudCallout">
            <a:avLst>
              <a:gd name="adj1" fmla="val -4597"/>
              <a:gd name="adj2" fmla="val 58384"/>
            </a:avLst>
          </a:prstGeom>
          <a:solidFill>
            <a:srgbClr val="EDF1F5"/>
          </a:solidFill>
          <a:ln w="936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5" name="Rectangle 9"/>
          <p:cNvSpPr/>
          <p:nvPr/>
        </p:nvSpPr>
        <p:spPr>
          <a:xfrm>
            <a:off x="6599280" y="307800"/>
            <a:ext cx="259236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MJN </a:t>
            </a:r>
            <a:r>
              <a:rPr b="1" lang="en-US" sz="1800" spc="-1" strike="noStrike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572</a:t>
            </a:r>
            <a:r>
              <a:rPr b="1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STOP TURNING TAKE HEADING </a:t>
            </a:r>
            <a:r>
              <a:rPr b="1" lang="en-US" sz="1800" spc="-1" strike="noStrike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060 </a:t>
            </a:r>
            <a:r>
              <a:rPr b="1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DEG. REPORT ESTABLISHED</a:t>
            </a: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42" name="design9042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WordArt 3"/>
          <p:cNvSpPr txBox="1"/>
          <p:nvPr/>
        </p:nvSpPr>
        <p:spPr>
          <a:xfrm>
            <a:off x="960120" y="2148840"/>
            <a:ext cx="10241280" cy="192024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4000" spc="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HOLDING   PROCEDURE</a:t>
            </a:r>
            <a:endParaRPr b="1" lang="en-US" sz="4000" spc="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87" name="Text Box 15"/>
          <p:cNvSpPr/>
          <p:nvPr/>
        </p:nvSpPr>
        <p:spPr>
          <a:xfrm rot="19726200">
            <a:off x="6796200" y="5316120"/>
            <a:ext cx="1839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43" name="design9043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</p:spTree>
  </p:cSld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9"/>
          <p:cNvSpPr/>
          <p:nvPr/>
        </p:nvSpPr>
        <p:spPr>
          <a:xfrm>
            <a:off x="3648000" y="620640"/>
            <a:ext cx="4680000" cy="1150920"/>
          </a:xfrm>
          <a:prstGeom prst="rect">
            <a:avLst/>
          </a:prstGeom>
          <a:solidFill>
            <a:srgbClr val="F4E4C6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9" name="Rectangle 4"/>
          <p:cNvSpPr/>
          <p:nvPr/>
        </p:nvSpPr>
        <p:spPr>
          <a:xfrm>
            <a:off x="2209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norm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B3261E"/>
              </a:buClr>
              <a:buSzPct val="9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TO RECOGNIZE THE 3 TYPES OF HOLDING PATTERN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B3261E"/>
              </a:buClr>
              <a:buSzPct val="9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TO UNDERSTAND THE PROCEDURES TO BE USED WHEN HOLDING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B3261E"/>
              </a:buClr>
              <a:buSzPct val="9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TO UNDERSTAND THE 3 TYPES OF ENTRY INTO A HOLDING PATTERN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B3261E"/>
              </a:buClr>
              <a:buSzPct val="9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TO BE ABLE TO CALCULATE A MINIMUM HOLDING LEVEL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B3261E"/>
              </a:buClr>
              <a:buSzPct val="9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TO KNOW YOUR AIRCRAFT’S HOLDING SPEED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B3261E"/>
              </a:buClr>
              <a:buSzPct val="9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0" name="WordArt 7"/>
          <p:cNvSpPr txBox="1"/>
          <p:nvPr/>
        </p:nvSpPr>
        <p:spPr>
          <a:xfrm>
            <a:off x="4151280" y="765000"/>
            <a:ext cx="3745080" cy="792360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000" spc="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objectives</a:t>
            </a:r>
            <a:endParaRPr b="1" lang="en-US" sz="2000" spc="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9044" name="design9044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 fill="hold"/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" dur="1000"/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nodeType="clickEffect" fill="hold">
                      <p:stCondLst>
                        <p:cond delay="indefinite"/>
                      </p:stCondLst>
                      <p:childTnLst>
                        <p:par>
                          <p:cTn id="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" dur="1000" fill="hold"/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" dur="1000" fill="hold"/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6" dur="1000"/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nodeType="clickEffect" fill="hold">
                      <p:stCondLst>
                        <p:cond delay="indefinite"/>
                      </p:stCondLst>
                      <p:childTnLst>
                        <p:par>
                          <p:cTn id="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" dur="1000" fill="hold"/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" dur="1000" fill="hold"/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3" dur="1000"/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nodeType="clickEffect" fill="hold">
                      <p:stCondLst>
                        <p:cond delay="indefinite"/>
                      </p:stCondLst>
                      <p:childTnLst>
                        <p:par>
                          <p:cTn id="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" dur="1000" fill="hold"/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" dur="1000" fill="hold"/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0" dur="1000"/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nodeType="clickEffect" fill="hold">
                      <p:stCondLst>
                        <p:cond delay="indefinite"/>
                      </p:stCondLst>
                      <p:childTnLst>
                        <p:par>
                          <p:cTn id="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" dur="1000" fill="hold"/>
                                        <p:tgtEl>
                                          <p:spTgt spid="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" dur="1000" fill="hold"/>
                                        <p:tgtEl>
                                          <p:spTgt spid="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7" dur="1000"/>
                                        <p:tgtEl>
                                          <p:spTgt spid="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 Box 4"/>
          <p:cNvSpPr/>
          <p:nvPr/>
        </p:nvSpPr>
        <p:spPr>
          <a:xfrm>
            <a:off x="1630200" y="2879640"/>
            <a:ext cx="8929800" cy="15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l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HOLDING PROCEDURE ORIENTATE THE A/C ON THE CORRECT HEADING TO FLY THE APPROACH PROCEDURE AND ALLOW ATC TO SEQUENCE SEVERAL A/C INTO THE APPROACH PATTERN.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2" name="WordArt 13"/>
          <p:cNvSpPr txBox="1"/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HOLDING</a:t>
            </a:r>
            <a:endParaRPr b="1" lang="en-US" sz="2600" spc="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9045" name="design9045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30"/>
          <p:cNvSpPr/>
          <p:nvPr/>
        </p:nvSpPr>
        <p:spPr>
          <a:xfrm>
            <a:off x="2063640" y="2060640"/>
            <a:ext cx="7201080" cy="2736720"/>
          </a:xfrm>
          <a:prstGeom prst="rect">
            <a:avLst/>
          </a:prstGeom>
          <a:solidFill>
            <a:srgbClr val="EDF1F5"/>
          </a:solidFill>
          <a:ln w="936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4" name="WordArt 3"/>
          <p:cNvSpPr txBox="1"/>
          <p:nvPr/>
        </p:nvSpPr>
        <p:spPr>
          <a:xfrm>
            <a:off x="2487720" y="260280"/>
            <a:ext cx="6777000" cy="1008000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000" spc="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HOLDING PROCEDURES</a:t>
            </a:r>
            <a:endParaRPr b="1" lang="en-US" sz="2000" spc="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95" name="AutoShape 6"/>
          <p:cNvSpPr/>
          <p:nvPr/>
        </p:nvSpPr>
        <p:spPr>
          <a:xfrm>
            <a:off x="9625080" y="620640"/>
            <a:ext cx="503280" cy="504720"/>
          </a:xfrm>
          <a:custGeom>
            <a:avLst/>
            <a:gdLst/>
            <a:ahLst/>
            <a:rect l="l" t="t" r="r" b="b"/>
            <a:pathLst>
              <a:path w="503237" h="504825">
                <a:moveTo>
                  <a:pt x="1" y="192826"/>
                </a:moveTo>
                <a:lnTo>
                  <a:pt x="192220" y="192827"/>
                </a:lnTo>
                <a:lnTo>
                  <a:pt x="251619" y="0"/>
                </a:lnTo>
                <a:lnTo>
                  <a:pt x="311017" y="192827"/>
                </a:lnTo>
                <a:lnTo>
                  <a:pt x="503236" y="192826"/>
                </a:lnTo>
                <a:lnTo>
                  <a:pt x="347726" y="311998"/>
                </a:lnTo>
                <a:lnTo>
                  <a:pt x="407127" y="504824"/>
                </a:lnTo>
                <a:lnTo>
                  <a:pt x="251619" y="385649"/>
                </a:lnTo>
                <a:lnTo>
                  <a:pt x="96110" y="504824"/>
                </a:lnTo>
                <a:lnTo>
                  <a:pt x="155511" y="311998"/>
                </a:lnTo>
                <a:lnTo>
                  <a:pt x="1" y="192826"/>
                </a:lnTo>
                <a:close/>
              </a:path>
            </a:pathLst>
          </a:custGeom>
          <a:solidFill>
            <a:srgbClr val="F4E4C6"/>
          </a:solidFill>
          <a:ln w="5724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" name="AutoShape 7"/>
          <p:cNvSpPr/>
          <p:nvPr/>
        </p:nvSpPr>
        <p:spPr>
          <a:xfrm>
            <a:off x="9841080" y="836640"/>
            <a:ext cx="502920" cy="504720"/>
          </a:xfrm>
          <a:custGeom>
            <a:avLst/>
            <a:gdLst/>
            <a:ahLst/>
            <a:rect l="l" t="t" r="r" b="b"/>
            <a:pathLst>
              <a:path w="503237" h="504825">
                <a:moveTo>
                  <a:pt x="1" y="192826"/>
                </a:moveTo>
                <a:lnTo>
                  <a:pt x="192220" y="192827"/>
                </a:lnTo>
                <a:lnTo>
                  <a:pt x="251619" y="0"/>
                </a:lnTo>
                <a:lnTo>
                  <a:pt x="311017" y="192827"/>
                </a:lnTo>
                <a:lnTo>
                  <a:pt x="503236" y="192826"/>
                </a:lnTo>
                <a:lnTo>
                  <a:pt x="347726" y="311998"/>
                </a:lnTo>
                <a:lnTo>
                  <a:pt x="407127" y="504824"/>
                </a:lnTo>
                <a:lnTo>
                  <a:pt x="251619" y="385649"/>
                </a:lnTo>
                <a:lnTo>
                  <a:pt x="96110" y="504824"/>
                </a:lnTo>
                <a:lnTo>
                  <a:pt x="155511" y="311998"/>
                </a:lnTo>
                <a:lnTo>
                  <a:pt x="1" y="192826"/>
                </a:lnTo>
                <a:close/>
              </a:path>
            </a:pathLst>
          </a:custGeom>
          <a:solidFill>
            <a:srgbClr val="F4E4C6"/>
          </a:solidFill>
          <a:ln w="5724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7" name="AutoShape 8"/>
          <p:cNvSpPr/>
          <p:nvPr/>
        </p:nvSpPr>
        <p:spPr>
          <a:xfrm>
            <a:off x="10056720" y="1052640"/>
            <a:ext cx="503280" cy="504720"/>
          </a:xfrm>
          <a:custGeom>
            <a:avLst/>
            <a:gdLst/>
            <a:ahLst/>
            <a:rect l="l" t="t" r="r" b="b"/>
            <a:pathLst>
              <a:path w="503237" h="504825">
                <a:moveTo>
                  <a:pt x="1" y="192826"/>
                </a:moveTo>
                <a:lnTo>
                  <a:pt x="192220" y="192827"/>
                </a:lnTo>
                <a:lnTo>
                  <a:pt x="251619" y="0"/>
                </a:lnTo>
                <a:lnTo>
                  <a:pt x="311017" y="192827"/>
                </a:lnTo>
                <a:lnTo>
                  <a:pt x="503236" y="192826"/>
                </a:lnTo>
                <a:lnTo>
                  <a:pt x="347726" y="311998"/>
                </a:lnTo>
                <a:lnTo>
                  <a:pt x="407127" y="504824"/>
                </a:lnTo>
                <a:lnTo>
                  <a:pt x="251619" y="385649"/>
                </a:lnTo>
                <a:lnTo>
                  <a:pt x="96110" y="504824"/>
                </a:lnTo>
                <a:lnTo>
                  <a:pt x="155511" y="311998"/>
                </a:lnTo>
                <a:lnTo>
                  <a:pt x="1" y="192826"/>
                </a:lnTo>
                <a:close/>
              </a:path>
            </a:pathLst>
          </a:custGeom>
          <a:solidFill>
            <a:srgbClr val="F4E4C6"/>
          </a:solidFill>
          <a:ln w="5724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8" name="Arc 9"/>
          <p:cNvSpPr/>
          <p:nvPr/>
        </p:nvSpPr>
        <p:spPr>
          <a:xfrm rot="10851000">
            <a:off x="2920800" y="3924360"/>
            <a:ext cx="914400" cy="914400"/>
          </a:xfrm>
          <a:custGeom>
            <a:avLst/>
            <a:gdLst>
              <a:gd name="textAreaLeft" fmla="*/ 0 w 914400"/>
              <a:gd name="textAreaRight" fmla="*/ 914760 w 914400"/>
              <a:gd name="textAreaTop" fmla="*/ 0 h 914400"/>
              <a:gd name="textAreaBottom" fmla="*/ 914760 h 914400"/>
            </a:gdLst>
            <a:ahLst/>
            <a:rect l="textAreaLeft" t="textAreaTop" r="textAreaRight" b="textAreaBottom"/>
            <a:pathLst>
              <a:path fill="none" w="21600" h="21600">
                <a:moveTo>
                  <a:pt x="23" y="0"/>
                </a:moveTo>
                <a:cubicBezTo>
                  <a:pt x="11935" y="13"/>
                  <a:pt x="21588" y="9667"/>
                  <a:pt x="21599" y="21579"/>
                </a:cubicBezTo>
              </a:path>
              <a:path stroke="0" w="21600" h="21600">
                <a:moveTo>
                  <a:pt x="23" y="0"/>
                </a:moveTo>
                <a:cubicBezTo>
                  <a:pt x="11935" y="13"/>
                  <a:pt x="21588" y="9667"/>
                  <a:pt x="21599" y="21579"/>
                </a:cubicBezTo>
                <a:lnTo>
                  <a:pt x="0" y="21600"/>
                </a:lnTo>
                <a:lnTo>
                  <a:pt x="23" y="0"/>
                </a:lnTo>
                <a:close/>
              </a:path>
            </a:pathLst>
          </a:custGeom>
          <a:noFill/>
          <a:ln w="57240">
            <a:solidFill>
              <a:srgbClr val="1026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9" name="Arc 10"/>
          <p:cNvSpPr/>
          <p:nvPr/>
        </p:nvSpPr>
        <p:spPr>
          <a:xfrm rot="5298600">
            <a:off x="5511000" y="3924720"/>
            <a:ext cx="914400" cy="912960"/>
          </a:xfrm>
          <a:custGeom>
            <a:avLst/>
            <a:gdLst>
              <a:gd name="textAreaLeft" fmla="*/ 0 w 914400"/>
              <a:gd name="textAreaRight" fmla="*/ 914760 w 914400"/>
              <a:gd name="textAreaTop" fmla="*/ 0 h 912960"/>
              <a:gd name="textAreaBottom" fmla="*/ 913320 h 912960"/>
            </a:gdLst>
            <a:ahLst/>
            <a:rect l="textAreaLeft" t="textAreaTop" r="textAreaRight" b="textAreaBottom"/>
            <a:pathLst>
              <a:path fill="none" w="21600" h="21567">
                <a:moveTo>
                  <a:pt x="1201" y="0"/>
                </a:moveTo>
                <a:cubicBezTo>
                  <a:pt x="12646" y="638"/>
                  <a:pt x="21600" y="10104"/>
                  <a:pt x="21600" y="21567"/>
                </a:cubicBezTo>
              </a:path>
              <a:path stroke="0" w="21600" h="21567">
                <a:moveTo>
                  <a:pt x="1201" y="0"/>
                </a:moveTo>
                <a:cubicBezTo>
                  <a:pt x="12646" y="638"/>
                  <a:pt x="21600" y="10104"/>
                  <a:pt x="21600" y="21567"/>
                </a:cubicBezTo>
                <a:lnTo>
                  <a:pt x="0" y="21567"/>
                </a:lnTo>
                <a:lnTo>
                  <a:pt x="1201" y="0"/>
                </a:lnTo>
                <a:close/>
              </a:path>
            </a:pathLst>
          </a:custGeom>
          <a:noFill/>
          <a:ln w="57240">
            <a:solidFill>
              <a:srgbClr val="1026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0" name="Arc 11"/>
          <p:cNvSpPr/>
          <p:nvPr/>
        </p:nvSpPr>
        <p:spPr>
          <a:xfrm>
            <a:off x="5511720" y="2933640"/>
            <a:ext cx="914400" cy="1106640"/>
          </a:xfrm>
          <a:custGeom>
            <a:avLst/>
            <a:gdLst>
              <a:gd name="textAreaLeft" fmla="*/ 0 w 914400"/>
              <a:gd name="textAreaRight" fmla="*/ 914760 w 914400"/>
              <a:gd name="textAreaTop" fmla="*/ 0 h 1106640"/>
              <a:gd name="textAreaBottom" fmla="*/ 1107000 h 1106640"/>
            </a:gdLst>
            <a:ahLst/>
            <a:rect l="textAreaLeft" t="textAreaTop" r="textAreaRight" b="textAreaBottom"/>
            <a:pathLst>
              <a:path fill="none" w="21600" h="26121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3119"/>
                  <a:pt x="21439" y="24634"/>
                  <a:pt x="21121" y="26120"/>
                </a:cubicBezTo>
              </a:path>
              <a:path stroke="0" w="21600" h="26121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3119"/>
                  <a:pt x="21439" y="24634"/>
                  <a:pt x="21121" y="2612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57240">
            <a:solidFill>
              <a:srgbClr val="1026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1" name="Line 12"/>
          <p:cNvSpPr/>
          <p:nvPr/>
        </p:nvSpPr>
        <p:spPr>
          <a:xfrm>
            <a:off x="3835560" y="2933640"/>
            <a:ext cx="1752480" cy="0"/>
          </a:xfrm>
          <a:prstGeom prst="line">
            <a:avLst/>
          </a:prstGeom>
          <a:ln w="5724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2" name="Line 13"/>
          <p:cNvSpPr/>
          <p:nvPr/>
        </p:nvSpPr>
        <p:spPr>
          <a:xfrm>
            <a:off x="2006760" y="4838760"/>
            <a:ext cx="7391160" cy="0"/>
          </a:xfrm>
          <a:prstGeom prst="line">
            <a:avLst/>
          </a:prstGeom>
          <a:ln w="5724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" name="AutoShape 14"/>
          <p:cNvSpPr/>
          <p:nvPr/>
        </p:nvSpPr>
        <p:spPr>
          <a:xfrm>
            <a:off x="3530640" y="4610160"/>
            <a:ext cx="380880" cy="380880"/>
          </a:xfrm>
          <a:prstGeom prst="sun">
            <a:avLst>
              <a:gd name="adj" fmla="val 25000"/>
            </a:avLst>
          </a:prstGeom>
          <a:solidFill>
            <a:srgbClr val="B3261E"/>
          </a:solidFill>
          <a:ln w="5724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4" name="Text Box 16"/>
          <p:cNvSpPr/>
          <p:nvPr/>
        </p:nvSpPr>
        <p:spPr>
          <a:xfrm>
            <a:off x="7800600" y="4320000"/>
            <a:ext cx="24408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9A6510"/>
                </a:solidFill>
                <a:latin typeface="Calibri"/>
                <a:ea typeface="Calibri"/>
                <a:cs typeface="Calibri"/>
              </a:rPr>
              <a:t>HOLDING SIDE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5" name="Line 18"/>
          <p:cNvSpPr/>
          <p:nvPr/>
        </p:nvSpPr>
        <p:spPr>
          <a:xfrm flipV="1">
            <a:off x="9093360" y="4078440"/>
            <a:ext cx="0" cy="304560"/>
          </a:xfrm>
          <a:prstGeom prst="line">
            <a:avLst/>
          </a:prstGeom>
          <a:ln w="57240">
            <a:solidFill>
              <a:srgbClr val="10263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6" name="Line 19"/>
          <p:cNvSpPr/>
          <p:nvPr/>
        </p:nvSpPr>
        <p:spPr>
          <a:xfrm>
            <a:off x="9397920" y="5284800"/>
            <a:ext cx="0" cy="304920"/>
          </a:xfrm>
          <a:prstGeom prst="line">
            <a:avLst/>
          </a:prstGeom>
          <a:ln w="57240">
            <a:solidFill>
              <a:srgbClr val="10263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7" name="Text Box 20"/>
          <p:cNvSpPr/>
          <p:nvPr/>
        </p:nvSpPr>
        <p:spPr>
          <a:xfrm>
            <a:off x="3650520" y="2491200"/>
            <a:ext cx="19411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9A6510"/>
                </a:solidFill>
                <a:latin typeface="Calibri"/>
                <a:ea typeface="Calibri"/>
                <a:cs typeface="Calibri"/>
              </a:rPr>
              <a:t>OUTBOUND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8" name="Line 21"/>
          <p:cNvSpPr/>
          <p:nvPr/>
        </p:nvSpPr>
        <p:spPr>
          <a:xfrm>
            <a:off x="5575440" y="2781360"/>
            <a:ext cx="304560" cy="0"/>
          </a:xfrm>
          <a:prstGeom prst="line">
            <a:avLst/>
          </a:prstGeom>
          <a:ln w="57240">
            <a:solidFill>
              <a:srgbClr val="B3261E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-46800" bIns="-46800" anchor="ctr" wrap="none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9" name="Text Box 22"/>
          <p:cNvSpPr/>
          <p:nvPr/>
        </p:nvSpPr>
        <p:spPr>
          <a:xfrm>
            <a:off x="4400400" y="4364640"/>
            <a:ext cx="1619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INBOUND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0" name="Line 23"/>
          <p:cNvSpPr/>
          <p:nvPr/>
        </p:nvSpPr>
        <p:spPr>
          <a:xfrm flipH="1">
            <a:off x="4006920" y="4581360"/>
            <a:ext cx="304560" cy="0"/>
          </a:xfrm>
          <a:prstGeom prst="line">
            <a:avLst/>
          </a:prstGeom>
          <a:ln w="57240">
            <a:solidFill>
              <a:srgbClr val="B3261E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-46800" bIns="-46800" anchor="ctr" wrap="none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1" name="Line 26"/>
          <p:cNvSpPr/>
          <p:nvPr/>
        </p:nvSpPr>
        <p:spPr>
          <a:xfrm flipV="1">
            <a:off x="3225720" y="4990680"/>
            <a:ext cx="304920" cy="228600"/>
          </a:xfrm>
          <a:prstGeom prst="line">
            <a:avLst/>
          </a:prstGeom>
          <a:ln w="57240">
            <a:solidFill>
              <a:srgbClr val="10263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2" name="AutoShape 27"/>
          <p:cNvSpPr/>
          <p:nvPr/>
        </p:nvSpPr>
        <p:spPr>
          <a:xfrm rot="16200000">
            <a:off x="2578080" y="3809880"/>
            <a:ext cx="304560" cy="228600"/>
          </a:xfrm>
          <a:custGeom>
            <a:avLst/>
            <a:gdLst>
              <a:gd name="textAreaLeft" fmla="*/ 47520 w 304560"/>
              <a:gd name="textAreaRight" fmla="*/ 266760 w 304560"/>
              <a:gd name="textAreaTop" fmla="*/ 57240 h 228600"/>
              <a:gd name="textAreaBottom" fmla="*/ 171720 h 22860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EDF1F5"/>
          </a:solidFill>
          <a:ln w="5724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" name="Rectangle 38"/>
          <p:cNvSpPr/>
          <p:nvPr/>
        </p:nvSpPr>
        <p:spPr>
          <a:xfrm>
            <a:off x="2063640" y="4869000"/>
            <a:ext cx="7201080" cy="1989000"/>
          </a:xfrm>
          <a:prstGeom prst="rect">
            <a:avLst/>
          </a:prstGeom>
          <a:solidFill>
            <a:srgbClr val="EDF1F5"/>
          </a:solidFill>
          <a:ln w="936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4" name="AutoShape 28"/>
          <p:cNvSpPr/>
          <p:nvPr/>
        </p:nvSpPr>
        <p:spPr>
          <a:xfrm rot="5430600">
            <a:off x="6387600" y="3733920"/>
            <a:ext cx="304920" cy="228600"/>
          </a:xfrm>
          <a:custGeom>
            <a:avLst/>
            <a:gdLst>
              <a:gd name="textAreaLeft" fmla="*/ 47520 w 304920"/>
              <a:gd name="textAreaRight" fmla="*/ 267120 w 304920"/>
              <a:gd name="textAreaTop" fmla="*/ 57240 h 228600"/>
              <a:gd name="textAreaBottom" fmla="*/ 171720 h 22860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EDF1F5"/>
          </a:solidFill>
          <a:ln w="5724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5" name="Arc 29"/>
          <p:cNvSpPr/>
          <p:nvPr/>
        </p:nvSpPr>
        <p:spPr>
          <a:xfrm rot="16200000">
            <a:off x="2870040" y="2982960"/>
            <a:ext cx="1028880" cy="914400"/>
          </a:xfrm>
          <a:custGeom>
            <a:avLst/>
            <a:gdLst>
              <a:gd name="textAreaLeft" fmla="*/ 0 w 1028880"/>
              <a:gd name="textAreaRight" fmla="*/ 1029240 w 1028880"/>
              <a:gd name="textAreaTop" fmla="*/ 0 h 914400"/>
              <a:gd name="textAreaBottom" fmla="*/ 914760 h 914400"/>
            </a:gdLst>
            <a:ahLst/>
            <a:rect l="textAreaLeft" t="textAreaTop" r="textAreaRight" b="textAreaBottom"/>
            <a:pathLst>
              <a:path fill="none" w="24298" h="21600">
                <a:moveTo>
                  <a:pt x="0" y="169"/>
                </a:moveTo>
                <a:cubicBezTo>
                  <a:pt x="894" y="56"/>
                  <a:pt x="1796" y="-1"/>
                  <a:pt x="2698" y="0"/>
                </a:cubicBezTo>
                <a:cubicBezTo>
                  <a:pt x="14627" y="0"/>
                  <a:pt x="24298" y="9670"/>
                  <a:pt x="24298" y="21600"/>
                </a:cubicBezTo>
              </a:path>
              <a:path stroke="0" w="24298" h="21600">
                <a:moveTo>
                  <a:pt x="0" y="169"/>
                </a:moveTo>
                <a:cubicBezTo>
                  <a:pt x="894" y="56"/>
                  <a:pt x="1796" y="-1"/>
                  <a:pt x="2698" y="0"/>
                </a:cubicBezTo>
                <a:cubicBezTo>
                  <a:pt x="14627" y="0"/>
                  <a:pt x="24298" y="9670"/>
                  <a:pt x="24298" y="21600"/>
                </a:cubicBezTo>
                <a:lnTo>
                  <a:pt x="2698" y="21600"/>
                </a:lnTo>
                <a:lnTo>
                  <a:pt x="0" y="169"/>
                </a:lnTo>
                <a:close/>
              </a:path>
            </a:pathLst>
          </a:custGeom>
          <a:noFill/>
          <a:ln w="57240">
            <a:solidFill>
              <a:srgbClr val="1026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6" name="Text Box 17"/>
          <p:cNvSpPr/>
          <p:nvPr/>
        </p:nvSpPr>
        <p:spPr>
          <a:xfrm>
            <a:off x="7175640" y="4988520"/>
            <a:ext cx="36734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NON-HOLDING SIDE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7" name="Text Box 25"/>
          <p:cNvSpPr/>
          <p:nvPr/>
        </p:nvSpPr>
        <p:spPr>
          <a:xfrm>
            <a:off x="1921080" y="5309280"/>
            <a:ext cx="22550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9A6510"/>
                </a:solidFill>
                <a:latin typeface="Calibri"/>
                <a:ea typeface="Calibri"/>
                <a:cs typeface="Calibri"/>
              </a:rPr>
              <a:t>HOLDING FIX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46" name="design9046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</p:spTree>
  </p:cSld>
  <p:transition>
    <p:dissolve/>
  </p:transition>
  <p:timing>
    <p:tnLst>
      <p:par>
        <p:cTn id="38" dur="indefinite" restart="never" nodeType="tmRoot">
          <p:childTnLst>
            <p:seq>
              <p:cTn id="39" dur="indefinite" nodeType="mainSeq">
                <p:childTnLst>
                  <p:par>
                    <p:cTn id="40" nodeType="clickEffect" fill="hold">
                      <p:stCondLst>
                        <p:cond delay="indefinite"/>
                      </p:stCondLst>
                      <p:childTnLst>
                        <p:par>
                          <p:cTn id="4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44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4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0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3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9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5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8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71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74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77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80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83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86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89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9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9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98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nodeType="clickEffect" fill="hold">
                      <p:stCondLst>
                        <p:cond delay="indefinite"/>
                      </p:stCondLst>
                      <p:childTnLst>
                        <p:par>
                          <p:cTn id="1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2" dur="2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104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5" dur="2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107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8" dur="2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nodeType="clickEffect" fill="hold">
                      <p:stCondLst>
                        <p:cond delay="indefinite"/>
                      </p:stCondLst>
                      <p:childTnLst>
                        <p:par>
                          <p:cTn id="1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13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nodeType="clickEffect" fill="hold">
                      <p:stCondLst>
                        <p:cond delay="indefinite"/>
                      </p:stCondLst>
                      <p:childTnLst>
                        <p:par>
                          <p:cTn id="1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6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20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angle 10"/>
          <p:cNvSpPr/>
          <p:nvPr/>
        </p:nvSpPr>
        <p:spPr>
          <a:xfrm>
            <a:off x="1813080" y="2708280"/>
            <a:ext cx="8459640" cy="244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 algn="l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00000"/>
              </a:lnSpc>
              <a:spcBef>
                <a:spcPts val="601"/>
              </a:spcBef>
              <a:buClr>
                <a:srgbClr val="B3261E"/>
              </a:buClr>
              <a:buSzPct val="7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HOLDING OVERHEAD A BEACON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00000"/>
              </a:lnSpc>
              <a:spcBef>
                <a:spcPts val="601"/>
              </a:spcBef>
              <a:buClr>
                <a:srgbClr val="B3261E"/>
              </a:buClr>
              <a:buSzPct val="7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00000"/>
              </a:lnSpc>
              <a:spcBef>
                <a:spcPts val="601"/>
              </a:spcBef>
              <a:buClr>
                <a:srgbClr val="B3261E"/>
              </a:buClr>
              <a:buSzPct val="7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VOR/DME</a:t>
            </a: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- HOLDING TOWARDS THE BEACON.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00000"/>
              </a:lnSpc>
              <a:spcBef>
                <a:spcPts val="601"/>
              </a:spcBef>
              <a:buClr>
                <a:srgbClr val="B3261E"/>
              </a:buClr>
              <a:buSzPct val="7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00000"/>
              </a:lnSpc>
              <a:spcBef>
                <a:spcPts val="601"/>
              </a:spcBef>
              <a:buClr>
                <a:srgbClr val="B3261E"/>
              </a:buClr>
              <a:buSzPct val="7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VOR/DME</a:t>
            </a: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- HOLDING AWAY FROM THE BEACON.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9" name="WordArt 11"/>
          <p:cNvSpPr txBox="1"/>
          <p:nvPr/>
        </p:nvSpPr>
        <p:spPr>
          <a:xfrm>
            <a:off x="2487720" y="260280"/>
            <a:ext cx="6777000" cy="1008000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000" spc="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HOLDING PROCEDURES</a:t>
            </a:r>
            <a:endParaRPr b="1" lang="en-US" sz="2000" spc="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20" name="Text Box 12"/>
          <p:cNvSpPr/>
          <p:nvPr/>
        </p:nvSpPr>
        <p:spPr>
          <a:xfrm>
            <a:off x="2281080" y="2060640"/>
            <a:ext cx="712800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pc="-1" strike="noStrike">
                <a:solidFill>
                  <a:srgbClr val="9A6510"/>
                </a:solidFill>
                <a:latin typeface="Calibri"/>
                <a:ea typeface="Calibri"/>
                <a:cs typeface="Calibri"/>
              </a:rPr>
              <a:t>TYPES OF HOLDING PATTERN</a:t>
            </a:r>
            <a:endParaRPr b="0" lang="en-US" sz="3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AutoShape 14"/>
          <p:cNvSpPr/>
          <p:nvPr/>
        </p:nvSpPr>
        <p:spPr>
          <a:xfrm>
            <a:off x="9625080" y="620640"/>
            <a:ext cx="503280" cy="504720"/>
          </a:xfrm>
          <a:custGeom>
            <a:avLst/>
            <a:gdLst/>
            <a:ahLst/>
            <a:rect l="l" t="t" r="r" b="b"/>
            <a:pathLst>
              <a:path w="503237" h="504825">
                <a:moveTo>
                  <a:pt x="1" y="192826"/>
                </a:moveTo>
                <a:lnTo>
                  <a:pt x="192220" y="192827"/>
                </a:lnTo>
                <a:lnTo>
                  <a:pt x="251619" y="0"/>
                </a:lnTo>
                <a:lnTo>
                  <a:pt x="311017" y="192827"/>
                </a:lnTo>
                <a:lnTo>
                  <a:pt x="503236" y="192826"/>
                </a:lnTo>
                <a:lnTo>
                  <a:pt x="347726" y="311998"/>
                </a:lnTo>
                <a:lnTo>
                  <a:pt x="407127" y="504824"/>
                </a:lnTo>
                <a:lnTo>
                  <a:pt x="251619" y="385649"/>
                </a:lnTo>
                <a:lnTo>
                  <a:pt x="96110" y="504824"/>
                </a:lnTo>
                <a:lnTo>
                  <a:pt x="155511" y="311998"/>
                </a:lnTo>
                <a:lnTo>
                  <a:pt x="1" y="192826"/>
                </a:lnTo>
                <a:close/>
              </a:path>
            </a:pathLst>
          </a:custGeom>
          <a:solidFill>
            <a:srgbClr val="F4E4C6"/>
          </a:solidFill>
          <a:ln w="936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2" name="AutoShape 15"/>
          <p:cNvSpPr/>
          <p:nvPr/>
        </p:nvSpPr>
        <p:spPr>
          <a:xfrm>
            <a:off x="9841080" y="836640"/>
            <a:ext cx="502920" cy="504720"/>
          </a:xfrm>
          <a:custGeom>
            <a:avLst/>
            <a:gdLst/>
            <a:ahLst/>
            <a:rect l="l" t="t" r="r" b="b"/>
            <a:pathLst>
              <a:path w="503237" h="504825">
                <a:moveTo>
                  <a:pt x="1" y="192826"/>
                </a:moveTo>
                <a:lnTo>
                  <a:pt x="192220" y="192827"/>
                </a:lnTo>
                <a:lnTo>
                  <a:pt x="251619" y="0"/>
                </a:lnTo>
                <a:lnTo>
                  <a:pt x="311017" y="192827"/>
                </a:lnTo>
                <a:lnTo>
                  <a:pt x="503236" y="192826"/>
                </a:lnTo>
                <a:lnTo>
                  <a:pt x="347726" y="311998"/>
                </a:lnTo>
                <a:lnTo>
                  <a:pt x="407127" y="504824"/>
                </a:lnTo>
                <a:lnTo>
                  <a:pt x="251619" y="385649"/>
                </a:lnTo>
                <a:lnTo>
                  <a:pt x="96110" y="504824"/>
                </a:lnTo>
                <a:lnTo>
                  <a:pt x="155511" y="311998"/>
                </a:lnTo>
                <a:lnTo>
                  <a:pt x="1" y="192826"/>
                </a:lnTo>
                <a:close/>
              </a:path>
            </a:pathLst>
          </a:custGeom>
          <a:solidFill>
            <a:srgbClr val="F4E4C6"/>
          </a:solidFill>
          <a:ln w="936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AutoShape 16"/>
          <p:cNvSpPr/>
          <p:nvPr/>
        </p:nvSpPr>
        <p:spPr>
          <a:xfrm>
            <a:off x="10056720" y="1052640"/>
            <a:ext cx="503280" cy="504720"/>
          </a:xfrm>
          <a:custGeom>
            <a:avLst/>
            <a:gdLst/>
            <a:ahLst/>
            <a:rect l="l" t="t" r="r" b="b"/>
            <a:pathLst>
              <a:path w="503237" h="504825">
                <a:moveTo>
                  <a:pt x="1" y="192826"/>
                </a:moveTo>
                <a:lnTo>
                  <a:pt x="192220" y="192827"/>
                </a:lnTo>
                <a:lnTo>
                  <a:pt x="251619" y="0"/>
                </a:lnTo>
                <a:lnTo>
                  <a:pt x="311017" y="192827"/>
                </a:lnTo>
                <a:lnTo>
                  <a:pt x="503236" y="192826"/>
                </a:lnTo>
                <a:lnTo>
                  <a:pt x="347726" y="311998"/>
                </a:lnTo>
                <a:lnTo>
                  <a:pt x="407127" y="504824"/>
                </a:lnTo>
                <a:lnTo>
                  <a:pt x="251619" y="385649"/>
                </a:lnTo>
                <a:lnTo>
                  <a:pt x="96110" y="504824"/>
                </a:lnTo>
                <a:lnTo>
                  <a:pt x="155511" y="311998"/>
                </a:lnTo>
                <a:lnTo>
                  <a:pt x="1" y="192826"/>
                </a:lnTo>
                <a:close/>
              </a:path>
            </a:pathLst>
          </a:custGeom>
          <a:solidFill>
            <a:srgbClr val="F4E4C6"/>
          </a:solidFill>
          <a:ln w="9360">
            <a:solidFill>
              <a:srgbClr val="10263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47" name="design9047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47</a:t>
            </a:r>
          </a:p>
        </p:txBody>
      </p:sp>
    </p:spTree>
  </p:cSld>
  <p:transition>
    <p:dissolve/>
  </p:transition>
  <p:timing>
    <p:tnLst>
      <p:par>
        <p:cTn id="121" dur="indefinite" restart="never" nodeType="tmRoot">
          <p:childTnLst>
            <p:seq>
              <p:cTn id="122" dur="indefinite" nodeType="mainSeq">
                <p:childTnLst>
                  <p:par>
                    <p:cTn id="123" nodeType="clickEffect" fill="hold">
                      <p:stCondLst>
                        <p:cond delay="indefinite"/>
                      </p:stCondLst>
                      <p:childTnLst>
                        <p:par>
                          <p:cTn id="12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ntr" presetID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7" dur="1000"/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8" dur="1000" fill="hold"/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9" dur="898" fill="hold"/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0" dur="1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nodeType="clickEffect" fill="hold">
                      <p:stCondLst>
                        <p:cond delay="indefinite"/>
                      </p:stCondLst>
                      <p:childTnLst>
                        <p:par>
                          <p:cTn id="1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3" nodeType="clickEffect" fill="hold" presetClass="entr" presetID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5" dur="1000"/>
                                        <p:tgtEl>
                                          <p:spTgt spid="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6" dur="1000" fill="hold"/>
                                        <p:tgtEl>
                                          <p:spTgt spid="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7" dur="898" fill="hold"/>
                                        <p:tgtEl>
                                          <p:spTgt spid="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8" dur="1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nodeType="clickEffect" fill="hold">
                      <p:stCondLst>
                        <p:cond delay="indefinite"/>
                      </p:stCondLst>
                      <p:childTnLst>
                        <p:par>
                          <p:cTn id="1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1" nodeType="clickEffect" fill="hold" presetClass="entr" presetID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3" dur="1000"/>
                                        <p:tgtEl>
                                          <p:spTgt spid="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44" dur="1000" fill="hold"/>
                                        <p:tgtEl>
                                          <p:spTgt spid="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5" dur="898" fill="hold"/>
                                        <p:tgtEl>
                                          <p:spTgt spid="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6" dur="1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roup 24"/>
          <p:cNvGrpSpPr/>
          <p:nvPr/>
        </p:nvGrpSpPr>
        <p:grpSpPr>
          <a:xfrm>
            <a:off x="2438400" y="3714840"/>
            <a:ext cx="7391520" cy="1856160"/>
            <a:chOff x="914400" y="3714840"/>
            <a:chExt cx="7391520" cy="1856160"/>
          </a:xfrm>
        </p:grpSpPr>
        <p:sp>
          <p:nvSpPr>
            <p:cNvPr id="225" name="Arc 4"/>
            <p:cNvSpPr/>
            <p:nvPr/>
          </p:nvSpPr>
          <p:spPr>
            <a:xfrm rot="10851000">
              <a:off x="1828440" y="4643280"/>
              <a:ext cx="914400" cy="914400"/>
            </a:xfrm>
            <a:custGeom>
              <a:avLst/>
              <a:gdLst>
                <a:gd name="textAreaLeft" fmla="*/ 0 w 914400"/>
                <a:gd name="textAreaRight" fmla="*/ 914760 w 914400"/>
                <a:gd name="textAreaTop" fmla="*/ 0 h 914400"/>
                <a:gd name="textAreaBottom" fmla="*/ 914760 h 914400"/>
              </a:gdLst>
              <a:ahLst/>
              <a:rect l="textAreaLeft" t="textAreaTop" r="textAreaRight" b="textAreaBottom"/>
              <a:pathLst>
                <a:path fill="none" w="21600" h="21600">
                  <a:moveTo>
                    <a:pt x="23" y="0"/>
                  </a:moveTo>
                  <a:cubicBezTo>
                    <a:pt x="11935" y="13"/>
                    <a:pt x="21588" y="9667"/>
                    <a:pt x="21599" y="21579"/>
                  </a:cubicBezTo>
                </a:path>
                <a:path stroke="0" w="21600" h="21600">
                  <a:moveTo>
                    <a:pt x="23" y="0"/>
                  </a:moveTo>
                  <a:cubicBezTo>
                    <a:pt x="11935" y="13"/>
                    <a:pt x="21588" y="9667"/>
                    <a:pt x="21599" y="21579"/>
                  </a:cubicBezTo>
                  <a:lnTo>
                    <a:pt x="0" y="21600"/>
                  </a:lnTo>
                  <a:lnTo>
                    <a:pt x="23" y="0"/>
                  </a:lnTo>
                  <a:close/>
                </a:path>
              </a:pathLst>
            </a:custGeom>
            <a:noFill/>
            <a:ln w="28440">
              <a:solidFill>
                <a:srgbClr val="1F2C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26" name="Arc 5"/>
            <p:cNvSpPr/>
            <p:nvPr/>
          </p:nvSpPr>
          <p:spPr>
            <a:xfrm rot="16200000">
              <a:off x="1838160" y="3705120"/>
              <a:ext cx="938160" cy="957240"/>
            </a:xfrm>
            <a:custGeom>
              <a:avLst/>
              <a:gdLst>
                <a:gd name="textAreaLeft" fmla="*/ 0 w 938160"/>
                <a:gd name="textAreaRight" fmla="*/ 938520 w 938160"/>
                <a:gd name="textAreaTop" fmla="*/ 0 h 957240"/>
                <a:gd name="textAreaBottom" fmla="*/ 957600 h 957240"/>
              </a:gdLst>
              <a:ahLst/>
              <a:rect l="textAreaLeft" t="textAreaTop" r="textAreaRight" b="textAreaBottom"/>
              <a:pathLst>
                <a:path fill="none" w="21589" h="21600">
                  <a:moveTo>
                    <a:pt x="-1" y="0"/>
                  </a:moveTo>
                  <a:cubicBezTo>
                    <a:pt x="11656" y="0"/>
                    <a:pt x="21209" y="9248"/>
                    <a:pt x="21588" y="20898"/>
                  </a:cubicBezTo>
                </a:path>
                <a:path stroke="0" w="21589" h="21600">
                  <a:moveTo>
                    <a:pt x="-1" y="0"/>
                  </a:moveTo>
                  <a:cubicBezTo>
                    <a:pt x="11656" y="0"/>
                    <a:pt x="21209" y="9248"/>
                    <a:pt x="21588" y="20898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440">
              <a:solidFill>
                <a:srgbClr val="1F2C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27" name="Arc 6"/>
            <p:cNvSpPr/>
            <p:nvPr/>
          </p:nvSpPr>
          <p:spPr>
            <a:xfrm rot="5298600">
              <a:off x="4418280" y="4644000"/>
              <a:ext cx="914400" cy="912600"/>
            </a:xfrm>
            <a:custGeom>
              <a:avLst/>
              <a:gdLst>
                <a:gd name="textAreaLeft" fmla="*/ 0 w 914400"/>
                <a:gd name="textAreaRight" fmla="*/ 914760 w 91440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fill="none" w="21600" h="21567">
                  <a:moveTo>
                    <a:pt x="1201" y="0"/>
                  </a:moveTo>
                  <a:cubicBezTo>
                    <a:pt x="12646" y="638"/>
                    <a:pt x="21600" y="10104"/>
                    <a:pt x="21600" y="21567"/>
                  </a:cubicBezTo>
                </a:path>
                <a:path stroke="0" w="21600" h="21567">
                  <a:moveTo>
                    <a:pt x="1201" y="0"/>
                  </a:moveTo>
                  <a:cubicBezTo>
                    <a:pt x="12646" y="638"/>
                    <a:pt x="21600" y="10104"/>
                    <a:pt x="21600" y="21567"/>
                  </a:cubicBezTo>
                  <a:lnTo>
                    <a:pt x="0" y="21567"/>
                  </a:lnTo>
                  <a:lnTo>
                    <a:pt x="1201" y="0"/>
                  </a:lnTo>
                  <a:close/>
                </a:path>
              </a:pathLst>
            </a:custGeom>
            <a:noFill/>
            <a:ln w="28440">
              <a:solidFill>
                <a:srgbClr val="1F2C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28" name="Arc 7"/>
            <p:cNvSpPr/>
            <p:nvPr/>
          </p:nvSpPr>
          <p:spPr>
            <a:xfrm>
              <a:off x="4429080" y="3714840"/>
              <a:ext cx="904680" cy="1066680"/>
            </a:xfrm>
            <a:custGeom>
              <a:avLst/>
              <a:gdLst>
                <a:gd name="textAreaLeft" fmla="*/ 0 w 904680"/>
                <a:gd name="textAreaRight" fmla="*/ 905040 w 904680"/>
                <a:gd name="textAreaTop" fmla="*/ 0 h 1066680"/>
                <a:gd name="textAreaBottom" fmla="*/ 1067040 h 1066680"/>
              </a:gdLst>
              <a:ahLst/>
              <a:rect l="textAreaLeft" t="textAreaTop" r="textAreaRight" b="textAreaBottom"/>
              <a:pathLst>
                <a:path fill="none" w="21600" h="24591">
                  <a:moveTo>
                    <a:pt x="71" y="0"/>
                  </a:moveTo>
                  <a:cubicBezTo>
                    <a:pt x="11973" y="39"/>
                    <a:pt x="21600" y="9698"/>
                    <a:pt x="21600" y="21600"/>
                  </a:cubicBezTo>
                  <a:cubicBezTo>
                    <a:pt x="21600" y="22600"/>
                    <a:pt x="21530" y="23600"/>
                    <a:pt x="21391" y="24590"/>
                  </a:cubicBezTo>
                </a:path>
                <a:path stroke="0" w="21600" h="24591">
                  <a:moveTo>
                    <a:pt x="71" y="0"/>
                  </a:moveTo>
                  <a:cubicBezTo>
                    <a:pt x="11973" y="39"/>
                    <a:pt x="21600" y="9698"/>
                    <a:pt x="21600" y="21600"/>
                  </a:cubicBezTo>
                  <a:cubicBezTo>
                    <a:pt x="21600" y="22600"/>
                    <a:pt x="21530" y="23600"/>
                    <a:pt x="21391" y="24590"/>
                  </a:cubicBezTo>
                  <a:lnTo>
                    <a:pt x="0" y="21600"/>
                  </a:lnTo>
                  <a:lnTo>
                    <a:pt x="71" y="0"/>
                  </a:lnTo>
                  <a:close/>
                </a:path>
              </a:pathLst>
            </a:custGeom>
            <a:noFill/>
            <a:ln w="28440">
              <a:solidFill>
                <a:srgbClr val="1F2C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29" name="Line 8"/>
            <p:cNvSpPr/>
            <p:nvPr/>
          </p:nvSpPr>
          <p:spPr>
            <a:xfrm>
              <a:off x="2700360" y="3714840"/>
              <a:ext cx="1800000" cy="0"/>
            </a:xfrm>
            <a:prstGeom prst="line">
              <a:avLst/>
            </a:prstGeom>
            <a:ln w="2844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30" name="Line 9"/>
            <p:cNvSpPr/>
            <p:nvPr/>
          </p:nvSpPr>
          <p:spPr>
            <a:xfrm>
              <a:off x="914400" y="5557680"/>
              <a:ext cx="7391520" cy="0"/>
            </a:xfrm>
            <a:prstGeom prst="line">
              <a:avLst/>
            </a:prstGeom>
            <a:ln w="2844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231" name="AutoShape 10"/>
          <p:cNvSpPr/>
          <p:nvPr/>
        </p:nvSpPr>
        <p:spPr>
          <a:xfrm>
            <a:off x="3962280" y="5329080"/>
            <a:ext cx="381240" cy="381240"/>
          </a:xfrm>
          <a:prstGeom prst="sun">
            <a:avLst>
              <a:gd name="adj" fmla="val 25000"/>
            </a:avLst>
          </a:prstGeom>
          <a:solidFill>
            <a:srgbClr val="B3261E"/>
          </a:solidFill>
          <a:ln w="1260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2" name="Line 11"/>
          <p:cNvSpPr/>
          <p:nvPr/>
        </p:nvSpPr>
        <p:spPr>
          <a:xfrm>
            <a:off x="4114920" y="3119400"/>
            <a:ext cx="0" cy="3048120"/>
          </a:xfrm>
          <a:prstGeom prst="line">
            <a:avLst/>
          </a:prstGeom>
          <a:ln w="12600">
            <a:solidFill>
              <a:srgbClr val="1F2C3A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3" name="Text Box 12"/>
          <p:cNvSpPr/>
          <p:nvPr/>
        </p:nvSpPr>
        <p:spPr>
          <a:xfrm>
            <a:off x="8233320" y="5100120"/>
            <a:ext cx="16833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HOLDING SIDE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4" name="Text Box 13"/>
          <p:cNvSpPr/>
          <p:nvPr/>
        </p:nvSpPr>
        <p:spPr>
          <a:xfrm>
            <a:off x="8157360" y="5633640"/>
            <a:ext cx="22014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NON-HOLDING SIDE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5" name="Line 14"/>
          <p:cNvSpPr/>
          <p:nvPr/>
        </p:nvSpPr>
        <p:spPr>
          <a:xfrm flipV="1">
            <a:off x="9525000" y="4797000"/>
            <a:ext cx="0" cy="304920"/>
          </a:xfrm>
          <a:prstGeom prst="line">
            <a:avLst/>
          </a:prstGeom>
          <a:ln w="12600">
            <a:solidFill>
              <a:srgbClr val="1F2C3A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6" name="Line 15"/>
          <p:cNvSpPr/>
          <p:nvPr/>
        </p:nvSpPr>
        <p:spPr>
          <a:xfrm>
            <a:off x="9829920" y="6004080"/>
            <a:ext cx="0" cy="304560"/>
          </a:xfrm>
          <a:prstGeom prst="line">
            <a:avLst/>
          </a:prstGeom>
          <a:ln w="12600">
            <a:solidFill>
              <a:srgbClr val="1F2C3A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7" name="Text Box 16"/>
          <p:cNvSpPr/>
          <p:nvPr/>
        </p:nvSpPr>
        <p:spPr>
          <a:xfrm>
            <a:off x="4202760" y="3271320"/>
            <a:ext cx="13510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OUTBOUND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8" name="Line 17"/>
          <p:cNvSpPr/>
          <p:nvPr/>
        </p:nvSpPr>
        <p:spPr>
          <a:xfrm>
            <a:off x="5486520" y="3424320"/>
            <a:ext cx="304560" cy="0"/>
          </a:xfrm>
          <a:prstGeom prst="line">
            <a:avLst/>
          </a:prstGeom>
          <a:ln w="12600">
            <a:solidFill>
              <a:srgbClr val="1F2C3A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-46800" bIns="-46800" anchor="ctr" wrap="none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9" name="Text Box 18"/>
          <p:cNvSpPr/>
          <p:nvPr/>
        </p:nvSpPr>
        <p:spPr>
          <a:xfrm>
            <a:off x="5030760" y="5176440"/>
            <a:ext cx="11379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INBOUND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0" name="Line 19"/>
          <p:cNvSpPr/>
          <p:nvPr/>
        </p:nvSpPr>
        <p:spPr>
          <a:xfrm flipH="1">
            <a:off x="4724040" y="5329080"/>
            <a:ext cx="304920" cy="0"/>
          </a:xfrm>
          <a:prstGeom prst="line">
            <a:avLst/>
          </a:prstGeom>
          <a:ln w="12600">
            <a:solidFill>
              <a:srgbClr val="1F2C3A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-46800" bIns="-46800" anchor="ctr" wrap="none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1" name="Text Box 20"/>
          <p:cNvSpPr/>
          <p:nvPr/>
        </p:nvSpPr>
        <p:spPr>
          <a:xfrm>
            <a:off x="3811440" y="2814120"/>
            <a:ext cx="9352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ABEAM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2" name="Text Box 21"/>
          <p:cNvSpPr/>
          <p:nvPr/>
        </p:nvSpPr>
        <p:spPr>
          <a:xfrm>
            <a:off x="2517960" y="5862600"/>
            <a:ext cx="155988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BEACON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HOLDING FIX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3" name="Line 22"/>
          <p:cNvSpPr/>
          <p:nvPr/>
        </p:nvSpPr>
        <p:spPr>
          <a:xfrm flipV="1">
            <a:off x="3657720" y="5709960"/>
            <a:ext cx="304560" cy="228600"/>
          </a:xfrm>
          <a:prstGeom prst="line">
            <a:avLst/>
          </a:prstGeom>
          <a:ln w="12600">
            <a:solidFill>
              <a:srgbClr val="1F2C3A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4" name="AutoShape 23"/>
          <p:cNvSpPr/>
          <p:nvPr/>
        </p:nvSpPr>
        <p:spPr>
          <a:xfrm rot="16200000">
            <a:off x="3009720" y="4528800"/>
            <a:ext cx="304920" cy="228600"/>
          </a:xfrm>
          <a:custGeom>
            <a:avLst/>
            <a:gdLst>
              <a:gd name="textAreaLeft" fmla="*/ 47520 w 304920"/>
              <a:gd name="textAreaRight" fmla="*/ 267120 w 304920"/>
              <a:gd name="textAreaTop" fmla="*/ 57240 h 228600"/>
              <a:gd name="textAreaBottom" fmla="*/ 171720 h 22860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1F2C3A"/>
          </a:solidFill>
          <a:ln w="1260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5" name="AutoShape 24"/>
          <p:cNvSpPr/>
          <p:nvPr/>
        </p:nvSpPr>
        <p:spPr>
          <a:xfrm rot="5430600">
            <a:off x="6819600" y="4452840"/>
            <a:ext cx="304920" cy="228600"/>
          </a:xfrm>
          <a:custGeom>
            <a:avLst/>
            <a:gdLst>
              <a:gd name="textAreaLeft" fmla="*/ 47520 w 304920"/>
              <a:gd name="textAreaRight" fmla="*/ 267120 w 304920"/>
              <a:gd name="textAreaTop" fmla="*/ 57240 h 228600"/>
              <a:gd name="textAreaBottom" fmla="*/ 171720 h 22860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1F2C3A"/>
          </a:solidFill>
          <a:ln w="1260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6" name="Text Box 26"/>
          <p:cNvSpPr/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TYPES OF HOLDING PATTERN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47" name="Text Box 27"/>
          <p:cNvSpPr/>
          <p:nvPr/>
        </p:nvSpPr>
        <p:spPr>
          <a:xfrm>
            <a:off x="3312120" y="1590840"/>
            <a:ext cx="79807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6800" bIns="46800" anchor="t">
            <a:norm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1.  HOLDING OVERHEAD A BEACON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48" name="design9048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48</a:t>
            </a:r>
          </a:p>
        </p:txBody>
      </p:sp>
    </p:spTree>
  </p:cSld>
  <p:transition>
    <p:wipe dir="d"/>
  </p:transition>
  <p:timing>
    <p:tnLst>
      <p:par>
        <p:cTn id="147" dur="indefinite" restart="never" nodeType="tmRoot">
          <p:childTnLst>
            <p:seq>
              <p:cTn id="148" dur="indefinite" nodeType="mainSeq">
                <p:childTnLst>
                  <p:par>
                    <p:cTn id="149" nodeType="clickEffect" fill="hold">
                      <p:stCondLst>
                        <p:cond delay="0"/>
                      </p:stCondLst>
                      <p:childTnLst>
                        <p:par>
                          <p:cTn id="15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53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56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59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62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65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68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7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74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77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80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83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86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89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92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95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nodeType="clickEffect" fill="hold">
                      <p:stCondLst>
                        <p:cond delay="indefinite"/>
                      </p:stCondLst>
                      <p:childTnLst>
                        <p:par>
                          <p:cTn id="19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8" nodeType="clickEffect" fill="remove" presetClass="emph" presetID="33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99" dur="1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0263F"/>
                                      </p:to>
                                    </p:animClr>
                                    <p:animClr clrSpc="rgb">
                                      <p:cBhvr>
                                        <p:cTn id="200" dur="1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0263F"/>
                                      </p:to>
                                    </p:animClr>
                                    <p:set>
                                      <p:cBhvr>
                                        <p:cTn id="201" dur="30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Scale>
                                      <p:cBhvr>
                                        <p:cTn id="202" dur="1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</p:cBhvr>
                                      <p:from x="100000" y="100000"/>
                                      <p:to x="10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204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5" dur="20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207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8" dur="20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nodeType="afterEffect" fill="hold">
                            <p:stCondLst>
                              <p:cond delay="7000"/>
                            </p:stCondLst>
                            <p:childTnLst>
                              <p:par>
                                <p:cTn id="210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1" dur="20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nodeType="afterEffect" fill="hold">
                            <p:stCondLst>
                              <p:cond delay="9000"/>
                            </p:stCondLst>
                            <p:childTnLst>
                              <p:par>
                                <p:cTn id="213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4" dur="20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nodeType="afterEffect" fill="hold">
                            <p:stCondLst>
                              <p:cond delay="11000"/>
                            </p:stCondLst>
                            <p:childTnLst>
                              <p:par>
                                <p:cTn id="216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7" dur="20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roup 28"/>
          <p:cNvGrpSpPr/>
          <p:nvPr/>
        </p:nvGrpSpPr>
        <p:grpSpPr>
          <a:xfrm>
            <a:off x="2438400" y="3786120"/>
            <a:ext cx="7391520" cy="1942200"/>
            <a:chOff x="914400" y="3786120"/>
            <a:chExt cx="7391520" cy="1942200"/>
          </a:xfrm>
        </p:grpSpPr>
        <p:sp>
          <p:nvSpPr>
            <p:cNvPr id="249" name="Arc 4"/>
            <p:cNvSpPr/>
            <p:nvPr/>
          </p:nvSpPr>
          <p:spPr>
            <a:xfrm rot="10851000">
              <a:off x="4114440" y="4800600"/>
              <a:ext cx="914400" cy="914400"/>
            </a:xfrm>
            <a:custGeom>
              <a:avLst/>
              <a:gdLst>
                <a:gd name="textAreaLeft" fmla="*/ 0 w 914400"/>
                <a:gd name="textAreaRight" fmla="*/ 914760 w 914400"/>
                <a:gd name="textAreaTop" fmla="*/ 0 h 914400"/>
                <a:gd name="textAreaBottom" fmla="*/ 914760 h 914400"/>
              </a:gdLst>
              <a:ahLst/>
              <a:rect l="textAreaLeft" t="textAreaTop" r="textAreaRight" b="textAreaBottom"/>
              <a:pathLst>
                <a:path fill="none" w="21600" h="21600">
                  <a:moveTo>
                    <a:pt x="23" y="0"/>
                  </a:moveTo>
                  <a:cubicBezTo>
                    <a:pt x="11935" y="13"/>
                    <a:pt x="21588" y="9667"/>
                    <a:pt x="21599" y="21579"/>
                  </a:cubicBezTo>
                </a:path>
                <a:path stroke="0" w="21600" h="21600">
                  <a:moveTo>
                    <a:pt x="23" y="0"/>
                  </a:moveTo>
                  <a:cubicBezTo>
                    <a:pt x="11935" y="13"/>
                    <a:pt x="21588" y="9667"/>
                    <a:pt x="21599" y="21579"/>
                  </a:cubicBezTo>
                  <a:lnTo>
                    <a:pt x="0" y="21600"/>
                  </a:lnTo>
                  <a:lnTo>
                    <a:pt x="23" y="0"/>
                  </a:lnTo>
                  <a:close/>
                </a:path>
              </a:pathLst>
            </a:custGeom>
            <a:noFill/>
            <a:ln w="28440">
              <a:solidFill>
                <a:srgbClr val="1F2C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50" name="Arc 5"/>
            <p:cNvSpPr/>
            <p:nvPr/>
          </p:nvSpPr>
          <p:spPr>
            <a:xfrm rot="16200000">
              <a:off x="4114440" y="3787560"/>
              <a:ext cx="1030320" cy="1027080"/>
            </a:xfrm>
            <a:custGeom>
              <a:avLst/>
              <a:gdLst>
                <a:gd name="textAreaLeft" fmla="*/ 0 w 1030320"/>
                <a:gd name="textAreaRight" fmla="*/ 1030680 w 1030320"/>
                <a:gd name="textAreaTop" fmla="*/ 0 h 1027080"/>
                <a:gd name="textAreaBottom" fmla="*/ 1027440 h 1027080"/>
              </a:gdLst>
              <a:ahLst/>
              <a:rect l="textAreaLeft" t="textAreaTop" r="textAreaRight" b="textAreaBottom"/>
              <a:pathLst>
                <a:path fill="none" w="24191" h="21600">
                  <a:moveTo>
                    <a:pt x="-1" y="157"/>
                  </a:moveTo>
                  <a:cubicBezTo>
                    <a:pt x="864" y="52"/>
                    <a:pt x="1734" y="-1"/>
                    <a:pt x="2606" y="0"/>
                  </a:cubicBezTo>
                  <a:cubicBezTo>
                    <a:pt x="14221" y="0"/>
                    <a:pt x="23757" y="9186"/>
                    <a:pt x="24190" y="20794"/>
                  </a:cubicBezTo>
                </a:path>
                <a:path stroke="0" w="24191" h="21600">
                  <a:moveTo>
                    <a:pt x="-1" y="157"/>
                  </a:moveTo>
                  <a:cubicBezTo>
                    <a:pt x="864" y="52"/>
                    <a:pt x="1734" y="-1"/>
                    <a:pt x="2606" y="0"/>
                  </a:cubicBezTo>
                  <a:cubicBezTo>
                    <a:pt x="14221" y="0"/>
                    <a:pt x="23757" y="9186"/>
                    <a:pt x="24190" y="20794"/>
                  </a:cubicBezTo>
                  <a:lnTo>
                    <a:pt x="2606" y="21600"/>
                  </a:lnTo>
                  <a:lnTo>
                    <a:pt x="-1" y="157"/>
                  </a:lnTo>
                  <a:close/>
                </a:path>
              </a:pathLst>
            </a:custGeom>
            <a:noFill/>
            <a:ln w="28440">
              <a:solidFill>
                <a:srgbClr val="1F2C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51" name="Arc 6"/>
            <p:cNvSpPr/>
            <p:nvPr/>
          </p:nvSpPr>
          <p:spPr>
            <a:xfrm rot="5298600">
              <a:off x="6932880" y="4801320"/>
              <a:ext cx="914400" cy="912600"/>
            </a:xfrm>
            <a:custGeom>
              <a:avLst/>
              <a:gdLst>
                <a:gd name="textAreaLeft" fmla="*/ 0 w 914400"/>
                <a:gd name="textAreaRight" fmla="*/ 914760 w 91440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fill="none" w="21600" h="21567">
                  <a:moveTo>
                    <a:pt x="1201" y="0"/>
                  </a:moveTo>
                  <a:cubicBezTo>
                    <a:pt x="12646" y="638"/>
                    <a:pt x="21600" y="10104"/>
                    <a:pt x="21600" y="21567"/>
                  </a:cubicBezTo>
                </a:path>
                <a:path stroke="0" w="21600" h="21567">
                  <a:moveTo>
                    <a:pt x="1201" y="0"/>
                  </a:moveTo>
                  <a:cubicBezTo>
                    <a:pt x="12646" y="638"/>
                    <a:pt x="21600" y="10104"/>
                    <a:pt x="21600" y="21567"/>
                  </a:cubicBezTo>
                  <a:lnTo>
                    <a:pt x="0" y="21567"/>
                  </a:lnTo>
                  <a:lnTo>
                    <a:pt x="1201" y="0"/>
                  </a:lnTo>
                  <a:close/>
                </a:path>
              </a:pathLst>
            </a:custGeom>
            <a:noFill/>
            <a:ln w="28440">
              <a:solidFill>
                <a:srgbClr val="1F2C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52" name="Arc 7"/>
            <p:cNvSpPr/>
            <p:nvPr/>
          </p:nvSpPr>
          <p:spPr>
            <a:xfrm>
              <a:off x="6934320" y="3809880"/>
              <a:ext cx="914400" cy="1063800"/>
            </a:xfrm>
            <a:custGeom>
              <a:avLst/>
              <a:gdLst>
                <a:gd name="textAreaLeft" fmla="*/ 0 w 914400"/>
                <a:gd name="textAreaRight" fmla="*/ 914760 w 914400"/>
                <a:gd name="textAreaTop" fmla="*/ 0 h 1063800"/>
                <a:gd name="textAreaBottom" fmla="*/ 1064160 h 1063800"/>
              </a:gdLst>
              <a:ahLst/>
              <a:rect l="textAreaLeft" t="textAreaTop" r="textAreaRight" b="textAreaBottom"/>
              <a:pathLst>
                <a:path fill="none" w="21600" h="25113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776"/>
                    <a:pt x="21503" y="23951"/>
                    <a:pt x="21312" y="25113"/>
                  </a:cubicBezTo>
                </a:path>
                <a:path stroke="0" w="21600" h="25113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776"/>
                    <a:pt x="21503" y="23951"/>
                    <a:pt x="21312" y="25113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440">
              <a:solidFill>
                <a:srgbClr val="1F2C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53" name="Line 8"/>
            <p:cNvSpPr/>
            <p:nvPr/>
          </p:nvSpPr>
          <p:spPr>
            <a:xfrm>
              <a:off x="4932360" y="3789000"/>
              <a:ext cx="2016000" cy="20520"/>
            </a:xfrm>
            <a:prstGeom prst="line">
              <a:avLst/>
            </a:prstGeom>
            <a:ln w="2844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280" bIns="-2628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54" name="Line 9"/>
            <p:cNvSpPr/>
            <p:nvPr/>
          </p:nvSpPr>
          <p:spPr>
            <a:xfrm>
              <a:off x="914400" y="5715000"/>
              <a:ext cx="7391520" cy="0"/>
            </a:xfrm>
            <a:prstGeom prst="line">
              <a:avLst/>
            </a:prstGeom>
            <a:ln w="2844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255" name="AutoShape 10"/>
          <p:cNvSpPr/>
          <p:nvPr/>
        </p:nvSpPr>
        <p:spPr>
          <a:xfrm>
            <a:off x="3962280" y="5486400"/>
            <a:ext cx="381240" cy="380880"/>
          </a:xfrm>
          <a:prstGeom prst="sun">
            <a:avLst>
              <a:gd name="adj" fmla="val 25000"/>
            </a:avLst>
          </a:prstGeom>
          <a:solidFill>
            <a:srgbClr val="B3261E"/>
          </a:solidFill>
          <a:ln w="1260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6" name="Text Box 11"/>
          <p:cNvSpPr/>
          <p:nvPr/>
        </p:nvSpPr>
        <p:spPr>
          <a:xfrm>
            <a:off x="6583800" y="3885840"/>
            <a:ext cx="13510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OUTBOUND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7" name="Line 12"/>
          <p:cNvSpPr/>
          <p:nvPr/>
        </p:nvSpPr>
        <p:spPr>
          <a:xfrm>
            <a:off x="7878720" y="4038480"/>
            <a:ext cx="304920" cy="0"/>
          </a:xfrm>
          <a:prstGeom prst="line">
            <a:avLst/>
          </a:prstGeom>
          <a:ln w="12600">
            <a:solidFill>
              <a:srgbClr val="1F2C3A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-46800" bIns="-46800" anchor="ctr" wrap="none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8" name="Text Box 13"/>
          <p:cNvSpPr/>
          <p:nvPr/>
        </p:nvSpPr>
        <p:spPr>
          <a:xfrm>
            <a:off x="7324680" y="5333760"/>
            <a:ext cx="11379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INBOUND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9" name="Line 14"/>
          <p:cNvSpPr/>
          <p:nvPr/>
        </p:nvSpPr>
        <p:spPr>
          <a:xfrm flipH="1">
            <a:off x="7086720" y="5486400"/>
            <a:ext cx="304560" cy="0"/>
          </a:xfrm>
          <a:prstGeom prst="line">
            <a:avLst/>
          </a:prstGeom>
          <a:ln w="12600">
            <a:solidFill>
              <a:srgbClr val="1F2C3A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-46800" bIns="-46800" anchor="ctr" wrap="none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0" name="Text Box 15"/>
          <p:cNvSpPr/>
          <p:nvPr/>
        </p:nvSpPr>
        <p:spPr>
          <a:xfrm>
            <a:off x="6628440" y="5943600"/>
            <a:ext cx="115920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HOLDING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FIX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1" name="Line 16"/>
          <p:cNvSpPr/>
          <p:nvPr/>
        </p:nvSpPr>
        <p:spPr>
          <a:xfrm flipV="1">
            <a:off x="3657720" y="5866920"/>
            <a:ext cx="304560" cy="228600"/>
          </a:xfrm>
          <a:prstGeom prst="line">
            <a:avLst/>
          </a:prstGeom>
          <a:ln w="12600">
            <a:solidFill>
              <a:srgbClr val="1F2C3A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2" name="AutoShape 17"/>
          <p:cNvSpPr/>
          <p:nvPr/>
        </p:nvSpPr>
        <p:spPr>
          <a:xfrm rot="5430600">
            <a:off x="9334200" y="4610160"/>
            <a:ext cx="304920" cy="228600"/>
          </a:xfrm>
          <a:custGeom>
            <a:avLst/>
            <a:gdLst>
              <a:gd name="textAreaLeft" fmla="*/ 47520 w 304920"/>
              <a:gd name="textAreaRight" fmla="*/ 267120 w 304920"/>
              <a:gd name="textAreaTop" fmla="*/ 57240 h 228600"/>
              <a:gd name="textAreaBottom" fmla="*/ 171720 h 22860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1F2C3A"/>
          </a:solidFill>
          <a:ln w="1260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3" name="AutoShape 18"/>
          <p:cNvSpPr/>
          <p:nvPr/>
        </p:nvSpPr>
        <p:spPr>
          <a:xfrm rot="16200000">
            <a:off x="5295720" y="4609800"/>
            <a:ext cx="304920" cy="228600"/>
          </a:xfrm>
          <a:custGeom>
            <a:avLst/>
            <a:gdLst>
              <a:gd name="textAreaLeft" fmla="*/ 47520 w 304920"/>
              <a:gd name="textAreaRight" fmla="*/ 267120 w 304920"/>
              <a:gd name="textAreaTop" fmla="*/ 57240 h 228600"/>
              <a:gd name="textAreaBottom" fmla="*/ 171720 h 22860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1F2C3A"/>
          </a:solidFill>
          <a:ln w="1260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4" name="AutoShape 19"/>
          <p:cNvSpPr/>
          <p:nvPr/>
        </p:nvSpPr>
        <p:spPr>
          <a:xfrm>
            <a:off x="6248280" y="5562720"/>
            <a:ext cx="295560" cy="228600"/>
          </a:xfrm>
          <a:prstGeom prst="triangle">
            <a:avLst>
              <a:gd name="adj" fmla="val 50000"/>
            </a:avLst>
          </a:prstGeom>
          <a:solidFill>
            <a:srgbClr val="B3261E"/>
          </a:solidFill>
          <a:ln w="1260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29520" bIns="2952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5" name="Text Box 20"/>
          <p:cNvSpPr/>
          <p:nvPr/>
        </p:nvSpPr>
        <p:spPr>
          <a:xfrm>
            <a:off x="2697600" y="6157080"/>
            <a:ext cx="1157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BEACON</a:t>
            </a: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6" name="Arc 21"/>
          <p:cNvSpPr/>
          <p:nvPr/>
        </p:nvSpPr>
        <p:spPr>
          <a:xfrm>
            <a:off x="7619880" y="3352680"/>
            <a:ext cx="1143000" cy="1370160"/>
          </a:xfrm>
          <a:custGeom>
            <a:avLst/>
            <a:gdLst>
              <a:gd name="textAreaLeft" fmla="*/ 0 w 1143000"/>
              <a:gd name="textAreaRight" fmla="*/ 1143360 w 1143000"/>
              <a:gd name="textAreaTop" fmla="*/ 0 h 1370160"/>
              <a:gd name="textAreaBottom" fmla="*/ 1370520 h 1370160"/>
            </a:gdLst>
            <a:ahLst/>
            <a:rect l="textAreaLeft" t="textAreaTop" r="textAreaRight" b="textAreaBottom"/>
            <a:pathLst>
              <a:path fill="none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stroke="0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600">
            <a:solidFill>
              <a:srgbClr val="1F2C3A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7" name="Arc 22"/>
          <p:cNvSpPr/>
          <p:nvPr/>
        </p:nvSpPr>
        <p:spPr>
          <a:xfrm rot="2266200">
            <a:off x="5486160" y="5105160"/>
            <a:ext cx="1143000" cy="1369800"/>
          </a:xfrm>
          <a:custGeom>
            <a:avLst/>
            <a:gdLst>
              <a:gd name="textAreaLeft" fmla="*/ 0 w 1143000"/>
              <a:gd name="textAreaRight" fmla="*/ 1143360 w 1143000"/>
              <a:gd name="textAreaTop" fmla="*/ 0 h 1369800"/>
              <a:gd name="textAreaBottom" fmla="*/ 1370160 h 1369800"/>
            </a:gdLst>
            <a:ahLst/>
            <a:rect l="textAreaLeft" t="textAreaTop" r="textAreaRight" b="textAreaBottom"/>
            <a:pathLst>
              <a:path fill="none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stroke="0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600">
            <a:solidFill>
              <a:srgbClr val="1F2C3A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8" name="Line 23"/>
          <p:cNvSpPr/>
          <p:nvPr/>
        </p:nvSpPr>
        <p:spPr>
          <a:xfrm flipH="1" flipV="1">
            <a:off x="6629160" y="5867280"/>
            <a:ext cx="228600" cy="152640"/>
          </a:xfrm>
          <a:prstGeom prst="line">
            <a:avLst/>
          </a:prstGeom>
          <a:ln w="12600">
            <a:solidFill>
              <a:srgbClr val="1F2C3A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9" name="Text Box 24"/>
          <p:cNvSpPr/>
          <p:nvPr/>
        </p:nvSpPr>
        <p:spPr>
          <a:xfrm>
            <a:off x="4572120" y="5836680"/>
            <a:ext cx="13618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HOLDING </a:t>
            </a: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DISTANCE</a:t>
            </a: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0" name="Line 25"/>
          <p:cNvSpPr/>
          <p:nvPr/>
        </p:nvSpPr>
        <p:spPr>
          <a:xfrm flipH="1" flipV="1">
            <a:off x="4224360" y="6093000"/>
            <a:ext cx="393840" cy="2880"/>
          </a:xfrm>
          <a:prstGeom prst="line">
            <a:avLst/>
          </a:prstGeom>
          <a:ln w="12600">
            <a:solidFill>
              <a:srgbClr val="1F2C3A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-43920" bIns="-43920" anchor="ctr" wrap="none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1" name="Line 26"/>
          <p:cNvSpPr/>
          <p:nvPr/>
        </p:nvSpPr>
        <p:spPr>
          <a:xfrm>
            <a:off x="5808720" y="6093000"/>
            <a:ext cx="574560" cy="2880"/>
          </a:xfrm>
          <a:prstGeom prst="line">
            <a:avLst/>
          </a:prstGeom>
          <a:ln w="12600">
            <a:solidFill>
              <a:srgbClr val="1F2C3A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-43920" bIns="-43920" anchor="ctr" wrap="none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2" name="Text Box 27"/>
          <p:cNvSpPr/>
          <p:nvPr/>
        </p:nvSpPr>
        <p:spPr>
          <a:xfrm>
            <a:off x="8153400" y="3002040"/>
            <a:ext cx="1946160" cy="82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LIMITING OUTBOUND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DISTANCE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3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TYPES OF HOLDING PATTERN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74" name="Rectangle 29"/>
          <p:cNvSpPr/>
          <p:nvPr/>
        </p:nvSpPr>
        <p:spPr>
          <a:xfrm>
            <a:off x="2567280" y="1703520"/>
            <a:ext cx="8725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6800" bIns="46800" anchor="t">
            <a:norm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2.  VOR/DME, HOLDING TOWARDS THE BEACON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49" name="design9049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49</a:t>
            </a:r>
          </a:p>
        </p:txBody>
      </p:sp>
    </p:spTree>
  </p:cSld>
  <p:transition>
    <p:wipe dir="d"/>
  </p:transition>
  <p:timing>
    <p:tnLst>
      <p:par>
        <p:cTn id="218" dur="indefinite" restart="never" nodeType="tmRoot">
          <p:childTnLst>
            <p:seq>
              <p:cTn id="219" dur="indefinite" nodeType="mainSeq">
                <p:childTnLst>
                  <p:par>
                    <p:cTn id="220" nodeType="clickEffect" fill="hold">
                      <p:stCondLst>
                        <p:cond delay="0"/>
                      </p:stCondLst>
                      <p:childTnLst>
                        <p:par>
                          <p:cTn id="2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2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24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27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30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33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36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39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42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45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48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51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54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57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60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63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66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69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72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nodeType="with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75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nodeType="clickEffect" fill="hold">
                      <p:stCondLst>
                        <p:cond delay="indefinite"/>
                      </p:stCondLst>
                      <p:childTnLst>
                        <p:par>
                          <p:cTn id="27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8" nodeType="clickEffect" fill="hold" presetClass="emph" presetID="6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9" dur="2000" fill="hold"/>
                                        <p:tgtEl>
                                          <p:spTgt spid="262"/>
                                        </p:tgtEl>
                                      </p:cBhvr>
                                      <p:to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281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82" dur="2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284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85" dur="2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nodeType="afterEffect" fill="hold">
                            <p:stCondLst>
                              <p:cond delay="6000"/>
                            </p:stCondLst>
                            <p:childTnLst>
                              <p:par>
                                <p:cTn id="287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88" dur="2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nodeType="afterEffect" fill="hold">
                            <p:stCondLst>
                              <p:cond delay="8000"/>
                            </p:stCondLst>
                            <p:childTnLst>
                              <p:par>
                                <p:cTn id="290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91" dur="2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nodeType="afterEffect" fill="hold">
                            <p:stCondLst>
                              <p:cond delay="10000"/>
                            </p:stCondLst>
                            <p:childTnLst>
                              <p:par>
                                <p:cTn id="293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94" dur="2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TYPES OF HOLDING PATTERN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76" name="AutoShape 10"/>
          <p:cNvSpPr/>
          <p:nvPr/>
        </p:nvSpPr>
        <p:spPr>
          <a:xfrm>
            <a:off x="9191640" y="5425920"/>
            <a:ext cx="504720" cy="524160"/>
          </a:xfrm>
          <a:prstGeom prst="sun">
            <a:avLst>
              <a:gd name="adj" fmla="val 25000"/>
            </a:avLst>
          </a:prstGeom>
          <a:solidFill>
            <a:srgbClr val="B3261E"/>
          </a:solidFill>
          <a:ln w="1260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7" name="Text Box 11"/>
          <p:cNvSpPr/>
          <p:nvPr/>
        </p:nvSpPr>
        <p:spPr>
          <a:xfrm>
            <a:off x="4069200" y="3885840"/>
            <a:ext cx="13510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OUTBOUND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8" name="Line 12"/>
          <p:cNvSpPr/>
          <p:nvPr/>
        </p:nvSpPr>
        <p:spPr>
          <a:xfrm>
            <a:off x="5333880" y="4038480"/>
            <a:ext cx="304920" cy="1800"/>
          </a:xfrm>
          <a:prstGeom prst="line">
            <a:avLst/>
          </a:prstGeom>
          <a:ln w="12600">
            <a:solidFill>
              <a:srgbClr val="1F2C3A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-45000" bIns="-45000" anchor="ctr" wrap="none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9" name="Text Box 13"/>
          <p:cNvSpPr/>
          <p:nvPr/>
        </p:nvSpPr>
        <p:spPr>
          <a:xfrm>
            <a:off x="4734120" y="5333760"/>
            <a:ext cx="11379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INBOUND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0" name="Line 14"/>
          <p:cNvSpPr/>
          <p:nvPr/>
        </p:nvSpPr>
        <p:spPr>
          <a:xfrm flipH="1">
            <a:off x="4495440" y="5486400"/>
            <a:ext cx="304920" cy="1440"/>
          </a:xfrm>
          <a:prstGeom prst="line">
            <a:avLst/>
          </a:prstGeom>
          <a:ln w="12600">
            <a:solidFill>
              <a:srgbClr val="1F2C3A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-45360" bIns="-45360" anchor="ctr" wrap="none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1" name="Text Box 15"/>
          <p:cNvSpPr/>
          <p:nvPr/>
        </p:nvSpPr>
        <p:spPr>
          <a:xfrm>
            <a:off x="2742240" y="6019920"/>
            <a:ext cx="115920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HOLDING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FIX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2" name="AutoShape 16"/>
          <p:cNvSpPr/>
          <p:nvPr/>
        </p:nvSpPr>
        <p:spPr>
          <a:xfrm rot="16200000">
            <a:off x="3009720" y="4686120"/>
            <a:ext cx="304560" cy="228600"/>
          </a:xfrm>
          <a:custGeom>
            <a:avLst/>
            <a:gdLst>
              <a:gd name="textAreaLeft" fmla="*/ 47520 w 304560"/>
              <a:gd name="textAreaRight" fmla="*/ 266760 w 304560"/>
              <a:gd name="textAreaTop" fmla="*/ 57240 h 228600"/>
              <a:gd name="textAreaBottom" fmla="*/ 171720 h 22860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1F2C3A"/>
          </a:solidFill>
          <a:ln w="1260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3" name="AutoShape 17"/>
          <p:cNvSpPr/>
          <p:nvPr/>
        </p:nvSpPr>
        <p:spPr>
          <a:xfrm rot="5430600">
            <a:off x="6819600" y="4610160"/>
            <a:ext cx="304920" cy="228600"/>
          </a:xfrm>
          <a:custGeom>
            <a:avLst/>
            <a:gdLst>
              <a:gd name="textAreaLeft" fmla="*/ 47520 w 304920"/>
              <a:gd name="textAreaRight" fmla="*/ 267120 w 304920"/>
              <a:gd name="textAreaTop" fmla="*/ 57240 h 228600"/>
              <a:gd name="textAreaBottom" fmla="*/ 171720 h 22860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1F2C3A"/>
          </a:solidFill>
          <a:ln w="1260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4" name="Text Box 19"/>
          <p:cNvSpPr/>
          <p:nvPr/>
        </p:nvSpPr>
        <p:spPr>
          <a:xfrm>
            <a:off x="9093000" y="5105160"/>
            <a:ext cx="10479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BEACON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5" name="AutoShape 21"/>
          <p:cNvSpPr/>
          <p:nvPr/>
        </p:nvSpPr>
        <p:spPr>
          <a:xfrm>
            <a:off x="4038600" y="5562720"/>
            <a:ext cx="295200" cy="228600"/>
          </a:xfrm>
          <a:prstGeom prst="triangle">
            <a:avLst>
              <a:gd name="adj" fmla="val 50000"/>
            </a:avLst>
          </a:prstGeom>
          <a:solidFill>
            <a:srgbClr val="B3261E"/>
          </a:solidFill>
          <a:ln w="1260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29520" bIns="2952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6" name="Line 22"/>
          <p:cNvSpPr/>
          <p:nvPr/>
        </p:nvSpPr>
        <p:spPr>
          <a:xfrm flipV="1">
            <a:off x="3657720" y="5866920"/>
            <a:ext cx="304560" cy="228600"/>
          </a:xfrm>
          <a:prstGeom prst="line">
            <a:avLst/>
          </a:prstGeom>
          <a:ln w="12600">
            <a:solidFill>
              <a:srgbClr val="1F2C3A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7" name="Text Box 23"/>
          <p:cNvSpPr/>
          <p:nvPr/>
        </p:nvSpPr>
        <p:spPr>
          <a:xfrm>
            <a:off x="5867400" y="5821200"/>
            <a:ext cx="162576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HOLDING DISTANCE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8" name="Text Box 26"/>
          <p:cNvSpPr/>
          <p:nvPr/>
        </p:nvSpPr>
        <p:spPr>
          <a:xfrm>
            <a:off x="6456360" y="3263760"/>
            <a:ext cx="273528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LIMITING OUTBOUND DISTANCE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289" name="Group 28"/>
          <p:cNvGrpSpPr/>
          <p:nvPr/>
        </p:nvGrpSpPr>
        <p:grpSpPr>
          <a:xfrm>
            <a:off x="2438400" y="3141360"/>
            <a:ext cx="7391520" cy="3212640"/>
            <a:chOff x="914400" y="3141360"/>
            <a:chExt cx="7391520" cy="3212640"/>
          </a:xfrm>
        </p:grpSpPr>
        <p:sp>
          <p:nvSpPr>
            <p:cNvPr id="290" name="Arc 4"/>
            <p:cNvSpPr/>
            <p:nvPr/>
          </p:nvSpPr>
          <p:spPr>
            <a:xfrm rot="10851000">
              <a:off x="1828440" y="4800600"/>
              <a:ext cx="914400" cy="914400"/>
            </a:xfrm>
            <a:custGeom>
              <a:avLst/>
              <a:gdLst>
                <a:gd name="textAreaLeft" fmla="*/ 0 w 914400"/>
                <a:gd name="textAreaRight" fmla="*/ 914760 w 914400"/>
                <a:gd name="textAreaTop" fmla="*/ 0 h 914400"/>
                <a:gd name="textAreaBottom" fmla="*/ 914760 h 914400"/>
              </a:gdLst>
              <a:ahLst/>
              <a:rect l="textAreaLeft" t="textAreaTop" r="textAreaRight" b="textAreaBottom"/>
              <a:pathLst>
                <a:path fill="none" w="21600" h="21600">
                  <a:moveTo>
                    <a:pt x="23" y="0"/>
                  </a:moveTo>
                  <a:cubicBezTo>
                    <a:pt x="11935" y="13"/>
                    <a:pt x="21588" y="9667"/>
                    <a:pt x="21599" y="21579"/>
                  </a:cubicBezTo>
                </a:path>
                <a:path stroke="0" w="21600" h="21600">
                  <a:moveTo>
                    <a:pt x="23" y="0"/>
                  </a:moveTo>
                  <a:cubicBezTo>
                    <a:pt x="11935" y="13"/>
                    <a:pt x="21588" y="9667"/>
                    <a:pt x="21599" y="21579"/>
                  </a:cubicBezTo>
                  <a:lnTo>
                    <a:pt x="0" y="21600"/>
                  </a:lnTo>
                  <a:lnTo>
                    <a:pt x="23" y="0"/>
                  </a:lnTo>
                  <a:close/>
                </a:path>
              </a:pathLst>
            </a:custGeom>
            <a:noFill/>
            <a:ln w="28440">
              <a:solidFill>
                <a:srgbClr val="1F2C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1" name="Arc 5"/>
            <p:cNvSpPr/>
            <p:nvPr/>
          </p:nvSpPr>
          <p:spPr>
            <a:xfrm rot="16200000">
              <a:off x="1712160" y="3926520"/>
              <a:ext cx="1147680" cy="914400"/>
            </a:xfrm>
            <a:custGeom>
              <a:avLst/>
              <a:gdLst>
                <a:gd name="textAreaLeft" fmla="*/ 0 w 1147680"/>
                <a:gd name="textAreaRight" fmla="*/ 1148040 w 1147680"/>
                <a:gd name="textAreaTop" fmla="*/ 0 h 914400"/>
                <a:gd name="textAreaBottom" fmla="*/ 914760 h 914400"/>
              </a:gdLst>
              <a:ahLst/>
              <a:rect l="textAreaLeft" t="textAreaTop" r="textAreaRight" b="textAreaBottom"/>
              <a:pathLst>
                <a:path fill="none" w="27099" h="21600">
                  <a:moveTo>
                    <a:pt x="-1" y="711"/>
                  </a:moveTo>
                  <a:cubicBezTo>
                    <a:pt x="1794" y="239"/>
                    <a:pt x="3643" y="-1"/>
                    <a:pt x="5499" y="0"/>
                  </a:cubicBezTo>
                  <a:cubicBezTo>
                    <a:pt x="17428" y="0"/>
                    <a:pt x="27099" y="9670"/>
                    <a:pt x="27099" y="21600"/>
                  </a:cubicBezTo>
                </a:path>
                <a:path stroke="0" w="27099" h="21600">
                  <a:moveTo>
                    <a:pt x="-1" y="711"/>
                  </a:moveTo>
                  <a:cubicBezTo>
                    <a:pt x="1794" y="239"/>
                    <a:pt x="3643" y="-1"/>
                    <a:pt x="5499" y="0"/>
                  </a:cubicBezTo>
                  <a:cubicBezTo>
                    <a:pt x="17428" y="0"/>
                    <a:pt x="27099" y="9670"/>
                    <a:pt x="27099" y="21600"/>
                  </a:cubicBezTo>
                  <a:lnTo>
                    <a:pt x="5499" y="21600"/>
                  </a:lnTo>
                  <a:lnTo>
                    <a:pt x="-1" y="711"/>
                  </a:lnTo>
                  <a:close/>
                </a:path>
              </a:pathLst>
            </a:custGeom>
            <a:noFill/>
            <a:ln w="28440">
              <a:solidFill>
                <a:srgbClr val="1F2C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2" name="Arc 6"/>
            <p:cNvSpPr/>
            <p:nvPr/>
          </p:nvSpPr>
          <p:spPr>
            <a:xfrm rot="5298600">
              <a:off x="4418280" y="4801320"/>
              <a:ext cx="914400" cy="912600"/>
            </a:xfrm>
            <a:custGeom>
              <a:avLst/>
              <a:gdLst>
                <a:gd name="textAreaLeft" fmla="*/ 0 w 914400"/>
                <a:gd name="textAreaRight" fmla="*/ 914760 w 91440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fill="none" w="21600" h="21567">
                  <a:moveTo>
                    <a:pt x="1201" y="0"/>
                  </a:moveTo>
                  <a:cubicBezTo>
                    <a:pt x="12646" y="638"/>
                    <a:pt x="21600" y="10104"/>
                    <a:pt x="21600" y="21567"/>
                  </a:cubicBezTo>
                </a:path>
                <a:path stroke="0" w="21600" h="21567">
                  <a:moveTo>
                    <a:pt x="1201" y="0"/>
                  </a:moveTo>
                  <a:cubicBezTo>
                    <a:pt x="12646" y="638"/>
                    <a:pt x="21600" y="10104"/>
                    <a:pt x="21600" y="21567"/>
                  </a:cubicBezTo>
                  <a:lnTo>
                    <a:pt x="0" y="21567"/>
                  </a:lnTo>
                  <a:lnTo>
                    <a:pt x="1201" y="0"/>
                  </a:lnTo>
                  <a:close/>
                </a:path>
              </a:pathLst>
            </a:custGeom>
            <a:noFill/>
            <a:ln w="28440">
              <a:solidFill>
                <a:srgbClr val="1F2C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3" name="Arc 7"/>
            <p:cNvSpPr/>
            <p:nvPr/>
          </p:nvSpPr>
          <p:spPr>
            <a:xfrm>
              <a:off x="4419720" y="3809880"/>
              <a:ext cx="914400" cy="1087200"/>
            </a:xfrm>
            <a:custGeom>
              <a:avLst/>
              <a:gdLst>
                <a:gd name="textAreaLeft" fmla="*/ 0 w 914400"/>
                <a:gd name="textAreaRight" fmla="*/ 914760 w 914400"/>
                <a:gd name="textAreaTop" fmla="*/ 0 h 1087200"/>
                <a:gd name="textAreaBottom" fmla="*/ 1087560 h 1087200"/>
              </a:gdLst>
              <a:ahLst/>
              <a:rect l="textAreaLeft" t="textAreaTop" r="textAreaRight" b="textAreaBottom"/>
              <a:pathLst>
                <a:path fill="none" w="21600" h="25685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970"/>
                    <a:pt x="21469" y="24338"/>
                    <a:pt x="21210" y="25685"/>
                  </a:cubicBezTo>
                </a:path>
                <a:path stroke="0" w="21600" h="25685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970"/>
                    <a:pt x="21469" y="24338"/>
                    <a:pt x="21210" y="2568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440">
              <a:solidFill>
                <a:srgbClr val="1F2C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4" name="Line 8"/>
            <p:cNvSpPr/>
            <p:nvPr/>
          </p:nvSpPr>
          <p:spPr>
            <a:xfrm>
              <a:off x="2743200" y="3809880"/>
              <a:ext cx="1752480" cy="1440"/>
            </a:xfrm>
            <a:prstGeom prst="line">
              <a:avLst/>
            </a:prstGeom>
            <a:ln w="2844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5" name="Line 9"/>
            <p:cNvSpPr/>
            <p:nvPr/>
          </p:nvSpPr>
          <p:spPr>
            <a:xfrm flipV="1">
              <a:off x="914400" y="5715000"/>
              <a:ext cx="7391520" cy="1440"/>
            </a:xfrm>
            <a:prstGeom prst="line">
              <a:avLst/>
            </a:prstGeom>
            <a:ln w="2844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6" name="Line 18"/>
            <p:cNvSpPr/>
            <p:nvPr/>
          </p:nvSpPr>
          <p:spPr>
            <a:xfrm flipH="1" flipV="1">
              <a:off x="3419280" y="3141360"/>
              <a:ext cx="4200480" cy="2344680"/>
            </a:xfrm>
            <a:prstGeom prst="line">
              <a:avLst/>
            </a:prstGeom>
            <a:ln w="12600">
              <a:solidFill>
                <a:srgbClr val="1F2C3A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7" name="Arc 20"/>
            <p:cNvSpPr/>
            <p:nvPr/>
          </p:nvSpPr>
          <p:spPr>
            <a:xfrm rot="16396800">
              <a:off x="4266720" y="3580920"/>
              <a:ext cx="914400" cy="914400"/>
            </a:xfrm>
            <a:custGeom>
              <a:avLst/>
              <a:gdLst>
                <a:gd name="textAreaLeft" fmla="*/ 0 w 914400"/>
                <a:gd name="textAreaRight" fmla="*/ 914760 w 914400"/>
                <a:gd name="textAreaTop" fmla="*/ 0 h 914400"/>
                <a:gd name="textAreaBottom" fmla="*/ 914760 h 914400"/>
              </a:gdLst>
              <a:ahLst/>
              <a:rect l="textAreaLeft" t="textAreaTop" r="textAreaRight" b="textAreaBottom"/>
              <a:pathLst>
                <a:path fill="none" w="21600" h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stroke="0" w="21600" h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600">
              <a:solidFill>
                <a:srgbClr val="1F2C3A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8" name="Line 24"/>
            <p:cNvSpPr/>
            <p:nvPr/>
          </p:nvSpPr>
          <p:spPr>
            <a:xfrm>
              <a:off x="5943600" y="6096240"/>
              <a:ext cx="1905120" cy="1440"/>
            </a:xfrm>
            <a:prstGeom prst="line">
              <a:avLst/>
            </a:prstGeom>
            <a:ln w="12600">
              <a:solidFill>
                <a:srgbClr val="1F2C3A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9" name="Line 25"/>
            <p:cNvSpPr/>
            <p:nvPr/>
          </p:nvSpPr>
          <p:spPr>
            <a:xfrm flipH="1">
              <a:off x="2666880" y="6096240"/>
              <a:ext cx="1676160" cy="1440"/>
            </a:xfrm>
            <a:prstGeom prst="line">
              <a:avLst/>
            </a:prstGeom>
            <a:ln w="12600">
              <a:solidFill>
                <a:srgbClr val="1F2C3A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0" name="Arc 27"/>
            <p:cNvSpPr/>
            <p:nvPr/>
          </p:nvSpPr>
          <p:spPr>
            <a:xfrm rot="14025600">
              <a:off x="2437920" y="5257440"/>
              <a:ext cx="914400" cy="914400"/>
            </a:xfrm>
            <a:custGeom>
              <a:avLst/>
              <a:gdLst>
                <a:gd name="textAreaLeft" fmla="*/ 0 w 914400"/>
                <a:gd name="textAreaRight" fmla="*/ 914760 w 914400"/>
                <a:gd name="textAreaTop" fmla="*/ 0 h 914400"/>
                <a:gd name="textAreaBottom" fmla="*/ 914760 h 914400"/>
              </a:gdLst>
              <a:ahLst/>
              <a:rect l="textAreaLeft" t="textAreaTop" r="textAreaRight" b="textAreaBottom"/>
              <a:pathLst>
                <a:path fill="none" w="21600" h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stroke="0" w="21600" h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600">
              <a:solidFill>
                <a:srgbClr val="1F2C3A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301" name="Rectangle 28"/>
          <p:cNvSpPr/>
          <p:nvPr/>
        </p:nvSpPr>
        <p:spPr>
          <a:xfrm>
            <a:off x="2424360" y="1557360"/>
            <a:ext cx="88684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6800" bIns="46800" anchor="t">
            <a:norm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3.  VOR/DME, HOLDING AWAY FROM THE BEACON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50" name="design9050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</p:spTree>
  </p:cSld>
  <p:transition>
    <p:wipe dir="d"/>
  </p:transition>
  <p:timing>
    <p:tnLst>
      <p:par>
        <p:cTn id="295" dur="indefinite" restart="never" nodeType="tmRoot">
          <p:childTnLst>
            <p:seq>
              <p:cTn id="296" dur="indefinite" nodeType="mainSeq">
                <p:childTnLst>
                  <p:par>
                    <p:cTn id="297" nodeType="clickEffect" fill="hold">
                      <p:stCondLst>
                        <p:cond delay="indefinite"/>
                      </p:stCondLst>
                      <p:childTnLst>
                        <p:par>
                          <p:cTn id="29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9" nodeType="clickEffect" fill="hold" presetClass="emph" presetID="6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0" dur="2000" fill="hold"/>
                                        <p:tgtEl>
                                          <p:spTgt spid="283"/>
                                        </p:tgtEl>
                                      </p:cBhvr>
                                      <p:to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302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3" dur="20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305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6" dur="20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nodeType="afterEffect" fill="hold">
                            <p:stCondLst>
                              <p:cond delay="6000"/>
                            </p:stCondLst>
                            <p:childTnLst>
                              <p:par>
                                <p:cTn id="308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9" dur="20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nodeType="afterEffect" fill="hold">
                            <p:stCondLst>
                              <p:cond delay="8000"/>
                            </p:stCondLst>
                            <p:childTnLst>
                              <p:par>
                                <p:cTn id="311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12" dur="20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nodeType="afterEffect" fill="hold">
                            <p:stCondLst>
                              <p:cond delay="10000"/>
                            </p:stCondLst>
                            <p:childTnLst>
                              <p:par>
                                <p:cTn id="314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15" dur="20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11"/>
          <p:cNvSpPr/>
          <p:nvPr/>
        </p:nvSpPr>
        <p:spPr>
          <a:xfrm>
            <a:off x="868680" y="256032"/>
            <a:ext cx="10424160" cy="786384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2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HOLDING PROCEDURES</a:t>
            </a:r>
            <a:endParaRPr b="1" lang="en-US" sz="22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303" name="Rectangle 10"/>
          <p:cNvSpPr/>
          <p:nvPr/>
        </p:nvSpPr>
        <p:spPr>
          <a:xfrm>
            <a:off x="1848000" y="1339920"/>
            <a:ext cx="8229600" cy="48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 algn="l">
              <a:lnSpc>
                <a:spcPct val="80000"/>
              </a:lnSpc>
              <a:spcBef>
                <a:spcPts val="499"/>
              </a:spcBef>
              <a:buClr>
                <a:srgbClr val="B3261E"/>
              </a:buClr>
              <a:buSzPct val="12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80000"/>
              </a:lnSpc>
              <a:spcBef>
                <a:spcPts val="499"/>
              </a:spcBef>
              <a:buClr>
                <a:srgbClr val="B3261E"/>
              </a:buClr>
              <a:buSzPct val="12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ALL TURNS TO BE RATE 1 (3°/SECOND) OR 25° AOB.</a:t>
            </a:r>
            <a:endParaRPr b="0" lang="en-US" sz="20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80000"/>
              </a:lnSpc>
              <a:spcBef>
                <a:spcPts val="499"/>
              </a:spcBef>
              <a:buClr>
                <a:srgbClr val="B3261E"/>
              </a:buClr>
              <a:buSzPct val="12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80000"/>
              </a:lnSpc>
              <a:spcBef>
                <a:spcPts val="499"/>
              </a:spcBef>
              <a:buClr>
                <a:srgbClr val="B3261E"/>
              </a:buClr>
              <a:buSzPct val="12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ALL PROCEDURES DEPICT TRACKS, TRACKS SHOULD BE MAINTAINED BY MAKING ALLOWANCE FOR WIND BY APPLYING CORRECTIONS TO HEADINGS AND TIMINGS DURING ENTRY AND HOLDING PROCEDURES.</a:t>
            </a:r>
            <a:endParaRPr b="0" lang="en-US" sz="20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80000"/>
              </a:lnSpc>
              <a:spcBef>
                <a:spcPts val="499"/>
              </a:spcBef>
              <a:buClr>
                <a:srgbClr val="B3261E"/>
              </a:buClr>
              <a:buSzPct val="12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80000"/>
              </a:lnSpc>
              <a:spcBef>
                <a:spcPts val="499"/>
              </a:spcBef>
              <a:buClr>
                <a:srgbClr val="B3261E"/>
              </a:buClr>
              <a:buSzPct val="12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OUTBOUND TIMING STARTS ABEAM THE FIX (IF ABEAM POSITION CANNOT BE DETERMINED,START TIMING UPON COMPLETION OF OUTBOUND TURN).</a:t>
            </a:r>
            <a:endParaRPr b="0" lang="en-US" sz="20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80000"/>
              </a:lnSpc>
              <a:spcBef>
                <a:spcPts val="499"/>
              </a:spcBef>
              <a:buClr>
                <a:srgbClr val="B3261E"/>
              </a:buClr>
              <a:buSzPct val="12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IF THE OUTBOUND LEG LENGTH IS BASED ON A DME DISTANCE. THE OUTBOUND LEG ENDS AS SOON AS THE LIMITING DME DISTANCE IS ACHIEVED</a:t>
            </a:r>
            <a:endParaRPr b="0" lang="en-US" sz="20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80000"/>
              </a:lnSpc>
              <a:spcBef>
                <a:spcPts val="499"/>
              </a:spcBef>
              <a:buClr>
                <a:srgbClr val="B3261E"/>
              </a:buClr>
              <a:buSzPct val="12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51" name="design9051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51</a:t>
            </a:r>
          </a:p>
        </p:txBody>
      </p:sp>
    </p:spTree>
  </p:cSld>
  <p:transition>
    <p:dissolve/>
  </p:transition>
  <p:timing>
    <p:tnLst>
      <p:par>
        <p:cTn id="316" dur="indefinite" restart="never" nodeType="tmRoot">
          <p:childTnLst>
            <p:seq>
              <p:cTn id="317" dur="indefinite" nodeType="mainSeq">
                <p:childTnLst>
                  <p:par>
                    <p:cTn id="318" nodeType="clickEffect" fill="hold">
                      <p:stCondLst>
                        <p:cond delay="indefinite"/>
                      </p:stCondLst>
                      <p:childTnLst>
                        <p:par>
                          <p:cTn id="3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0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22" dur="500"/>
                                        <p:tgtEl>
                                          <p:spTgt spid="3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nodeType="clickEffect" fill="hold">
                      <p:stCondLst>
                        <p:cond delay="indefinite"/>
                      </p:stCondLst>
                      <p:childTnLst>
                        <p:par>
                          <p:cTn id="32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nodeType="after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8" nodeType="after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30" dur="500"/>
                                        <p:tgtEl>
                                          <p:spTgt spid="3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nodeType="clickEffect" fill="hold">
                      <p:stCondLst>
                        <p:cond delay="indefinite"/>
                      </p:stCondLst>
                      <p:childTnLst>
                        <p:par>
                          <p:cTn id="3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3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nodeType="after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6" nodeType="after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38" dur="500"/>
                                        <p:tgtEl>
                                          <p:spTgt spid="3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47" dur="500"/>
                                        <p:tgtEl>
                                          <p:spTgt spid="3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Rectangle 10"/>
          <p:cNvSpPr/>
          <p:nvPr/>
        </p:nvSpPr>
        <p:spPr>
          <a:xfrm>
            <a:off x="1992360" y="2852640"/>
            <a:ext cx="8229600" cy="266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 algn="l">
              <a:lnSpc>
                <a:spcPct val="100000"/>
              </a:lnSpc>
              <a:spcBef>
                <a:spcPts val="799"/>
              </a:spcBef>
              <a:buClr>
                <a:srgbClr val="9A6510"/>
              </a:buClr>
              <a:buSzPct val="7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There are 3 entry sectors:</a:t>
            </a:r>
            <a:endParaRPr b="0" lang="en-US" sz="32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0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sector 1 (parallel entry)</a:t>
            </a:r>
            <a:endParaRPr b="0" lang="en-US" sz="32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0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sector 2 (offset entry)</a:t>
            </a:r>
            <a:endParaRPr b="0" lang="en-US" sz="32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0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sector 3 (direct entry) </a:t>
            </a:r>
            <a:endParaRPr b="0" lang="en-US" sz="32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00000"/>
              </a:lnSpc>
              <a:spcBef>
                <a:spcPts val="799"/>
              </a:spcBef>
              <a:buClr>
                <a:srgbClr val="9A6510"/>
              </a:buClr>
              <a:buSzPct val="7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5" name="WordArt 11"/>
          <p:cNvSpPr txBox="1"/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ENTRY</a:t>
            </a:r>
            <a:endParaRPr b="1" lang="en-US" sz="2600" spc="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9052" name="design9052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52</a:t>
            </a:r>
          </a:p>
        </p:txBody>
      </p:sp>
    </p:spTree>
  </p:cSld>
  <p:transition>
    <p:dissolve/>
  </p:transition>
  <p:timing>
    <p:tnLst>
      <p:par>
        <p:cTn id="352" dur="indefinite" restart="never" nodeType="tmRoot">
          <p:childTnLst>
            <p:seq>
              <p:cTn id="353" dur="indefinite" nodeType="mainSeq">
                <p:childTnLst>
                  <p:par>
                    <p:cTn id="354" nodeType="clickEffect" fill="hold">
                      <p:stCondLst>
                        <p:cond delay="indefinite"/>
                      </p:stCondLst>
                      <p:childTnLst>
                        <p:par>
                          <p:cTn id="35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6" nodeType="clickEffect" fill="hold" presetClass="entr" presetID="4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8" dur="500"/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59" dur="500" fill="hold"/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0" dur="500" fill="hold"/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nodeType="clickEffect" fill="hold">
                      <p:stCondLst>
                        <p:cond delay="indefinite"/>
                      </p:stCondLst>
                      <p:childTnLst>
                        <p:par>
                          <p:cTn id="36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3" nodeType="clickEffect" fill="hold" presetClass="entr" presetID="4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5" dur="500"/>
                                        <p:tgtEl>
                                          <p:spTgt spid="3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66" dur="500" fill="hold"/>
                                        <p:tgtEl>
                                          <p:spTgt spid="3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7" dur="500" fill="hold"/>
                                        <p:tgtEl>
                                          <p:spTgt spid="3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nodeType="clickEffect" fill="hold">
                      <p:stCondLst>
                        <p:cond delay="indefinite"/>
                      </p:stCondLst>
                      <p:childTnLst>
                        <p:par>
                          <p:cTn id="3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0" nodeType="clickEffect" fill="hold" presetClass="entr" presetID="4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2" dur="500"/>
                                        <p:tgtEl>
                                          <p:spTgt spid="3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73" dur="500" fill="hold"/>
                                        <p:tgtEl>
                                          <p:spTgt spid="3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4" dur="500" fill="hold"/>
                                        <p:tgtEl>
                                          <p:spTgt spid="3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nodeType="clickEffect" fill="hold">
                      <p:stCondLst>
                        <p:cond delay="indefinite"/>
                      </p:stCondLst>
                      <p:childTnLst>
                        <p:par>
                          <p:cTn id="3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7" nodeType="clickEffect" fill="hold" presetClass="entr" presetID="4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9" dur="500"/>
                                        <p:tgtEl>
                                          <p:spTgt spid="3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80" dur="500" fill="hold"/>
                                        <p:tgtEl>
                                          <p:spTgt spid="3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1" dur="500" fill="hold"/>
                                        <p:tgtEl>
                                          <p:spTgt spid="3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/>
        </p:nvSpPr>
        <p:spPr>
          <a:xfrm>
            <a:off x="1594920" y="907920"/>
            <a:ext cx="8821800" cy="274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40"/>
          </a:bodyPr>
          <a:p>
            <a:pPr marL="343080" indent="-343080" algn="l">
              <a:lnSpc>
                <a:spcPct val="11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SECTOR </a:t>
            </a:r>
            <a:r>
              <a:rPr b="1" lang="en-US" sz="4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1</a:t>
            </a: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, (PARALLEL ENTRY)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1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1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FROM OVERHEAD FIX, A/C TURNED ONTO OUTBOUND HEADING (1 MINUTE, WIND ADJUSTED).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1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1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A/C TURNED ONTO HOLDING SIDE TO INTERCEPT INBOUND TRACK OR TO RETURN TO FIX.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1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1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1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1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1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1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7" name="AutoShape 10"/>
          <p:cNvSpPr/>
          <p:nvPr/>
        </p:nvSpPr>
        <p:spPr>
          <a:xfrm>
            <a:off x="5410200" y="5486400"/>
            <a:ext cx="380880" cy="380880"/>
          </a:xfrm>
          <a:prstGeom prst="sun">
            <a:avLst>
              <a:gd name="adj" fmla="val 25000"/>
            </a:avLst>
          </a:prstGeom>
          <a:solidFill>
            <a:srgbClr val="B3261E"/>
          </a:solidFill>
          <a:ln w="1260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308" name="Group 30"/>
          <p:cNvGrpSpPr/>
          <p:nvPr/>
        </p:nvGrpSpPr>
        <p:grpSpPr>
          <a:xfrm>
            <a:off x="2590680" y="3657240"/>
            <a:ext cx="6890040" cy="2895480"/>
            <a:chOff x="1066680" y="3657240"/>
            <a:chExt cx="6890040" cy="2895480"/>
          </a:xfrm>
        </p:grpSpPr>
        <p:sp>
          <p:nvSpPr>
            <p:cNvPr id="309" name="Arc 4"/>
            <p:cNvSpPr/>
            <p:nvPr/>
          </p:nvSpPr>
          <p:spPr>
            <a:xfrm rot="10851000">
              <a:off x="3285360" y="4800240"/>
              <a:ext cx="903240" cy="914400"/>
            </a:xfrm>
            <a:custGeom>
              <a:avLst/>
              <a:gdLst>
                <a:gd name="textAreaLeft" fmla="*/ 0 w 903240"/>
                <a:gd name="textAreaRight" fmla="*/ 903600 w 903240"/>
                <a:gd name="textAreaTop" fmla="*/ 0 h 914400"/>
                <a:gd name="textAreaBottom" fmla="*/ 914760 h 914400"/>
              </a:gdLst>
              <a:ahLst/>
              <a:rect l="textAreaLeft" t="textAreaTop" r="textAreaRight" b="textAreaBottom"/>
              <a:pathLst>
                <a:path fill="none" w="21363" h="21600">
                  <a:moveTo>
                    <a:pt x="23" y="0"/>
                  </a:moveTo>
                  <a:cubicBezTo>
                    <a:pt x="10711" y="11"/>
                    <a:pt x="19782" y="7837"/>
                    <a:pt x="21362" y="18407"/>
                  </a:cubicBezTo>
                </a:path>
                <a:path stroke="0" w="21363" h="21600">
                  <a:moveTo>
                    <a:pt x="23" y="0"/>
                  </a:moveTo>
                  <a:cubicBezTo>
                    <a:pt x="10711" y="11"/>
                    <a:pt x="19782" y="7837"/>
                    <a:pt x="21362" y="18407"/>
                  </a:cubicBezTo>
                  <a:lnTo>
                    <a:pt x="0" y="21600"/>
                  </a:lnTo>
                  <a:lnTo>
                    <a:pt x="23" y="0"/>
                  </a:lnTo>
                  <a:close/>
                </a:path>
              </a:pathLst>
            </a:custGeom>
            <a:noFill/>
            <a:ln w="38160">
              <a:solidFill>
                <a:srgbClr val="1F2C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0" name="Arc 5"/>
            <p:cNvSpPr/>
            <p:nvPr/>
          </p:nvSpPr>
          <p:spPr>
            <a:xfrm rot="16200000">
              <a:off x="3286440" y="4199400"/>
              <a:ext cx="914400" cy="896760"/>
            </a:xfrm>
            <a:custGeom>
              <a:avLst/>
              <a:gdLst>
                <a:gd name="textAreaLeft" fmla="*/ 0 w 914400"/>
                <a:gd name="textAreaRight" fmla="*/ 914760 w 914400"/>
                <a:gd name="textAreaTop" fmla="*/ 0 h 896760"/>
                <a:gd name="textAreaBottom" fmla="*/ 897120 h 896760"/>
              </a:gdLst>
              <a:ahLst/>
              <a:rect l="textAreaLeft" t="textAreaTop" r="textAreaRight" b="textAreaBottom"/>
              <a:pathLst>
                <a:path fill="none" w="21600" h="21183">
                  <a:moveTo>
                    <a:pt x="4221" y="-1"/>
                  </a:moveTo>
                  <a:cubicBezTo>
                    <a:pt x="14324" y="2012"/>
                    <a:pt x="21600" y="10880"/>
                    <a:pt x="21600" y="21183"/>
                  </a:cubicBezTo>
                </a:path>
                <a:path stroke="0" w="21600" h="21183">
                  <a:moveTo>
                    <a:pt x="4221" y="-1"/>
                  </a:moveTo>
                  <a:cubicBezTo>
                    <a:pt x="14324" y="2012"/>
                    <a:pt x="21600" y="10880"/>
                    <a:pt x="21600" y="21183"/>
                  </a:cubicBezTo>
                  <a:lnTo>
                    <a:pt x="0" y="21183"/>
                  </a:lnTo>
                  <a:lnTo>
                    <a:pt x="4221" y="-1"/>
                  </a:lnTo>
                  <a:close/>
                </a:path>
              </a:pathLst>
            </a:custGeom>
            <a:noFill/>
            <a:ln w="38160">
              <a:solidFill>
                <a:srgbClr val="1F2C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1" name="Arc 6"/>
            <p:cNvSpPr/>
            <p:nvPr/>
          </p:nvSpPr>
          <p:spPr>
            <a:xfrm rot="5298600">
              <a:off x="5941440" y="4771800"/>
              <a:ext cx="914400" cy="911160"/>
            </a:xfrm>
            <a:custGeom>
              <a:avLst/>
              <a:gdLst>
                <a:gd name="textAreaLeft" fmla="*/ 0 w 914400"/>
                <a:gd name="textAreaRight" fmla="*/ 914760 w 914400"/>
                <a:gd name="textAreaTop" fmla="*/ 0 h 911160"/>
                <a:gd name="textAreaBottom" fmla="*/ 911520 h 911160"/>
              </a:gdLst>
              <a:ahLst/>
              <a:rect l="textAreaLeft" t="textAreaTop" r="textAreaRight" b="textAreaBottom"/>
              <a:pathLst>
                <a:path fill="none" w="21600" h="21530">
                  <a:moveTo>
                    <a:pt x="1741" y="0"/>
                  </a:moveTo>
                  <a:cubicBezTo>
                    <a:pt x="12959" y="907"/>
                    <a:pt x="21600" y="10276"/>
                    <a:pt x="21600" y="21530"/>
                  </a:cubicBezTo>
                </a:path>
                <a:path stroke="0" w="21600" h="21530">
                  <a:moveTo>
                    <a:pt x="1741" y="0"/>
                  </a:moveTo>
                  <a:cubicBezTo>
                    <a:pt x="12959" y="907"/>
                    <a:pt x="21600" y="10276"/>
                    <a:pt x="21600" y="21530"/>
                  </a:cubicBezTo>
                  <a:lnTo>
                    <a:pt x="0" y="21530"/>
                  </a:lnTo>
                  <a:lnTo>
                    <a:pt x="1741" y="0"/>
                  </a:lnTo>
                  <a:close/>
                </a:path>
              </a:pathLst>
            </a:custGeom>
            <a:noFill/>
            <a:ln w="38160">
              <a:solidFill>
                <a:srgbClr val="1F2C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2" name="Arc 7"/>
            <p:cNvSpPr/>
            <p:nvPr/>
          </p:nvSpPr>
          <p:spPr>
            <a:xfrm>
              <a:off x="5854680" y="4192560"/>
              <a:ext cx="977760" cy="914400"/>
            </a:xfrm>
            <a:custGeom>
              <a:avLst/>
              <a:gdLst>
                <a:gd name="textAreaLeft" fmla="*/ 0 w 977760"/>
                <a:gd name="textAreaRight" fmla="*/ 978120 w 977760"/>
                <a:gd name="textAreaTop" fmla="*/ 0 h 914400"/>
                <a:gd name="textAreaBottom" fmla="*/ 914760 h 914400"/>
              </a:gdLst>
              <a:ahLst/>
              <a:rect l="textAreaLeft" t="textAreaTop" r="textAreaRight" b="textAreaBottom"/>
              <a:pathLst>
                <a:path fill="none" w="23083" h="21600">
                  <a:moveTo>
                    <a:pt x="-1" y="104"/>
                  </a:moveTo>
                  <a:cubicBezTo>
                    <a:pt x="706" y="35"/>
                    <a:pt x="1416" y="-1"/>
                    <a:pt x="2127" y="0"/>
                  </a:cubicBezTo>
                  <a:cubicBezTo>
                    <a:pt x="12039" y="0"/>
                    <a:pt x="20679" y="6746"/>
                    <a:pt x="23082" y="16363"/>
                  </a:cubicBezTo>
                </a:path>
                <a:path stroke="0" w="23083" h="21600">
                  <a:moveTo>
                    <a:pt x="-1" y="104"/>
                  </a:moveTo>
                  <a:cubicBezTo>
                    <a:pt x="706" y="35"/>
                    <a:pt x="1416" y="-1"/>
                    <a:pt x="2127" y="0"/>
                  </a:cubicBezTo>
                  <a:cubicBezTo>
                    <a:pt x="12039" y="0"/>
                    <a:pt x="20679" y="6746"/>
                    <a:pt x="23082" y="16363"/>
                  </a:cubicBezTo>
                  <a:lnTo>
                    <a:pt x="2127" y="21600"/>
                  </a:lnTo>
                  <a:lnTo>
                    <a:pt x="-1" y="104"/>
                  </a:lnTo>
                  <a:close/>
                </a:path>
              </a:pathLst>
            </a:custGeom>
            <a:noFill/>
            <a:ln w="38160">
              <a:solidFill>
                <a:srgbClr val="1F2C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3" name="Line 8"/>
            <p:cNvSpPr/>
            <p:nvPr/>
          </p:nvSpPr>
          <p:spPr>
            <a:xfrm>
              <a:off x="4191120" y="4190760"/>
              <a:ext cx="1752480" cy="0"/>
            </a:xfrm>
            <a:prstGeom prst="line">
              <a:avLst/>
            </a:prstGeom>
            <a:ln w="3816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4" name="Line 9"/>
            <p:cNvSpPr/>
            <p:nvPr/>
          </p:nvSpPr>
          <p:spPr>
            <a:xfrm>
              <a:off x="1066680" y="5715000"/>
              <a:ext cx="2971800" cy="0"/>
            </a:xfrm>
            <a:prstGeom prst="line">
              <a:avLst/>
            </a:prstGeom>
            <a:ln w="2844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5" name="Line 11"/>
            <p:cNvSpPr/>
            <p:nvPr/>
          </p:nvSpPr>
          <p:spPr>
            <a:xfrm>
              <a:off x="3929040" y="4190760"/>
              <a:ext cx="304560" cy="0"/>
            </a:xfrm>
            <a:prstGeom prst="line">
              <a:avLst/>
            </a:prstGeom>
            <a:ln w="57240">
              <a:solidFill>
                <a:srgbClr val="10263F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-46800" bIns="-46800" anchor="ctr" wrap="none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6" name="Line 12"/>
            <p:cNvSpPr/>
            <p:nvPr/>
          </p:nvSpPr>
          <p:spPr>
            <a:xfrm flipH="1">
              <a:off x="5838840" y="5643720"/>
              <a:ext cx="304560" cy="0"/>
            </a:xfrm>
            <a:prstGeom prst="line">
              <a:avLst/>
            </a:prstGeom>
            <a:ln w="57240">
              <a:solidFill>
                <a:srgbClr val="10263F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-46800" bIns="-46800" anchor="ctr" wrap="none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7" name="Line 13"/>
            <p:cNvSpPr/>
            <p:nvPr/>
          </p:nvSpPr>
          <p:spPr>
            <a:xfrm flipV="1">
              <a:off x="3429000" y="3657240"/>
              <a:ext cx="2133720" cy="2895480"/>
            </a:xfrm>
            <a:prstGeom prst="line">
              <a:avLst/>
            </a:prstGeom>
            <a:ln w="1260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8" name="Line 14"/>
            <p:cNvSpPr/>
            <p:nvPr/>
          </p:nvSpPr>
          <p:spPr>
            <a:xfrm>
              <a:off x="4140360" y="5715000"/>
              <a:ext cx="1905120" cy="0"/>
            </a:xfrm>
            <a:prstGeom prst="line">
              <a:avLst/>
            </a:prstGeom>
            <a:ln w="3816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9" name="Line 15"/>
            <p:cNvSpPr/>
            <p:nvPr/>
          </p:nvSpPr>
          <p:spPr>
            <a:xfrm>
              <a:off x="6012000" y="5715000"/>
              <a:ext cx="1944720" cy="18720"/>
            </a:xfrm>
            <a:prstGeom prst="line">
              <a:avLst/>
            </a:prstGeom>
            <a:ln w="2844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8080" bIns="-2808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20" name="Arc 16"/>
            <p:cNvSpPr/>
            <p:nvPr/>
          </p:nvSpPr>
          <p:spPr>
            <a:xfrm rot="10889400">
              <a:off x="3047400" y="5333760"/>
              <a:ext cx="533160" cy="912600"/>
            </a:xfrm>
            <a:custGeom>
              <a:avLst/>
              <a:gdLst>
                <a:gd name="textAreaLeft" fmla="*/ 0 w 533160"/>
                <a:gd name="textAreaRight" fmla="*/ 533520 w 53316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fill="none" w="18964" h="21449">
                  <a:moveTo>
                    <a:pt x="2547" y="-1"/>
                  </a:moveTo>
                  <a:cubicBezTo>
                    <a:pt x="9495" y="824"/>
                    <a:pt x="15614" y="4965"/>
                    <a:pt x="18964" y="11108"/>
                  </a:cubicBezTo>
                </a:path>
                <a:path stroke="0" w="18964" h="21449">
                  <a:moveTo>
                    <a:pt x="2547" y="-1"/>
                  </a:moveTo>
                  <a:cubicBezTo>
                    <a:pt x="9495" y="824"/>
                    <a:pt x="15614" y="4965"/>
                    <a:pt x="18964" y="11108"/>
                  </a:cubicBezTo>
                  <a:lnTo>
                    <a:pt x="0" y="21449"/>
                  </a:lnTo>
                  <a:lnTo>
                    <a:pt x="2547" y="-1"/>
                  </a:lnTo>
                  <a:close/>
                </a:path>
              </a:pathLst>
            </a:custGeom>
            <a:noFill/>
            <a:ln w="12600">
              <a:solidFill>
                <a:srgbClr val="1F2C3A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21" name="AutoShape 17"/>
            <p:cNvSpPr/>
            <p:nvPr/>
          </p:nvSpPr>
          <p:spPr>
            <a:xfrm rot="1618200">
              <a:off x="1904400" y="4647960"/>
              <a:ext cx="838080" cy="409320"/>
            </a:xfrm>
            <a:custGeom>
              <a:avLst/>
              <a:gdLst>
                <a:gd name="textAreaLeft" fmla="*/ 130680 w 838080"/>
                <a:gd name="textAreaRight" fmla="*/ 733320 w 838080"/>
                <a:gd name="textAreaTop" fmla="*/ 102240 h 409320"/>
                <a:gd name="textAreaBottom" fmla="*/ 307080 h 409320"/>
              </a:gdLst>
              <a:ahLst/>
              <a:rect l="textAreaLeft" t="textAreaTop" r="textAreaRight" b="textAreaBottom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C9D6E4"/>
            </a:solidFill>
            <a:ln w="1260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22" name="Line 18"/>
            <p:cNvSpPr/>
            <p:nvPr/>
          </p:nvSpPr>
          <p:spPr>
            <a:xfrm>
              <a:off x="4284720" y="5661000"/>
              <a:ext cx="2087640" cy="142560"/>
            </a:xfrm>
            <a:prstGeom prst="line">
              <a:avLst/>
            </a:prstGeom>
            <a:ln w="28440">
              <a:solidFill>
                <a:srgbClr val="B3261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23" name="Line 19"/>
            <p:cNvSpPr/>
            <p:nvPr/>
          </p:nvSpPr>
          <p:spPr>
            <a:xfrm flipV="1">
              <a:off x="4211640" y="4437000"/>
              <a:ext cx="1873080" cy="1224000"/>
            </a:xfrm>
            <a:prstGeom prst="line">
              <a:avLst/>
            </a:prstGeom>
            <a:ln w="28440">
              <a:solidFill>
                <a:srgbClr val="B3261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24" name="Arc 20"/>
            <p:cNvSpPr/>
            <p:nvPr/>
          </p:nvSpPr>
          <p:spPr>
            <a:xfrm rot="2377800">
              <a:off x="5665680" y="4684680"/>
              <a:ext cx="1060200" cy="914400"/>
            </a:xfrm>
            <a:custGeom>
              <a:avLst/>
              <a:gdLst>
                <a:gd name="textAreaLeft" fmla="*/ 0 w 1060200"/>
                <a:gd name="textAreaRight" fmla="*/ 1060560 w 1060200"/>
                <a:gd name="textAreaTop" fmla="*/ 0 h 914400"/>
                <a:gd name="textAreaBottom" fmla="*/ 914760 h 914400"/>
              </a:gdLst>
              <a:ahLst/>
              <a:rect l="textAreaLeft" t="textAreaTop" r="textAreaRight" b="textAreaBottom"/>
              <a:pathLst>
                <a:path fill="none" w="25052" h="21600">
                  <a:moveTo>
                    <a:pt x="-1" y="277"/>
                  </a:moveTo>
                  <a:cubicBezTo>
                    <a:pt x="1141" y="92"/>
                    <a:pt x="2295" y="-1"/>
                    <a:pt x="3452" y="0"/>
                  </a:cubicBezTo>
                  <a:cubicBezTo>
                    <a:pt x="15381" y="0"/>
                    <a:pt x="25052" y="9670"/>
                    <a:pt x="25052" y="21600"/>
                  </a:cubicBezTo>
                </a:path>
                <a:path stroke="0" w="25052" h="21600">
                  <a:moveTo>
                    <a:pt x="-1" y="277"/>
                  </a:moveTo>
                  <a:cubicBezTo>
                    <a:pt x="1141" y="92"/>
                    <a:pt x="2295" y="-1"/>
                    <a:pt x="3452" y="0"/>
                  </a:cubicBezTo>
                  <a:cubicBezTo>
                    <a:pt x="15381" y="0"/>
                    <a:pt x="25052" y="9670"/>
                    <a:pt x="25052" y="21600"/>
                  </a:cubicBezTo>
                  <a:lnTo>
                    <a:pt x="3452" y="21600"/>
                  </a:lnTo>
                  <a:lnTo>
                    <a:pt x="-1" y="277"/>
                  </a:lnTo>
                  <a:close/>
                </a:path>
              </a:pathLst>
            </a:custGeom>
            <a:noFill/>
            <a:ln w="28440">
              <a:solidFill>
                <a:srgbClr val="B3261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25" name="AutoShape 21"/>
            <p:cNvSpPr/>
            <p:nvPr/>
          </p:nvSpPr>
          <p:spPr>
            <a:xfrm rot="31200">
              <a:off x="5105160" y="5714640"/>
              <a:ext cx="380880" cy="257040"/>
            </a:xfrm>
            <a:custGeom>
              <a:avLst/>
              <a:gdLst>
                <a:gd name="textAreaLeft" fmla="*/ 59400 w 380880"/>
                <a:gd name="textAreaRight" fmla="*/ 333360 w 380880"/>
                <a:gd name="textAreaTop" fmla="*/ 64080 h 257040"/>
                <a:gd name="textAreaBottom" fmla="*/ 192960 h 257040"/>
              </a:gdLst>
              <a:ahLst/>
              <a:rect l="textAreaLeft" t="textAreaTop" r="textAreaRight" b="textAreaBottom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C9D6E4"/>
            </a:solidFill>
            <a:ln w="1260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26" name="AutoShape 22"/>
            <p:cNvSpPr/>
            <p:nvPr/>
          </p:nvSpPr>
          <p:spPr>
            <a:xfrm rot="8813400">
              <a:off x="5256000" y="4798440"/>
              <a:ext cx="380880" cy="228600"/>
            </a:xfrm>
            <a:custGeom>
              <a:avLst/>
              <a:gdLst>
                <a:gd name="textAreaLeft" fmla="*/ 59400 w 380880"/>
                <a:gd name="textAreaRight" fmla="*/ 333360 w 380880"/>
                <a:gd name="textAreaTop" fmla="*/ 57240 h 228600"/>
                <a:gd name="textAreaBottom" fmla="*/ 171720 h 228600"/>
              </a:gdLst>
              <a:ahLst/>
              <a:rect l="textAreaLeft" t="textAreaTop" r="textAreaRight" b="textAreaBottom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C9D6E4"/>
            </a:solidFill>
            <a:ln w="1260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27" name="AutoShape 23"/>
            <p:cNvSpPr/>
            <p:nvPr/>
          </p:nvSpPr>
          <p:spPr>
            <a:xfrm rot="15589200">
              <a:off x="6324480" y="5029200"/>
              <a:ext cx="380880" cy="257040"/>
            </a:xfrm>
            <a:custGeom>
              <a:avLst/>
              <a:gdLst>
                <a:gd name="textAreaLeft" fmla="*/ 59400 w 380880"/>
                <a:gd name="textAreaRight" fmla="*/ 333360 w 380880"/>
                <a:gd name="textAreaTop" fmla="*/ 64080 h 257040"/>
                <a:gd name="textAreaBottom" fmla="*/ 192960 h 257040"/>
              </a:gdLst>
              <a:ahLst/>
              <a:rect l="textAreaLeft" t="textAreaTop" r="textAreaRight" b="textAreaBottom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C9D6E4"/>
            </a:solidFill>
            <a:ln w="1260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328" name="Text Box 24"/>
          <p:cNvSpPr/>
          <p:nvPr/>
        </p:nvSpPr>
        <p:spPr>
          <a:xfrm>
            <a:off x="3883440" y="6003360"/>
            <a:ext cx="4640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spAutoFit/>
          </a:bodyPr>
          <a:p>
            <a:pPr algn="l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70°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9" name="WordArt 25"/>
          <p:cNvSpPr txBox="1"/>
          <p:nvPr/>
        </p:nvSpPr>
        <p:spPr>
          <a:xfrm>
            <a:off x="2819280" y="3886200"/>
            <a:ext cx="304920" cy="65736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1" strike="noStrike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1</a:t>
            </a:r>
            <a:endParaRPr b="1" lang="en-US" sz="3200" spc="1" strike="noStrike">
              <a:solidFill>
                <a:srgbClr val="B3261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0" name="WordArt 51"/>
          <p:cNvSpPr txBox="1"/>
          <p:nvPr/>
        </p:nvSpPr>
        <p:spPr>
          <a:xfrm>
            <a:off x="4367280" y="189000"/>
            <a:ext cx="3529080" cy="718920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000" spc="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ENTRY</a:t>
            </a:r>
            <a:endParaRPr b="1" lang="en-US" sz="2000" spc="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331" name="TextBox 25"/>
          <p:cNvSpPr/>
          <p:nvPr/>
        </p:nvSpPr>
        <p:spPr>
          <a:xfrm>
            <a:off x="5386800" y="3714840"/>
            <a:ext cx="688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090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2" name="TextBox 26"/>
          <p:cNvSpPr/>
          <p:nvPr/>
        </p:nvSpPr>
        <p:spPr>
          <a:xfrm>
            <a:off x="7172760" y="5786280"/>
            <a:ext cx="688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270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53" name="design9053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53</a:t>
            </a:r>
          </a:p>
        </p:txBody>
      </p:sp>
    </p:spTree>
  </p:cSld>
  <p:transition>
    <p:wipe dir="d"/>
  </p:transition>
  <p:timing>
    <p:tnLst>
      <p:par>
        <p:cTn id="382" dur="indefinite" restart="never" nodeType="tmRoot">
          <p:childTnLst>
            <p:seq>
              <p:cTn id="383" dur="indefinite" nodeType="mainSeq">
                <p:childTnLst>
                  <p:par>
                    <p:cTn id="384" nodeType="clickEffect" fill="hold">
                      <p:stCondLst>
                        <p:cond delay="0"/>
                      </p:stCondLst>
                      <p:childTnLst>
                        <p:par>
                          <p:cTn id="38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6" nodeType="afterEffect" fill="hold" presetClass="entr" presetID="3" presetSubtype="10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88" dur="500"/>
                                        <p:tgtEl>
                                          <p:spTgt spid="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391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394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397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nodeType="clickEffect" fill="hold">
                      <p:stCondLst>
                        <p:cond delay="indefinite"/>
                      </p:stCondLst>
                      <p:childTnLst>
                        <p:par>
                          <p:cTn id="39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0" nodeType="click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01" dur="20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2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403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04" dur="20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406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07" dur="20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8" nodeType="afterEffect" fill="hold">
                            <p:stCondLst>
                              <p:cond delay="6000"/>
                            </p:stCondLst>
                            <p:childTnLst>
                              <p:par>
                                <p:cTn id="409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10" dur="20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nodeType="afterEffect" fill="hold">
                            <p:stCondLst>
                              <p:cond delay="8000"/>
                            </p:stCondLst>
                            <p:childTnLst>
                              <p:par>
                                <p:cTn id="412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13" dur="20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/>
        </p:nvSpPr>
        <p:spPr>
          <a:xfrm>
            <a:off x="1848000" y="907920"/>
            <a:ext cx="84960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l"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SECTOR </a:t>
            </a:r>
            <a:r>
              <a:rPr b="1" lang="en-US" sz="4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2</a:t>
            </a: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, (OFFSET ENTRY)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1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FROM OVERHEAD THE FIX, A/C TURNED ONTO TRACK  30° OFFSET (1 MINUTE, WIND-ADJUSTED  OR UNTIL LIMITING DME).</a:t>
            </a: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1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1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A/C TURNED TO INTERCEPT INBOUND TRACK.</a:t>
            </a: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1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4" name="AutoShape 10"/>
          <p:cNvSpPr/>
          <p:nvPr/>
        </p:nvSpPr>
        <p:spPr>
          <a:xfrm>
            <a:off x="5410200" y="5486400"/>
            <a:ext cx="380880" cy="380880"/>
          </a:xfrm>
          <a:prstGeom prst="sun">
            <a:avLst>
              <a:gd name="adj" fmla="val 25000"/>
            </a:avLst>
          </a:prstGeom>
          <a:solidFill>
            <a:srgbClr val="B3261E"/>
          </a:solidFill>
          <a:ln w="1260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5" name="Text Box 24"/>
          <p:cNvSpPr/>
          <p:nvPr/>
        </p:nvSpPr>
        <p:spPr>
          <a:xfrm>
            <a:off x="3883440" y="6003360"/>
            <a:ext cx="4640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spAutoFit/>
          </a:bodyPr>
          <a:p>
            <a:pPr algn="l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70°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336" name="Group 32"/>
          <p:cNvGrpSpPr/>
          <p:nvPr/>
        </p:nvGrpSpPr>
        <p:grpSpPr>
          <a:xfrm>
            <a:off x="2595720" y="3857400"/>
            <a:ext cx="6476760" cy="3094200"/>
            <a:chOff x="1071720" y="3857400"/>
            <a:chExt cx="6476760" cy="3094200"/>
          </a:xfrm>
        </p:grpSpPr>
        <p:sp>
          <p:nvSpPr>
            <p:cNvPr id="337" name="Arc 4"/>
            <p:cNvSpPr/>
            <p:nvPr/>
          </p:nvSpPr>
          <p:spPr>
            <a:xfrm rot="10851000">
              <a:off x="3293640" y="5000400"/>
              <a:ext cx="900000" cy="914400"/>
            </a:xfrm>
            <a:custGeom>
              <a:avLst/>
              <a:gdLst>
                <a:gd name="textAreaLeft" fmla="*/ 0 w 900000"/>
                <a:gd name="textAreaRight" fmla="*/ 900360 w 900000"/>
                <a:gd name="textAreaTop" fmla="*/ 0 h 914400"/>
                <a:gd name="textAreaBottom" fmla="*/ 914760 h 914400"/>
              </a:gdLst>
              <a:ahLst/>
              <a:rect l="textAreaLeft" t="textAreaTop" r="textAreaRight" b="textAreaBottom"/>
              <a:pathLst>
                <a:path fill="none" w="21281" h="21600">
                  <a:moveTo>
                    <a:pt x="23" y="0"/>
                  </a:moveTo>
                  <a:cubicBezTo>
                    <a:pt x="10516" y="11"/>
                    <a:pt x="19483" y="7562"/>
                    <a:pt x="21280" y="17900"/>
                  </a:cubicBezTo>
                </a:path>
                <a:path stroke="0" w="21281" h="21600">
                  <a:moveTo>
                    <a:pt x="23" y="0"/>
                  </a:moveTo>
                  <a:cubicBezTo>
                    <a:pt x="10516" y="11"/>
                    <a:pt x="19483" y="7562"/>
                    <a:pt x="21280" y="17900"/>
                  </a:cubicBezTo>
                  <a:lnTo>
                    <a:pt x="0" y="21600"/>
                  </a:lnTo>
                  <a:lnTo>
                    <a:pt x="23" y="0"/>
                  </a:lnTo>
                  <a:close/>
                </a:path>
              </a:pathLst>
            </a:custGeom>
            <a:noFill/>
            <a:ln w="12600">
              <a:solidFill>
                <a:srgbClr val="1F2C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38" name="Arc 5"/>
            <p:cNvSpPr/>
            <p:nvPr/>
          </p:nvSpPr>
          <p:spPr>
            <a:xfrm rot="16200000">
              <a:off x="3291480" y="4399560"/>
              <a:ext cx="914400" cy="896760"/>
            </a:xfrm>
            <a:custGeom>
              <a:avLst/>
              <a:gdLst>
                <a:gd name="textAreaLeft" fmla="*/ 0 w 914400"/>
                <a:gd name="textAreaRight" fmla="*/ 914760 w 914400"/>
                <a:gd name="textAreaTop" fmla="*/ 0 h 896760"/>
                <a:gd name="textAreaBottom" fmla="*/ 897120 h 896760"/>
              </a:gdLst>
              <a:ahLst/>
              <a:rect l="textAreaLeft" t="textAreaTop" r="textAreaRight" b="textAreaBottom"/>
              <a:pathLst>
                <a:path fill="none" w="21600" h="21183">
                  <a:moveTo>
                    <a:pt x="4221" y="-1"/>
                  </a:moveTo>
                  <a:cubicBezTo>
                    <a:pt x="14324" y="2012"/>
                    <a:pt x="21600" y="10880"/>
                    <a:pt x="21600" y="21183"/>
                  </a:cubicBezTo>
                </a:path>
                <a:path stroke="0" w="21600" h="21183">
                  <a:moveTo>
                    <a:pt x="4221" y="-1"/>
                  </a:moveTo>
                  <a:cubicBezTo>
                    <a:pt x="14324" y="2012"/>
                    <a:pt x="21600" y="10880"/>
                    <a:pt x="21600" y="21183"/>
                  </a:cubicBezTo>
                  <a:lnTo>
                    <a:pt x="0" y="21183"/>
                  </a:lnTo>
                  <a:lnTo>
                    <a:pt x="4221" y="-1"/>
                  </a:lnTo>
                  <a:close/>
                </a:path>
              </a:pathLst>
            </a:custGeom>
            <a:noFill/>
            <a:ln w="12600">
              <a:solidFill>
                <a:srgbClr val="1F2C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39" name="Arc 6"/>
            <p:cNvSpPr/>
            <p:nvPr/>
          </p:nvSpPr>
          <p:spPr>
            <a:xfrm rot="5298600">
              <a:off x="5946840" y="5001480"/>
              <a:ext cx="914400" cy="912600"/>
            </a:xfrm>
            <a:custGeom>
              <a:avLst/>
              <a:gdLst>
                <a:gd name="textAreaLeft" fmla="*/ 0 w 914400"/>
                <a:gd name="textAreaRight" fmla="*/ 914760 w 91440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fill="none" w="21600" h="21567">
                  <a:moveTo>
                    <a:pt x="1201" y="0"/>
                  </a:moveTo>
                  <a:cubicBezTo>
                    <a:pt x="12646" y="638"/>
                    <a:pt x="21600" y="10104"/>
                    <a:pt x="21600" y="21567"/>
                  </a:cubicBezTo>
                </a:path>
                <a:path stroke="0" w="21600" h="21567">
                  <a:moveTo>
                    <a:pt x="1201" y="0"/>
                  </a:moveTo>
                  <a:cubicBezTo>
                    <a:pt x="12646" y="638"/>
                    <a:pt x="21600" y="10104"/>
                    <a:pt x="21600" y="21567"/>
                  </a:cubicBezTo>
                  <a:lnTo>
                    <a:pt x="0" y="21567"/>
                  </a:lnTo>
                  <a:lnTo>
                    <a:pt x="1201" y="0"/>
                  </a:lnTo>
                  <a:close/>
                </a:path>
              </a:pathLst>
            </a:custGeom>
            <a:noFill/>
            <a:ln w="12600">
              <a:solidFill>
                <a:srgbClr val="1F2C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40" name="Arc 7"/>
            <p:cNvSpPr/>
            <p:nvPr/>
          </p:nvSpPr>
          <p:spPr>
            <a:xfrm>
              <a:off x="5948280" y="4392720"/>
              <a:ext cx="873000" cy="914400"/>
            </a:xfrm>
            <a:custGeom>
              <a:avLst/>
              <a:gdLst>
                <a:gd name="textAreaLeft" fmla="*/ 0 w 873000"/>
                <a:gd name="textAreaRight" fmla="*/ 873360 w 873000"/>
                <a:gd name="textAreaTop" fmla="*/ 0 h 914400"/>
                <a:gd name="textAreaBottom" fmla="*/ 914760 h 914400"/>
              </a:gdLst>
              <a:ahLst/>
              <a:rect l="textAreaLeft" t="textAreaTop" r="textAreaRight" b="textAreaBottom"/>
              <a:pathLst>
                <a:path fill="none" w="20633" h="21600">
                  <a:moveTo>
                    <a:pt x="-1" y="0"/>
                  </a:moveTo>
                  <a:cubicBezTo>
                    <a:pt x="9467" y="0"/>
                    <a:pt x="17832" y="6165"/>
                    <a:pt x="20633" y="15209"/>
                  </a:cubicBezTo>
                </a:path>
                <a:path stroke="0" w="20633" h="21600">
                  <a:moveTo>
                    <a:pt x="-1" y="0"/>
                  </a:moveTo>
                  <a:cubicBezTo>
                    <a:pt x="9467" y="0"/>
                    <a:pt x="17832" y="6165"/>
                    <a:pt x="20633" y="1520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600">
              <a:solidFill>
                <a:srgbClr val="1F2C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41" name="Line 8"/>
            <p:cNvSpPr/>
            <p:nvPr/>
          </p:nvSpPr>
          <p:spPr>
            <a:xfrm>
              <a:off x="4195800" y="4390920"/>
              <a:ext cx="1752480" cy="0"/>
            </a:xfrm>
            <a:prstGeom prst="line">
              <a:avLst/>
            </a:prstGeom>
            <a:ln w="1260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42" name="Line 9"/>
            <p:cNvSpPr/>
            <p:nvPr/>
          </p:nvSpPr>
          <p:spPr>
            <a:xfrm>
              <a:off x="1071720" y="5915160"/>
              <a:ext cx="2971800" cy="0"/>
            </a:xfrm>
            <a:prstGeom prst="line">
              <a:avLst/>
            </a:prstGeom>
            <a:ln w="1260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43" name="Line 11"/>
            <p:cNvSpPr/>
            <p:nvPr/>
          </p:nvSpPr>
          <p:spPr>
            <a:xfrm>
              <a:off x="4148280" y="4390920"/>
              <a:ext cx="304560" cy="0"/>
            </a:xfrm>
            <a:prstGeom prst="line">
              <a:avLst/>
            </a:prstGeom>
            <a:ln w="57240">
              <a:solidFill>
                <a:srgbClr val="10263F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-46800" bIns="-46800" anchor="ctr" wrap="none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44" name="Line 12"/>
            <p:cNvSpPr/>
            <p:nvPr/>
          </p:nvSpPr>
          <p:spPr>
            <a:xfrm flipH="1">
              <a:off x="5629320" y="5915160"/>
              <a:ext cx="304560" cy="0"/>
            </a:xfrm>
            <a:prstGeom prst="line">
              <a:avLst/>
            </a:prstGeom>
            <a:ln w="57240">
              <a:solidFill>
                <a:srgbClr val="10263F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-46800" bIns="-46800" anchor="ctr" wrap="none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45" name="Line 13"/>
            <p:cNvSpPr/>
            <p:nvPr/>
          </p:nvSpPr>
          <p:spPr>
            <a:xfrm flipV="1">
              <a:off x="3433680" y="3857400"/>
              <a:ext cx="2133360" cy="2895480"/>
            </a:xfrm>
            <a:prstGeom prst="line">
              <a:avLst/>
            </a:prstGeom>
            <a:ln w="1260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46" name="Line 14"/>
            <p:cNvSpPr/>
            <p:nvPr/>
          </p:nvSpPr>
          <p:spPr>
            <a:xfrm>
              <a:off x="4119480" y="5915160"/>
              <a:ext cx="1904760" cy="0"/>
            </a:xfrm>
            <a:prstGeom prst="line">
              <a:avLst/>
            </a:prstGeom>
            <a:ln w="1260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47" name="Line 15"/>
            <p:cNvSpPr/>
            <p:nvPr/>
          </p:nvSpPr>
          <p:spPr>
            <a:xfrm>
              <a:off x="6176880" y="5915160"/>
              <a:ext cx="1371600" cy="0"/>
            </a:xfrm>
            <a:prstGeom prst="line">
              <a:avLst/>
            </a:prstGeom>
            <a:ln w="1260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48" name="Arc 16"/>
            <p:cNvSpPr/>
            <p:nvPr/>
          </p:nvSpPr>
          <p:spPr>
            <a:xfrm rot="10889400">
              <a:off x="3052440" y="5533920"/>
              <a:ext cx="533160" cy="912600"/>
            </a:xfrm>
            <a:custGeom>
              <a:avLst/>
              <a:gdLst>
                <a:gd name="textAreaLeft" fmla="*/ 0 w 533160"/>
                <a:gd name="textAreaRight" fmla="*/ 533520 w 533160"/>
                <a:gd name="textAreaTop" fmla="*/ 0 h 912600"/>
                <a:gd name="textAreaBottom" fmla="*/ 912960 h 912600"/>
              </a:gdLst>
              <a:ahLst/>
              <a:rect l="textAreaLeft" t="textAreaTop" r="textAreaRight" b="textAreaBottom"/>
              <a:pathLst>
                <a:path fill="none" w="18964" h="21449">
                  <a:moveTo>
                    <a:pt x="2547" y="-1"/>
                  </a:moveTo>
                  <a:cubicBezTo>
                    <a:pt x="9495" y="824"/>
                    <a:pt x="15614" y="4965"/>
                    <a:pt x="18964" y="11108"/>
                  </a:cubicBezTo>
                </a:path>
                <a:path stroke="0" w="18964" h="21449">
                  <a:moveTo>
                    <a:pt x="2547" y="-1"/>
                  </a:moveTo>
                  <a:cubicBezTo>
                    <a:pt x="9495" y="824"/>
                    <a:pt x="15614" y="4965"/>
                    <a:pt x="18964" y="11108"/>
                  </a:cubicBezTo>
                  <a:lnTo>
                    <a:pt x="0" y="21449"/>
                  </a:lnTo>
                  <a:lnTo>
                    <a:pt x="2547" y="-1"/>
                  </a:lnTo>
                  <a:close/>
                </a:path>
              </a:pathLst>
            </a:custGeom>
            <a:noFill/>
            <a:ln w="12600">
              <a:solidFill>
                <a:srgbClr val="1F2C3A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49" name="AutoShape 17"/>
            <p:cNvSpPr/>
            <p:nvPr/>
          </p:nvSpPr>
          <p:spPr>
            <a:xfrm rot="20775600">
              <a:off x="1757160" y="6448680"/>
              <a:ext cx="838080" cy="409320"/>
            </a:xfrm>
            <a:custGeom>
              <a:avLst/>
              <a:gdLst>
                <a:gd name="textAreaLeft" fmla="*/ 130680 w 838080"/>
                <a:gd name="textAreaRight" fmla="*/ 733320 w 838080"/>
                <a:gd name="textAreaTop" fmla="*/ 102240 h 409320"/>
                <a:gd name="textAreaBottom" fmla="*/ 307080 h 409320"/>
              </a:gdLst>
              <a:ahLst/>
              <a:rect l="textAreaLeft" t="textAreaTop" r="textAreaRight" b="textAreaBottom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C9D6E4"/>
            </a:solidFill>
            <a:ln w="1260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50" name="Line 18"/>
            <p:cNvSpPr/>
            <p:nvPr/>
          </p:nvSpPr>
          <p:spPr>
            <a:xfrm>
              <a:off x="4143600" y="5857920"/>
              <a:ext cx="2233440" cy="71280"/>
            </a:xfrm>
            <a:prstGeom prst="line">
              <a:avLst/>
            </a:prstGeom>
            <a:ln w="19080">
              <a:solidFill>
                <a:srgbClr val="B3261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480" bIns="2448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51" name="Line 19"/>
            <p:cNvSpPr/>
            <p:nvPr/>
          </p:nvSpPr>
          <p:spPr>
            <a:xfrm flipV="1">
              <a:off x="4216320" y="4857480"/>
              <a:ext cx="1998720" cy="1003320"/>
            </a:xfrm>
            <a:prstGeom prst="line">
              <a:avLst/>
            </a:prstGeom>
            <a:ln w="19080">
              <a:solidFill>
                <a:srgbClr val="B3261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52" name="Arc 20"/>
            <p:cNvSpPr/>
            <p:nvPr/>
          </p:nvSpPr>
          <p:spPr>
            <a:xfrm rot="2377800">
              <a:off x="5836320" y="5031000"/>
              <a:ext cx="859320" cy="877320"/>
            </a:xfrm>
            <a:custGeom>
              <a:avLst/>
              <a:gdLst>
                <a:gd name="textAreaLeft" fmla="*/ 0 w 859320"/>
                <a:gd name="textAreaRight" fmla="*/ 859680 w 859320"/>
                <a:gd name="textAreaTop" fmla="*/ 0 h 877320"/>
                <a:gd name="textAreaBottom" fmla="*/ 877680 h 877320"/>
              </a:gdLst>
              <a:ahLst/>
              <a:rect l="textAreaLeft" t="textAreaTop" r="textAreaRight" b="textAreaBottom"/>
              <a:pathLst>
                <a:path fill="none" w="25768" h="21600">
                  <a:moveTo>
                    <a:pt x="-1" y="405"/>
                  </a:moveTo>
                  <a:cubicBezTo>
                    <a:pt x="1372" y="135"/>
                    <a:pt x="2768" y="-1"/>
                    <a:pt x="4168" y="0"/>
                  </a:cubicBezTo>
                  <a:cubicBezTo>
                    <a:pt x="16097" y="0"/>
                    <a:pt x="25768" y="9670"/>
                    <a:pt x="25768" y="21600"/>
                  </a:cubicBezTo>
                </a:path>
                <a:path stroke="0" w="25768" h="21600">
                  <a:moveTo>
                    <a:pt x="-1" y="405"/>
                  </a:moveTo>
                  <a:cubicBezTo>
                    <a:pt x="1372" y="135"/>
                    <a:pt x="2768" y="-1"/>
                    <a:pt x="4168" y="0"/>
                  </a:cubicBezTo>
                  <a:cubicBezTo>
                    <a:pt x="16097" y="0"/>
                    <a:pt x="25768" y="9670"/>
                    <a:pt x="25768" y="21600"/>
                  </a:cubicBezTo>
                  <a:lnTo>
                    <a:pt x="4168" y="21600"/>
                  </a:lnTo>
                  <a:lnTo>
                    <a:pt x="-1" y="405"/>
                  </a:lnTo>
                  <a:close/>
                </a:path>
              </a:pathLst>
            </a:custGeom>
            <a:noFill/>
            <a:ln w="19080">
              <a:solidFill>
                <a:srgbClr val="B3261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53" name="AutoShape 21"/>
            <p:cNvSpPr/>
            <p:nvPr/>
          </p:nvSpPr>
          <p:spPr>
            <a:xfrm rot="10839000">
              <a:off x="5110200" y="6084360"/>
              <a:ext cx="380880" cy="257040"/>
            </a:xfrm>
            <a:custGeom>
              <a:avLst/>
              <a:gdLst>
                <a:gd name="textAreaLeft" fmla="*/ 59400 w 380880"/>
                <a:gd name="textAreaRight" fmla="*/ 333360 w 380880"/>
                <a:gd name="textAreaTop" fmla="*/ 64080 h 257040"/>
                <a:gd name="textAreaBottom" fmla="*/ 192960 h 257040"/>
              </a:gdLst>
              <a:ahLst/>
              <a:rect l="textAreaLeft" t="textAreaTop" r="textAreaRight" b="textAreaBottom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C9D6E4"/>
            </a:solidFill>
            <a:ln w="1260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54" name="AutoShape 22"/>
            <p:cNvSpPr/>
            <p:nvPr/>
          </p:nvSpPr>
          <p:spPr>
            <a:xfrm rot="19613400">
              <a:off x="5261040" y="4998600"/>
              <a:ext cx="380880" cy="228600"/>
            </a:xfrm>
            <a:custGeom>
              <a:avLst/>
              <a:gdLst>
                <a:gd name="textAreaLeft" fmla="*/ 59400 w 380880"/>
                <a:gd name="textAreaRight" fmla="*/ 333360 w 380880"/>
                <a:gd name="textAreaTop" fmla="*/ 57240 h 228600"/>
                <a:gd name="textAreaBottom" fmla="*/ 171720 h 228600"/>
              </a:gdLst>
              <a:ahLst/>
              <a:rect l="textAreaLeft" t="textAreaTop" r="textAreaRight" b="textAreaBottom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C9D6E4"/>
            </a:solidFill>
            <a:ln w="1260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55" name="AutoShape 23"/>
            <p:cNvSpPr/>
            <p:nvPr/>
          </p:nvSpPr>
          <p:spPr>
            <a:xfrm rot="5172600">
              <a:off x="6329160" y="5229360"/>
              <a:ext cx="380880" cy="257040"/>
            </a:xfrm>
            <a:custGeom>
              <a:avLst/>
              <a:gdLst>
                <a:gd name="textAreaLeft" fmla="*/ 59400 w 380880"/>
                <a:gd name="textAreaRight" fmla="*/ 333360 w 380880"/>
                <a:gd name="textAreaTop" fmla="*/ 64080 h 257040"/>
                <a:gd name="textAreaBottom" fmla="*/ 192960 h 257040"/>
              </a:gdLst>
              <a:ahLst/>
              <a:rect l="textAreaLeft" t="textAreaTop" r="textAreaRight" b="textAreaBottom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C9D6E4"/>
            </a:solidFill>
            <a:ln w="12600">
              <a:solidFill>
                <a:srgbClr val="1F2C3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56" name="Arc 25"/>
            <p:cNvSpPr/>
            <p:nvPr/>
          </p:nvSpPr>
          <p:spPr>
            <a:xfrm>
              <a:off x="4119480" y="5561280"/>
              <a:ext cx="880920" cy="368280"/>
            </a:xfrm>
            <a:custGeom>
              <a:avLst/>
              <a:gdLst>
                <a:gd name="textAreaLeft" fmla="*/ 0 w 880920"/>
                <a:gd name="textAreaRight" fmla="*/ 881280 w 880920"/>
                <a:gd name="textAreaTop" fmla="*/ 0 h 368280"/>
                <a:gd name="textAreaBottom" fmla="*/ 368280 h 368280"/>
              </a:gdLst>
              <a:ahLst/>
              <a:rect l="textAreaLeft" t="textAreaTop" r="textAreaRight" b="textAreaBottom"/>
              <a:pathLst>
                <a:path fill="none" w="21600" h="9723">
                  <a:moveTo>
                    <a:pt x="19287" y="0"/>
                  </a:moveTo>
                  <a:cubicBezTo>
                    <a:pt x="20808" y="3015"/>
                    <a:pt x="21600" y="6345"/>
                    <a:pt x="21600" y="9723"/>
                  </a:cubicBezTo>
                </a:path>
                <a:path stroke="0" w="21600" h="9723">
                  <a:moveTo>
                    <a:pt x="19287" y="0"/>
                  </a:moveTo>
                  <a:cubicBezTo>
                    <a:pt x="20808" y="3015"/>
                    <a:pt x="21600" y="6345"/>
                    <a:pt x="21600" y="9723"/>
                  </a:cubicBezTo>
                  <a:lnTo>
                    <a:pt x="0" y="9723"/>
                  </a:lnTo>
                  <a:lnTo>
                    <a:pt x="19287" y="0"/>
                  </a:lnTo>
                  <a:close/>
                </a:path>
              </a:pathLst>
            </a:custGeom>
            <a:noFill/>
            <a:ln w="12600">
              <a:solidFill>
                <a:srgbClr val="1F2C3A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endPara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357" name="Text Box 26"/>
          <p:cNvSpPr/>
          <p:nvPr/>
        </p:nvSpPr>
        <p:spPr>
          <a:xfrm>
            <a:off x="6553200" y="5249520"/>
            <a:ext cx="6159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spAutoFit/>
          </a:bodyPr>
          <a:p>
            <a:pPr algn="l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30°</a:t>
            </a:r>
            <a:endParaRPr b="0" lang="en-US" sz="1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8" name="WordArt 27"/>
          <p:cNvSpPr txBox="1"/>
          <p:nvPr/>
        </p:nvSpPr>
        <p:spPr>
          <a:xfrm>
            <a:off x="2590680" y="5867280"/>
            <a:ext cx="457200" cy="64800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100" spc="1" strike="noStrike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2</a:t>
            </a:r>
            <a:endParaRPr b="1" lang="en-US" sz="3100" spc="1" strike="noStrike">
              <a:solidFill>
                <a:srgbClr val="B3261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9" name="WordArt 28"/>
          <p:cNvSpPr txBox="1"/>
          <p:nvPr/>
        </p:nvSpPr>
        <p:spPr>
          <a:xfrm>
            <a:off x="4367280" y="189000"/>
            <a:ext cx="3529080" cy="718920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000" spc="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ENTRY</a:t>
            </a:r>
            <a:endParaRPr b="1" lang="en-US" sz="2000" spc="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360" name="TextBox 30"/>
          <p:cNvSpPr/>
          <p:nvPr/>
        </p:nvSpPr>
        <p:spPr>
          <a:xfrm>
            <a:off x="5100960" y="3786120"/>
            <a:ext cx="688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090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1" name="TextBox 31"/>
          <p:cNvSpPr/>
          <p:nvPr/>
        </p:nvSpPr>
        <p:spPr>
          <a:xfrm>
            <a:off x="7402800" y="5824440"/>
            <a:ext cx="688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270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54" name="design9054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54</a:t>
            </a:r>
          </a:p>
        </p:txBody>
      </p:sp>
    </p:spTree>
  </p:cSld>
  <p:transition>
    <p:wipe dir="d"/>
  </p:transition>
  <p:timing>
    <p:tnLst>
      <p:par>
        <p:cTn id="414" dur="indefinite" restart="never" nodeType="tmRoot">
          <p:childTnLst>
            <p:seq>
              <p:cTn id="415" dur="indefinite" nodeType="mainSeq">
                <p:childTnLst>
                  <p:par>
                    <p:cTn id="416" nodeType="clickEffect" fill="hold">
                      <p:stCondLst>
                        <p:cond delay="0"/>
                      </p:stCondLst>
                      <p:childTnLst>
                        <p:par>
                          <p:cTn id="41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8" nodeType="afterEffect" fill="hold" presetClass="entr" presetID="3" presetSubtype="10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420" dur="500"/>
                                        <p:tgtEl>
                                          <p:spTgt spid="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423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426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7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429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432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nodeType="clickEffect" fill="hold">
                      <p:stCondLst>
                        <p:cond delay="indefinite"/>
                      </p:stCondLst>
                      <p:childTnLst>
                        <p:par>
                          <p:cTn id="4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5" nodeType="click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36" dur="20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/>
        </p:nvSpPr>
        <p:spPr>
          <a:xfrm>
            <a:off x="2133480" y="1341000"/>
            <a:ext cx="7772400" cy="21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2804"/>
          </a:bodyPr>
          <a:p>
            <a:pPr marL="343080" indent="-343080" algn="l">
              <a:lnSpc>
                <a:spcPct val="11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SECTOR </a:t>
            </a:r>
            <a:r>
              <a:rPr b="1" lang="en-US" sz="4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3</a:t>
            </a:r>
            <a:r>
              <a:rPr b="1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, (DIRECT ENTRY)</a:t>
            </a:r>
            <a:endParaRPr b="0" lang="en-US" sz="32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1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1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HAVING REACHED THE FIX, A/C IS TURNED TO FOLLOW THE HOLDING PATTERN</a:t>
            </a:r>
            <a:endParaRPr b="0" lang="en-US" sz="20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1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3" name="Arc 4"/>
          <p:cNvSpPr/>
          <p:nvPr/>
        </p:nvSpPr>
        <p:spPr>
          <a:xfrm rot="10851000">
            <a:off x="3200160" y="4800240"/>
            <a:ext cx="900000" cy="914400"/>
          </a:xfrm>
          <a:custGeom>
            <a:avLst/>
            <a:gdLst>
              <a:gd name="textAreaLeft" fmla="*/ 0 w 900000"/>
              <a:gd name="textAreaRight" fmla="*/ 900360 w 900000"/>
              <a:gd name="textAreaTop" fmla="*/ 0 h 914400"/>
              <a:gd name="textAreaBottom" fmla="*/ 914760 h 914400"/>
            </a:gdLst>
            <a:ahLst/>
            <a:rect l="textAreaLeft" t="textAreaTop" r="textAreaRight" b="textAreaBottom"/>
            <a:pathLst>
              <a:path fill="none" w="21281" h="21600">
                <a:moveTo>
                  <a:pt x="23" y="0"/>
                </a:moveTo>
                <a:cubicBezTo>
                  <a:pt x="10516" y="11"/>
                  <a:pt x="19483" y="7562"/>
                  <a:pt x="21280" y="17900"/>
                </a:cubicBezTo>
              </a:path>
              <a:path stroke="0" w="21281" h="21600">
                <a:moveTo>
                  <a:pt x="23" y="0"/>
                </a:moveTo>
                <a:cubicBezTo>
                  <a:pt x="10516" y="11"/>
                  <a:pt x="19483" y="7562"/>
                  <a:pt x="21280" y="17900"/>
                </a:cubicBezTo>
                <a:lnTo>
                  <a:pt x="0" y="21600"/>
                </a:lnTo>
                <a:lnTo>
                  <a:pt x="23" y="0"/>
                </a:lnTo>
                <a:close/>
              </a:path>
            </a:pathLst>
          </a:custGeom>
          <a:noFill/>
          <a:ln w="38160">
            <a:solidFill>
              <a:srgbClr val="1F2C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4" name="Arc 5"/>
          <p:cNvSpPr/>
          <p:nvPr/>
        </p:nvSpPr>
        <p:spPr>
          <a:xfrm rot="16200000">
            <a:off x="3199440" y="4210560"/>
            <a:ext cx="892080" cy="900360"/>
          </a:xfrm>
          <a:custGeom>
            <a:avLst/>
            <a:gdLst>
              <a:gd name="textAreaLeft" fmla="*/ 0 w 892080"/>
              <a:gd name="textAreaRight" fmla="*/ 892440 w 892080"/>
              <a:gd name="textAreaTop" fmla="*/ 0 h 900360"/>
              <a:gd name="textAreaBottom" fmla="*/ 900720 h 900360"/>
            </a:gdLst>
            <a:ahLst/>
            <a:rect l="textAreaLeft" t="textAreaTop" r="textAreaRight" b="textAreaBottom"/>
            <a:pathLst>
              <a:path fill="none" w="21600" h="21281">
                <a:moveTo>
                  <a:pt x="3698" y="0"/>
                </a:moveTo>
                <a:cubicBezTo>
                  <a:pt x="14046" y="1798"/>
                  <a:pt x="21600" y="10778"/>
                  <a:pt x="21600" y="21281"/>
                </a:cubicBezTo>
              </a:path>
              <a:path stroke="0" w="21600" h="21281">
                <a:moveTo>
                  <a:pt x="3698" y="0"/>
                </a:moveTo>
                <a:cubicBezTo>
                  <a:pt x="14046" y="1798"/>
                  <a:pt x="21600" y="10778"/>
                  <a:pt x="21600" y="21281"/>
                </a:cubicBezTo>
                <a:lnTo>
                  <a:pt x="0" y="21281"/>
                </a:lnTo>
                <a:lnTo>
                  <a:pt x="3698" y="0"/>
                </a:lnTo>
                <a:close/>
              </a:path>
            </a:pathLst>
          </a:custGeom>
          <a:noFill/>
          <a:ln w="38160">
            <a:solidFill>
              <a:srgbClr val="1F2C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5" name="Arc 6"/>
          <p:cNvSpPr/>
          <p:nvPr/>
        </p:nvSpPr>
        <p:spPr>
          <a:xfrm rot="5298600">
            <a:off x="5854800" y="4753080"/>
            <a:ext cx="993600" cy="946080"/>
          </a:xfrm>
          <a:custGeom>
            <a:avLst/>
            <a:gdLst>
              <a:gd name="textAreaLeft" fmla="*/ 0 w 993600"/>
              <a:gd name="textAreaRight" fmla="*/ 993600 w 993600"/>
              <a:gd name="textAreaTop" fmla="*/ 0 h 946080"/>
              <a:gd name="textAreaBottom" fmla="*/ 946440 h 946080"/>
            </a:gdLst>
            <a:ahLst/>
            <a:rect l="textAreaLeft" t="textAreaTop" r="textAreaRight" b="textAreaBottom"/>
            <a:pathLst>
              <a:path fill="none" w="21600" h="21799">
                <a:moveTo>
                  <a:pt x="979" y="0"/>
                </a:moveTo>
                <a:cubicBezTo>
                  <a:pt x="12516" y="524"/>
                  <a:pt x="21600" y="10029"/>
                  <a:pt x="21600" y="21578"/>
                </a:cubicBezTo>
                <a:cubicBezTo>
                  <a:pt x="21600" y="21651"/>
                  <a:pt x="21599" y="21725"/>
                  <a:pt x="21598" y="21798"/>
                </a:cubicBezTo>
              </a:path>
              <a:path stroke="0" w="21600" h="21799">
                <a:moveTo>
                  <a:pt x="979" y="0"/>
                </a:moveTo>
                <a:cubicBezTo>
                  <a:pt x="12516" y="524"/>
                  <a:pt x="21600" y="10029"/>
                  <a:pt x="21600" y="21578"/>
                </a:cubicBezTo>
                <a:cubicBezTo>
                  <a:pt x="21600" y="21651"/>
                  <a:pt x="21599" y="21725"/>
                  <a:pt x="21598" y="21798"/>
                </a:cubicBezTo>
                <a:lnTo>
                  <a:pt x="0" y="21578"/>
                </a:lnTo>
                <a:lnTo>
                  <a:pt x="979" y="0"/>
                </a:lnTo>
                <a:close/>
              </a:path>
            </a:pathLst>
          </a:custGeom>
          <a:noFill/>
          <a:ln w="38160">
            <a:solidFill>
              <a:srgbClr val="1F2C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6" name="Arc 7"/>
          <p:cNvSpPr/>
          <p:nvPr/>
        </p:nvSpPr>
        <p:spPr>
          <a:xfrm>
            <a:off x="5943720" y="4191120"/>
            <a:ext cx="866520" cy="809640"/>
          </a:xfrm>
          <a:custGeom>
            <a:avLst/>
            <a:gdLst>
              <a:gd name="textAreaLeft" fmla="*/ 0 w 866520"/>
              <a:gd name="textAreaRight" fmla="*/ 866880 w 866520"/>
              <a:gd name="textAreaTop" fmla="*/ 0 h 809640"/>
              <a:gd name="textAreaBottom" fmla="*/ 810000 h 809640"/>
            </a:gdLst>
            <a:ahLst/>
            <a:rect l="textAreaLeft" t="textAreaTop" r="textAreaRight" b="textAreaBottom"/>
            <a:pathLst>
              <a:path fill="none" w="20744" h="21600">
                <a:moveTo>
                  <a:pt x="-1" y="0"/>
                </a:moveTo>
                <a:cubicBezTo>
                  <a:pt x="9610" y="0"/>
                  <a:pt x="18064" y="6349"/>
                  <a:pt x="20743" y="15579"/>
                </a:cubicBezTo>
              </a:path>
              <a:path stroke="0" w="20744" h="21600">
                <a:moveTo>
                  <a:pt x="-1" y="0"/>
                </a:moveTo>
                <a:cubicBezTo>
                  <a:pt x="9610" y="0"/>
                  <a:pt x="18064" y="6349"/>
                  <a:pt x="20743" y="15579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60">
            <a:solidFill>
              <a:srgbClr val="1F2C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7" name="Line 8"/>
          <p:cNvSpPr/>
          <p:nvPr/>
        </p:nvSpPr>
        <p:spPr>
          <a:xfrm flipV="1">
            <a:off x="4008360" y="4190760"/>
            <a:ext cx="1935360" cy="29880"/>
          </a:xfrm>
          <a:prstGeom prst="line">
            <a:avLst/>
          </a:prstGeom>
          <a:ln w="381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16920" bIns="-1692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8" name="Line 9"/>
          <p:cNvSpPr/>
          <p:nvPr/>
        </p:nvSpPr>
        <p:spPr>
          <a:xfrm>
            <a:off x="2590680" y="5715000"/>
            <a:ext cx="3353040" cy="0"/>
          </a:xfrm>
          <a:prstGeom prst="line">
            <a:avLst/>
          </a:prstGeom>
          <a:ln w="381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9" name="AutoShape 10"/>
          <p:cNvSpPr/>
          <p:nvPr/>
        </p:nvSpPr>
        <p:spPr>
          <a:xfrm>
            <a:off x="3886320" y="5486400"/>
            <a:ext cx="380880" cy="380880"/>
          </a:xfrm>
          <a:prstGeom prst="sun">
            <a:avLst>
              <a:gd name="adj" fmla="val 25000"/>
            </a:avLst>
          </a:prstGeom>
          <a:solidFill>
            <a:srgbClr val="B3261E"/>
          </a:solidFill>
          <a:ln w="1260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0" name="Line 11"/>
          <p:cNvSpPr/>
          <p:nvPr/>
        </p:nvSpPr>
        <p:spPr>
          <a:xfrm>
            <a:off x="3933840" y="4191120"/>
            <a:ext cx="304920" cy="0"/>
          </a:xfrm>
          <a:prstGeom prst="line">
            <a:avLst/>
          </a:prstGeom>
          <a:ln w="57240">
            <a:solidFill>
              <a:srgbClr val="10263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-46800" bIns="-46800" anchor="ctr" wrap="none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1" name="Line 12"/>
          <p:cNvSpPr/>
          <p:nvPr/>
        </p:nvSpPr>
        <p:spPr>
          <a:xfrm flipH="1">
            <a:off x="5809800" y="5715000"/>
            <a:ext cx="304920" cy="0"/>
          </a:xfrm>
          <a:prstGeom prst="line">
            <a:avLst/>
          </a:prstGeom>
          <a:ln w="57240">
            <a:solidFill>
              <a:srgbClr val="10263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-46800" bIns="-46800" anchor="ctr" wrap="none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2" name="Line 13"/>
          <p:cNvSpPr/>
          <p:nvPr/>
        </p:nvSpPr>
        <p:spPr>
          <a:xfrm flipV="1">
            <a:off x="3429120" y="3657240"/>
            <a:ext cx="2133360" cy="2895480"/>
          </a:xfrm>
          <a:prstGeom prst="line">
            <a:avLst/>
          </a:prstGeom>
          <a:ln w="1260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3" name="Line 14"/>
          <p:cNvSpPr/>
          <p:nvPr/>
        </p:nvSpPr>
        <p:spPr>
          <a:xfrm>
            <a:off x="5791080" y="5715000"/>
            <a:ext cx="1905120" cy="0"/>
          </a:xfrm>
          <a:prstGeom prst="line">
            <a:avLst/>
          </a:prstGeom>
          <a:ln w="381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4" name="Line 15"/>
          <p:cNvSpPr/>
          <p:nvPr/>
        </p:nvSpPr>
        <p:spPr>
          <a:xfrm>
            <a:off x="7696200" y="5715000"/>
            <a:ext cx="1371600" cy="0"/>
          </a:xfrm>
          <a:prstGeom prst="line">
            <a:avLst/>
          </a:prstGeom>
          <a:ln w="381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5" name="Arc 16"/>
          <p:cNvSpPr/>
          <p:nvPr/>
        </p:nvSpPr>
        <p:spPr>
          <a:xfrm rot="602400">
            <a:off x="4495440" y="5181120"/>
            <a:ext cx="533520" cy="912960"/>
          </a:xfrm>
          <a:custGeom>
            <a:avLst/>
            <a:gdLst>
              <a:gd name="textAreaLeft" fmla="*/ 0 w 533520"/>
              <a:gd name="textAreaRight" fmla="*/ 533880 w 533520"/>
              <a:gd name="textAreaTop" fmla="*/ 0 h 912960"/>
              <a:gd name="textAreaBottom" fmla="*/ 913320 h 912960"/>
            </a:gdLst>
            <a:ahLst/>
            <a:rect l="textAreaLeft" t="textAreaTop" r="textAreaRight" b="textAreaBottom"/>
            <a:pathLst>
              <a:path fill="none" w="18964" h="21449">
                <a:moveTo>
                  <a:pt x="2547" y="-1"/>
                </a:moveTo>
                <a:cubicBezTo>
                  <a:pt x="9495" y="824"/>
                  <a:pt x="15614" y="4965"/>
                  <a:pt x="18964" y="11108"/>
                </a:cubicBezTo>
              </a:path>
              <a:path stroke="0" w="18964" h="21449">
                <a:moveTo>
                  <a:pt x="2547" y="-1"/>
                </a:moveTo>
                <a:cubicBezTo>
                  <a:pt x="9495" y="824"/>
                  <a:pt x="15614" y="4965"/>
                  <a:pt x="18964" y="11108"/>
                </a:cubicBezTo>
                <a:lnTo>
                  <a:pt x="0" y="21449"/>
                </a:lnTo>
                <a:lnTo>
                  <a:pt x="2547" y="-1"/>
                </a:lnTo>
                <a:close/>
              </a:path>
            </a:pathLst>
          </a:custGeom>
          <a:noFill/>
          <a:ln w="12600">
            <a:solidFill>
              <a:srgbClr val="1F2C3A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6" name="AutoShape 17"/>
          <p:cNvSpPr/>
          <p:nvPr/>
        </p:nvSpPr>
        <p:spPr>
          <a:xfrm rot="9846600">
            <a:off x="7462560" y="4562280"/>
            <a:ext cx="914400" cy="380880"/>
          </a:xfrm>
          <a:custGeom>
            <a:avLst/>
            <a:gdLst>
              <a:gd name="textAreaLeft" fmla="*/ 142920 w 914400"/>
              <a:gd name="textAreaRight" fmla="*/ 800280 w 914400"/>
              <a:gd name="textAreaTop" fmla="*/ 95040 h 380880"/>
              <a:gd name="textAreaBottom" fmla="*/ 285840 h 38088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C9D6E4"/>
          </a:solidFill>
          <a:ln w="1260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7" name="Text Box 18"/>
          <p:cNvSpPr/>
          <p:nvPr/>
        </p:nvSpPr>
        <p:spPr>
          <a:xfrm>
            <a:off x="2669520" y="6081120"/>
            <a:ext cx="4993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spAutoFit/>
          </a:bodyPr>
          <a:p>
            <a:pPr algn="l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70°</a:t>
            </a: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8" name="Text Box 19"/>
          <p:cNvSpPr/>
          <p:nvPr/>
        </p:nvSpPr>
        <p:spPr>
          <a:xfrm>
            <a:off x="4876680" y="5090400"/>
            <a:ext cx="615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 wrap="none">
            <a:spAutoFit/>
          </a:bodyPr>
          <a:p>
            <a:pPr algn="l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70°</a:t>
            </a: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9" name="Arc 20"/>
          <p:cNvSpPr/>
          <p:nvPr/>
        </p:nvSpPr>
        <p:spPr>
          <a:xfrm rot="10889400">
            <a:off x="2895600" y="5410080"/>
            <a:ext cx="533520" cy="912960"/>
          </a:xfrm>
          <a:custGeom>
            <a:avLst/>
            <a:gdLst>
              <a:gd name="textAreaLeft" fmla="*/ 0 w 533520"/>
              <a:gd name="textAreaRight" fmla="*/ 533880 w 533520"/>
              <a:gd name="textAreaTop" fmla="*/ 0 h 912960"/>
              <a:gd name="textAreaBottom" fmla="*/ 913320 h 912960"/>
            </a:gdLst>
            <a:ahLst/>
            <a:rect l="textAreaLeft" t="textAreaTop" r="textAreaRight" b="textAreaBottom"/>
            <a:pathLst>
              <a:path fill="none" w="18964" h="21449">
                <a:moveTo>
                  <a:pt x="2547" y="-1"/>
                </a:moveTo>
                <a:cubicBezTo>
                  <a:pt x="9495" y="824"/>
                  <a:pt x="15614" y="4965"/>
                  <a:pt x="18964" y="11108"/>
                </a:cubicBezTo>
              </a:path>
              <a:path stroke="0" w="18964" h="21449">
                <a:moveTo>
                  <a:pt x="2547" y="-1"/>
                </a:moveTo>
                <a:cubicBezTo>
                  <a:pt x="9495" y="824"/>
                  <a:pt x="15614" y="4965"/>
                  <a:pt x="18964" y="11108"/>
                </a:cubicBezTo>
                <a:lnTo>
                  <a:pt x="0" y="21449"/>
                </a:lnTo>
                <a:lnTo>
                  <a:pt x="2547" y="-1"/>
                </a:lnTo>
                <a:close/>
              </a:path>
            </a:pathLst>
          </a:custGeom>
          <a:noFill/>
          <a:ln w="12600">
            <a:solidFill>
              <a:srgbClr val="1F2C3A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0" name="WordArt 21"/>
          <p:cNvSpPr txBox="1"/>
          <p:nvPr/>
        </p:nvSpPr>
        <p:spPr>
          <a:xfrm>
            <a:off x="8915520" y="4572000"/>
            <a:ext cx="457200" cy="638280"/>
          </a:xfrm>
          <a:prstGeom prst="rect">
            <a:avLst/>
          </a:prstGeom>
        </p:spPr>
        <p:txBody>
          <a:bodyPr wrap="none" lIns="0" rIns="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100" spc="1" strike="noStrike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3</a:t>
            </a:r>
            <a:endParaRPr b="1" lang="en-US" sz="3100" spc="1" strike="noStrike">
              <a:solidFill>
                <a:srgbClr val="B3261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1" name="AutoShape 22"/>
          <p:cNvSpPr/>
          <p:nvPr/>
        </p:nvSpPr>
        <p:spPr>
          <a:xfrm rot="11212800">
            <a:off x="7619520" y="6019560"/>
            <a:ext cx="914400" cy="380880"/>
          </a:xfrm>
          <a:custGeom>
            <a:avLst/>
            <a:gdLst>
              <a:gd name="textAreaLeft" fmla="*/ 142920 w 914400"/>
              <a:gd name="textAreaRight" fmla="*/ 800280 w 914400"/>
              <a:gd name="textAreaTop" fmla="*/ 95040 h 380880"/>
              <a:gd name="textAreaBottom" fmla="*/ 285840 h 38088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C9D6E4"/>
          </a:solidFill>
          <a:ln w="1260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2" name="WordArt 24"/>
          <p:cNvSpPr txBox="1"/>
          <p:nvPr/>
        </p:nvSpPr>
        <p:spPr>
          <a:xfrm>
            <a:off x="868680" y="256032"/>
            <a:ext cx="10424160" cy="78638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200" spc="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ENTRY</a:t>
            </a:r>
            <a:endParaRPr b="1" lang="en-US" sz="2200" spc="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pic>
        <p:nvPicPr>
          <p:cNvPr id="383" name="TextBox 22" descr=""/>
          <p:cNvPicPr/>
          <p:nvPr/>
        </p:nvPicPr>
        <p:blipFill>
          <a:blip r:embed="rId2"/>
          <a:stretch/>
        </p:blipFill>
        <p:spPr>
          <a:xfrm>
            <a:off x="3760680" y="3998880"/>
            <a:ext cx="2554560" cy="2889360"/>
          </a:xfrm>
          <a:prstGeom prst="rect">
            <a:avLst/>
          </a:prstGeom>
          <a:ln w="0">
            <a:noFill/>
          </a:ln>
        </p:spPr>
      </p:pic>
      <p:sp>
        <p:nvSpPr>
          <p:cNvPr id="384" name="AutoShape 17"/>
          <p:cNvSpPr/>
          <p:nvPr/>
        </p:nvSpPr>
        <p:spPr>
          <a:xfrm rot="16200000">
            <a:off x="1782840" y="4714920"/>
            <a:ext cx="914400" cy="380880"/>
          </a:xfrm>
          <a:custGeom>
            <a:avLst/>
            <a:gdLst>
              <a:gd name="textAreaLeft" fmla="*/ 142920 w 914400"/>
              <a:gd name="textAreaRight" fmla="*/ 800280 w 914400"/>
              <a:gd name="textAreaTop" fmla="*/ 95040 h 380880"/>
              <a:gd name="textAreaBottom" fmla="*/ 285840 h 380880"/>
            </a:gdLst>
            <a:ahLst/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C9D6E4"/>
          </a:solidFill>
          <a:ln w="1260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5" name="Text Box 18"/>
          <p:cNvSpPr/>
          <p:nvPr/>
        </p:nvSpPr>
        <p:spPr>
          <a:xfrm>
            <a:off x="2098920" y="5428440"/>
            <a:ext cx="3452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spAutoFit/>
          </a:bodyPr>
          <a:p>
            <a:pPr algn="l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N</a:t>
            </a: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55" name="design9055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</p:spTree>
  </p:cSld>
  <p:transition>
    <p:wipe dir="d"/>
  </p:transition>
  <p:timing>
    <p:tnLst>
      <p:par>
        <p:cTn id="437" dur="indefinite" restart="never" nodeType="tmRoot">
          <p:childTnLst>
            <p:seq>
              <p:cTn id="438" dur="indefinite" nodeType="mainSeq">
                <p:childTnLst>
                  <p:par>
                    <p:cTn id="439" nodeType="clickEffect" fill="hold">
                      <p:stCondLst>
                        <p:cond delay="0"/>
                      </p:stCondLst>
                      <p:childTnLst>
                        <p:par>
                          <p:cTn id="4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41" nodeType="afterEffect" fill="hold" presetClass="entr" presetID="3" presetSubtype="1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443" dur="500"/>
                                        <p:tgtEl>
                                          <p:spTgt spid="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4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445" nodeType="after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447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450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1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453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456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7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459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462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3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465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468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9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471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474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5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477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480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1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483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486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7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489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492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3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495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498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9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501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2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503" nodeType="afterEffect" fill="hold" presetClass="emph" presetID="8">
                                  <p:stCondLst>
                                    <p:cond delay="3000"/>
                                  </p:stCondLst>
                                  <p:childTnLst>
                                    <p:animRot by="21600000">
                                      <p:cBhvr>
                                        <p:cTn id="504" dur="2000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5" nodeType="afterEffect" fill="hold">
                            <p:stCondLst>
                              <p:cond delay="8000"/>
                            </p:stCondLst>
                            <p:childTnLst>
                              <p:par>
                                <p:cTn id="506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07" dur="2000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8" nodeType="afterEffect" fill="hold">
                            <p:stCondLst>
                              <p:cond delay="10000"/>
                            </p:stCondLst>
                            <p:childTnLst>
                              <p:par>
                                <p:cTn id="509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10" dur="2000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1" nodeType="afterEffect" fill="hold">
                            <p:stCondLst>
                              <p:cond delay="12000"/>
                            </p:stCondLst>
                            <p:childTnLst>
                              <p:par>
                                <p:cTn id="512" nodeType="afterEffect" fill="hold" presetClass="emph" presetID="8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13" dur="2000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4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516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7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519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THE THREE HOLDING SECTORS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pic>
        <p:nvPicPr>
          <p:cNvPr id="387" name="Picture 2" descr="C:\Users\user\Pictures\2010-05-17 The Hold Intering Sectors\The Hold Intering Sectors 001.jpg"/>
          <p:cNvPicPr/>
          <p:nvPr/>
        </p:nvPicPr>
        <p:blipFill>
          <a:blip r:embed="rId2"/>
          <a:stretch/>
        </p:blipFill>
        <p:spPr>
          <a:xfrm>
            <a:off x="3381240" y="1643040"/>
            <a:ext cx="6143760" cy="4897440"/>
          </a:xfrm>
          <a:prstGeom prst="rect">
            <a:avLst/>
          </a:prstGeom>
          <a:ln w="0">
            <a:noFill/>
          </a:ln>
        </p:spPr>
      </p:pic>
      <p:cxnSp>
        <p:nvCxnSpPr>
          <p:cNvPr id="388" name="Straight Arrow Connector 5"/>
          <p:cNvCxnSpPr/>
          <p:nvPr/>
        </p:nvCxnSpPr>
        <p:spPr>
          <a:xfrm>
            <a:off x="6094920" y="1999800"/>
            <a:ext cx="143640" cy="4001400"/>
          </a:xfrm>
          <a:prstGeom prst="straightConnector1">
            <a:avLst/>
          </a:prstGeom>
          <a:ln w="9360">
            <a:solidFill>
              <a:srgbClr val="1F2C3A"/>
            </a:solidFill>
            <a:miter/>
            <a:headEnd len="med" type="arrow" w="med"/>
            <a:tailEnd len="med" type="arrow" w="med"/>
          </a:ln>
        </p:spPr>
      </p:cxnSp>
      <p:sp>
        <p:nvSpPr>
          <p:cNvPr id="389" name="TextBox 10"/>
          <p:cNvSpPr/>
          <p:nvPr/>
        </p:nvSpPr>
        <p:spPr>
          <a:xfrm>
            <a:off x="5815200" y="1643040"/>
            <a:ext cx="688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360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0" name="TextBox 11"/>
          <p:cNvSpPr/>
          <p:nvPr/>
        </p:nvSpPr>
        <p:spPr>
          <a:xfrm>
            <a:off x="8315760" y="4071960"/>
            <a:ext cx="688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090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1" name="TextBox 12"/>
          <p:cNvSpPr/>
          <p:nvPr/>
        </p:nvSpPr>
        <p:spPr>
          <a:xfrm>
            <a:off x="3386280" y="3500280"/>
            <a:ext cx="688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270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2" name="TextBox 13"/>
          <p:cNvSpPr/>
          <p:nvPr/>
        </p:nvSpPr>
        <p:spPr>
          <a:xfrm>
            <a:off x="5886840" y="6000840"/>
            <a:ext cx="688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180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56" name="design9056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56</a:t>
            </a:r>
          </a:p>
        </p:txBody>
      </p:sp>
    </p:spTree>
  </p:cSld>
  <p:transition>
    <p:wipe dir="d"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Rectangle 2"/>
          <p:cNvSpPr/>
          <p:nvPr/>
        </p:nvSpPr>
        <p:spPr>
          <a:xfrm>
            <a:off x="1992360" y="1989000"/>
            <a:ext cx="8229600" cy="25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90381"/>
          </a:bodyPr>
          <a:p>
            <a:pPr marL="343080" indent="-343080" algn="l">
              <a:lnSpc>
                <a:spcPct val="100000"/>
              </a:lnSpc>
              <a:spcBef>
                <a:spcPts val="700"/>
              </a:spcBef>
              <a:buClr>
                <a:srgbClr val="9A6510"/>
              </a:buClr>
              <a:buSzPct val="7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The entry to be used into the holding pattern depends on the aircraft heading in relation to the 3 entry sectors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00000"/>
              </a:lnSpc>
              <a:spcBef>
                <a:spcPts val="700"/>
              </a:spcBef>
              <a:buClr>
                <a:srgbClr val="9A6510"/>
              </a:buClr>
              <a:buSzPct val="7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00000"/>
              </a:lnSpc>
              <a:spcBef>
                <a:spcPts val="700"/>
              </a:spcBef>
              <a:buClr>
                <a:srgbClr val="9A6510"/>
              </a:buClr>
              <a:buSzPct val="7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For entry, there is a zone of flexibility of 5° on either side of the sector boundaries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4" name="WordArt 3"/>
          <p:cNvSpPr txBox="1"/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ENTRY</a:t>
            </a:r>
            <a:endParaRPr b="1" lang="en-US" sz="2600" spc="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9057" name="design9057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57</a:t>
            </a:r>
          </a:p>
        </p:txBody>
      </p:sp>
    </p:spTree>
  </p:cSld>
  <p:transition>
    <p:dissolve/>
  </p:transition>
  <p:timing>
    <p:tnLst>
      <p:par>
        <p:cTn id="520" dur="indefinite" restart="never" nodeType="tmRoot">
          <p:childTnLst>
            <p:seq>
              <p:cTn id="521" dur="indefinite" nodeType="mainSeq">
                <p:childTnLst>
                  <p:par>
                    <p:cTn id="522" nodeType="clickEffect" fill="hold">
                      <p:stCondLst>
                        <p:cond delay="indefinite"/>
                      </p:stCondLst>
                      <p:childTnLst>
                        <p:par>
                          <p:cTn id="5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24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526" dur="2000"/>
                                        <p:tgtEl>
                                          <p:spTgt spid="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7" nodeType="clickEffect" fill="hold">
                      <p:stCondLst>
                        <p:cond delay="indefinite"/>
                      </p:stCondLst>
                      <p:childTnLst>
                        <p:par>
                          <p:cTn id="5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29" nodeType="clickEffect" fill="hold" presetClass="emph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indefinite"/>
                                        <p:tgtEl>
                                          <p:spTgt spid="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nodeType="with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533" dur="2000"/>
                                        <p:tgtEl>
                                          <p:spTgt spid="3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Rectangle 4"/>
          <p:cNvSpPr/>
          <p:nvPr/>
        </p:nvSpPr>
        <p:spPr>
          <a:xfrm>
            <a:off x="868680" y="256032"/>
            <a:ext cx="10424160" cy="786384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2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HOLDING PROCEDURES</a:t>
            </a:r>
            <a:endParaRPr b="1" lang="en-US" sz="22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396" name="Rectangle 5"/>
          <p:cNvSpPr/>
          <p:nvPr/>
        </p:nvSpPr>
        <p:spPr>
          <a:xfrm>
            <a:off x="2135280" y="2276640"/>
            <a:ext cx="828180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normAutofit/>
          </a:bodyPr>
          <a:p>
            <a:pPr marL="343080" indent="-343080" algn="l">
              <a:lnSpc>
                <a:spcPct val="100000"/>
              </a:lnSpc>
              <a:spcBef>
                <a:spcPts val="601"/>
              </a:spcBef>
              <a:buClr>
                <a:srgbClr val="9A6510"/>
              </a:buClr>
              <a:buSzPct val="7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The minimum holding level provides </a:t>
            </a:r>
            <a:r>
              <a:rPr b="1" lang="en-US" sz="2400" spc="-1" strike="noStrike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TERRAIN CLEARANCE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in the </a:t>
            </a: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holding area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(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the airspace required for the entry and holding patterns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) and the </a:t>
            </a: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buffer area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(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an area extending 5nm beyond the boundary of the holding area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)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00000"/>
              </a:lnSpc>
              <a:spcBef>
                <a:spcPts val="601"/>
              </a:spcBef>
              <a:buClr>
                <a:srgbClr val="9A6510"/>
              </a:buClr>
              <a:buSzPct val="7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The minimum holding level provides 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 clearance of 300m (984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’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) above obstacles in the 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holding area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 clearance above obstacles in the buffer area; the 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extent of the clearance reduces with the distance from 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the holding area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7" name="Rectangle 7"/>
          <p:cNvSpPr/>
          <p:nvPr/>
        </p:nvSpPr>
        <p:spPr>
          <a:xfrm>
            <a:off x="3343080" y="1384200"/>
            <a:ext cx="41644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9A6510"/>
                </a:solidFill>
                <a:latin typeface="Calibri"/>
                <a:ea typeface="Calibri"/>
                <a:cs typeface="Calibri"/>
              </a:rPr>
              <a:t>Minimum Holding Level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58" name="design9058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58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4" dur="indefinite" restart="never" nodeType="tmRoot">
          <p:childTnLst>
            <p:seq>
              <p:cTn id="535" dur="indefinite" nodeType="mainSeq">
                <p:childTnLst>
                  <p:par>
                    <p:cTn id="536" nodeType="clickEffect" fill="hold">
                      <p:stCondLst>
                        <p:cond delay="indefinite"/>
                      </p:stCondLst>
                      <p:childTnLst>
                        <p:par>
                          <p:cTn id="53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38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40" dur="500" fill="hold"/>
                                        <p:tgtEl>
                                          <p:spTgt spid="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1" dur="500" fill="hold"/>
                                        <p:tgtEl>
                                          <p:spTgt spid="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42" dur="500"/>
                                        <p:tgtEl>
                                          <p:spTgt spid="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3" nodeType="clickEffect" fill="hold">
                      <p:stCondLst>
                        <p:cond delay="indefinite"/>
                      </p:stCondLst>
                      <p:childTnLst>
                        <p:par>
                          <p:cTn id="5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5" nodeType="clickEffect" fill="hold" presetClass="emph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indefinite"/>
                                        <p:tgtEl>
                                          <p:spTgt spid="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49" dur="500" fill="hold"/>
                                        <p:tgtEl>
                                          <p:spTgt spid="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0" dur="500" fill="hold"/>
                                        <p:tgtEl>
                                          <p:spTgt spid="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51" dur="500"/>
                                        <p:tgtEl>
                                          <p:spTgt spid="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2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54" dur="500" fill="hold"/>
                                        <p:tgtEl>
                                          <p:spTgt spid="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5" dur="500" fill="hold"/>
                                        <p:tgtEl>
                                          <p:spTgt spid="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56" dur="500"/>
                                        <p:tgtEl>
                                          <p:spTgt spid="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7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59" dur="500" fill="hold"/>
                                        <p:tgtEl>
                                          <p:spTgt spid="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0" dur="500" fill="hold"/>
                                        <p:tgtEl>
                                          <p:spTgt spid="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61" dur="500"/>
                                        <p:tgtEl>
                                          <p:spTgt spid="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Rectangle 4"/>
          <p:cNvSpPr/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AIRCRAFT HOLDING </a:t>
            </a: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	</a:t>
            </a: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	</a:t>
            </a: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	</a:t>
            </a: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	</a:t>
            </a: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SPEEDS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399" name="Rectangle 5"/>
          <p:cNvSpPr/>
          <p:nvPr/>
        </p:nvSpPr>
        <p:spPr>
          <a:xfrm>
            <a:off x="1981200" y="1600200"/>
            <a:ext cx="8229600" cy="175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 algn="l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AN AIRCRAFT’S HOLDING SPEED DEPENDS UPON WHETHER IT IS A 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JET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OR 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TURBOPROP AIRCRAFT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, AND THE 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HOLDING ALTITUDE</a:t>
            </a:r>
            <a:r>
              <a:rPr b="0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.   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400" name=""/>
          <p:cNvGraphicFramePr/>
          <p:nvPr/>
        </p:nvGraphicFramePr>
        <p:xfrm>
          <a:off x="2350920" y="3573360"/>
          <a:ext cx="7201080" cy="2874960"/>
        </p:xfrm>
        <a:graphic>
          <a:graphicData uri="http://schemas.openxmlformats.org/drawingml/2006/table">
            <a:tbl>
              <a:tblPr/>
              <a:tblGrid>
                <a:gridCol w="2803680"/>
                <a:gridCol w="2451240"/>
                <a:gridCol w="1946160"/>
              </a:tblGrid>
              <a:tr h="0"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224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ALT/LEVEL</a:t>
                      </a:r>
                      <a:endParaRPr b="1" lang="en-US" sz="224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224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TURBOPROP</a:t>
                      </a:r>
                      <a:endParaRPr b="1" lang="en-US" sz="224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224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JET</a:t>
                      </a:r>
                      <a:endParaRPr b="1" lang="en-US" sz="224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12700">
                      <a:solidFill>
                        <a:srgbClr val="10263F"/>
                      </a:solidFill>
                    </a:lnT>
                    <a:lnB w="12700">
                      <a:solidFill>
                        <a:srgbClr val="10263F"/>
                      </a:solidFill>
                    </a:lnB>
                    <a:solidFill>
                      <a:srgbClr val="10263F"/>
                    </a:solidFill>
                  </a:tcPr>
                </a:tc>
              </a:tr>
              <a:tr h="0"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24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UP TO</a:t>
                      </a:r>
                      <a:r>
                        <a:rPr b="0" lang="en-US" sz="224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 14,000’</a:t>
                      </a:r>
                      <a:endParaRPr b="0" lang="en-US" sz="224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24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170</a:t>
                      </a:r>
                      <a:r>
                        <a:rPr b="0" lang="en-US" sz="224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KTS</a:t>
                      </a:r>
                      <a:endParaRPr b="0" lang="en-US" sz="224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anchor="b">
                      <a:noAutofit/>
                    </a:bodyPr>
                    <a:p>
                      <a:pPr algn="l"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24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210</a:t>
                      </a:r>
                      <a:r>
                        <a:rPr b="0" lang="en-US" sz="224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 KTS</a:t>
                      </a:r>
                      <a:endParaRPr b="0" lang="en-US" sz="224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224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24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ABOVE</a:t>
                      </a:r>
                      <a:r>
                        <a:rPr b="0" lang="en-US" sz="224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 14,000’</a:t>
                      </a:r>
                      <a:endParaRPr b="0" lang="en-US" sz="224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24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175</a:t>
                      </a:r>
                      <a:r>
                        <a:rPr b="0" lang="en-US" sz="224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 KTS</a:t>
                      </a:r>
                      <a:endParaRPr b="0" lang="en-US" sz="224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 lIns="90000" rIns="90000" anchor="ctr">
                      <a:noAutofit/>
                    </a:bodyPr>
                    <a:p>
                      <a:pPr algn="ctr"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24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240</a:t>
                      </a:r>
                      <a:r>
                        <a:rPr b="0" lang="en-US" sz="2240" spc="-1" strike="noStrike">
                          <a:solidFill>
                            <a:srgbClr val="1F2C3A"/>
                          </a:solidFill>
                          <a:latin typeface="Calibri"/>
                          <a:ea typeface="Calibri"/>
                          <a:cs typeface="Calibri"/>
                        </a:rPr>
                        <a:t> KTS</a:t>
                      </a:r>
                      <a:endParaRPr b="0" lang="en-US" sz="2240" spc="-1" strike="noStrike">
                        <a:solidFill>
                          <a:srgbClr val="1F2C3A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 marL="68580" marR="68580" marT="36576" marB="36576">
                    <a:lnT w="6350">
                      <a:solidFill>
                        <a:srgbClr val="C8D3DF"/>
                      </a:solidFill>
                    </a:lnT>
                    <a:lnB w="6350">
                      <a:solidFill>
                        <a:srgbClr val="C8D3DF"/>
                      </a:solidFill>
                    </a:lnB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sp>
        <p:nvSpPr>
          <p:cNvPr id="9059" name="design9059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59</a:t>
            </a:r>
          </a:p>
        </p:txBody>
      </p:sp>
    </p:spTree>
  </p:cSld>
  <p:transition>
    <p:wipe dir="d"/>
  </p:transition>
  <p:timing>
    <p:tnLst>
      <p:par>
        <p:cTn id="562" dur="indefinite" restart="never" nodeType="tmRoot">
          <p:childTnLst>
            <p:seq>
              <p:cTn id="563" dur="indefinite" nodeType="mainSeq">
                <p:childTnLst>
                  <p:par>
                    <p:cTn id="564" nodeType="clickEffect" fill="hold">
                      <p:stCondLst>
                        <p:cond delay="indefinite"/>
                      </p:stCondLst>
                      <p:childTnLst>
                        <p:par>
                          <p:cTn id="56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66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568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nodeType="clickEffect" fill="hold">
                      <p:stCondLst>
                        <p:cond delay="indefinite"/>
                      </p:stCondLst>
                      <p:childTnLst>
                        <p:par>
                          <p:cTn id="57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71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573" dur="2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/>
        </p:nvSpPr>
        <p:spPr>
          <a:xfrm>
            <a:off x="1848000" y="2276640"/>
            <a:ext cx="86407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8743"/>
          </a:bodyPr>
          <a:p>
            <a:pPr marL="343080" indent="-343080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WE HAVE: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0">
              <a:lnSpc>
                <a:spcPct val="8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SzPct val="123461"/>
              <a:buBlip>
                <a:blip r:embed="rId2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THE 3 TYPES OF HOLDING PATTERN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0">
              <a:lnSpc>
                <a:spcPct val="8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SzPct val="123461"/>
              <a:buBlip>
                <a:blip r:embed="rId3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THE PROCEDURES TO BE USED WHEN HOLDING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0">
              <a:lnSpc>
                <a:spcPct val="8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SzPct val="123461"/>
              <a:buBlip>
                <a:blip r:embed="rId4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THE 3 TYPES OF ENTRY INTO A HOLDING PATTERN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0">
              <a:lnSpc>
                <a:spcPct val="8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SzPct val="123461"/>
              <a:buBlip>
                <a:blip r:embed="rId5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THE CALCULATION OF A MINIMUM HOLDING LEVEL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0">
              <a:lnSpc>
                <a:spcPct val="8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SzPct val="123461"/>
              <a:buBlip>
                <a:blip r:embed="rId6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AIRCRAFT HOLDING SPEEDS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343080" indent="0">
              <a:lnSpc>
                <a:spcPct val="8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2" name="Rectangle 6"/>
          <p:cNvSpPr/>
          <p:nvPr/>
        </p:nvSpPr>
        <p:spPr>
          <a:xfrm>
            <a:off x="1774920" y="3789360"/>
            <a:ext cx="822960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 algn="l">
              <a:lnSpc>
                <a:spcPct val="100000"/>
              </a:lnSpc>
              <a:spcBef>
                <a:spcPts val="601"/>
              </a:spcBef>
              <a:buSzPct val="100000"/>
              <a:buBlip>
                <a:blip r:embed="rId7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3" name="WordArt 8"/>
          <p:cNvSpPr txBox="1"/>
          <p:nvPr/>
        </p:nvSpPr>
        <p:spPr>
          <a:xfrm>
            <a:off x="1919280" y="144360"/>
            <a:ext cx="7777080" cy="981000"/>
          </a:xfrm>
          <a:prstGeom prst="rect">
            <a:avLst/>
          </a:prstGeom>
        </p:spPr>
        <p:txBody>
          <a:bodyPr wrap="none" lIns="90000" rIns="90000" tIns="46800" bIns="46800" anchor="t" anchorCtr="1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pc="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HOLDING   PROCEDURE</a:t>
            </a:r>
            <a:endParaRPr b="1" lang="en-US" sz="4000" spc="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4" name="WordArt 9"/>
          <p:cNvSpPr txBox="1"/>
          <p:nvPr/>
        </p:nvSpPr>
        <p:spPr>
          <a:xfrm>
            <a:off x="4511640" y="1631880"/>
            <a:ext cx="2400480" cy="428760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000" spc="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CONCLUTION</a:t>
            </a:r>
            <a:endParaRPr b="1" lang="en-US" sz="2000" spc="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9060" name="design9060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60</a:t>
            </a:r>
          </a:p>
        </p:txBody>
      </p:sp>
    </p:spTree>
  </p:cSld>
  <p:timing>
    <p:tnLst>
      <p:par>
        <p:cTn id="574" dur="indefinite" restart="never" nodeType="tmRoot">
          <p:childTnLst>
            <p:seq>
              <p:cTn id="575" dur="indefinite" nodeType="mainSeq">
                <p:childTnLst>
                  <p:par>
                    <p:cTn id="576" nodeType="clickEffect" fill="hold">
                      <p:stCondLst>
                        <p:cond delay="0"/>
                      </p:stCondLst>
                      <p:childTnLst>
                        <p:par>
                          <p:cTn id="57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78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80" dur="500"/>
                                        <p:tgtEl>
                                          <p:spTgt spid="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1" nodeType="clickEffect" fill="hold">
                      <p:stCondLst>
                        <p:cond delay="indefinite"/>
                      </p:stCondLst>
                      <p:childTnLst>
                        <p:par>
                          <p:cTn id="58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3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85" dur="500"/>
                                        <p:tgtEl>
                                          <p:spTgt spid="4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6" nodeType="clickEffect" fill="hold">
                      <p:stCondLst>
                        <p:cond delay="indefinite"/>
                      </p:stCondLst>
                      <p:childTnLst>
                        <p:par>
                          <p:cTn id="58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8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90" dur="500"/>
                                        <p:tgtEl>
                                          <p:spTgt spid="4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592" nodeType="afterEffect" fill="hold" presetClass="entr" presetID="5" presetSubtype="10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94" dur="500"/>
                                        <p:tgtEl>
                                          <p:spTgt spid="4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5" nodeType="clickEffect" fill="hold">
                      <p:stCondLst>
                        <p:cond delay="indefinite"/>
                      </p:stCondLst>
                      <p:childTnLst>
                        <p:par>
                          <p:cTn id="5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97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99" dur="500"/>
                                        <p:tgtEl>
                                          <p:spTgt spid="4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0" nodeType="clickEffect" fill="hold">
                      <p:stCondLst>
                        <p:cond delay="indefinite"/>
                      </p:stCondLst>
                      <p:childTnLst>
                        <p:par>
                          <p:cTn id="60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02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04" dur="500"/>
                                        <p:tgtEl>
                                          <p:spTgt spid="40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Picture 2" descr="~lwf0001"/>
          <p:cNvPicPr/>
          <p:nvPr/>
        </p:nvPicPr>
        <p:blipFill>
          <a:blip r:embed="rId2"/>
          <a:stretch/>
        </p:blipFill>
        <p:spPr>
          <a:xfrm>
            <a:off x="3432000" y="44280"/>
            <a:ext cx="5256360" cy="6813720"/>
          </a:xfrm>
          <a:prstGeom prst="rect">
            <a:avLst/>
          </a:prstGeom>
          <a:ln w="0">
            <a:noFill/>
          </a:ln>
        </p:spPr>
      </p:pic>
      <p:sp>
        <p:nvSpPr>
          <p:cNvPr id="406" name="Oval 3"/>
          <p:cNvSpPr/>
          <p:nvPr/>
        </p:nvSpPr>
        <p:spPr>
          <a:xfrm>
            <a:off x="4224360" y="2421000"/>
            <a:ext cx="1295280" cy="863640"/>
          </a:xfrm>
          <a:prstGeom prst="ellipse">
            <a:avLst/>
          </a:prstGeom>
          <a:noFill/>
          <a:ln w="38160">
            <a:solidFill>
              <a:srgbClr val="B326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7" name="Oval 4"/>
          <p:cNvSpPr/>
          <p:nvPr/>
        </p:nvSpPr>
        <p:spPr>
          <a:xfrm>
            <a:off x="6743640" y="3141720"/>
            <a:ext cx="865080" cy="792000"/>
          </a:xfrm>
          <a:prstGeom prst="ellipse">
            <a:avLst/>
          </a:prstGeom>
          <a:noFill/>
          <a:ln w="38160">
            <a:solidFill>
              <a:srgbClr val="B326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8" name="Oval 5"/>
          <p:cNvSpPr/>
          <p:nvPr/>
        </p:nvSpPr>
        <p:spPr>
          <a:xfrm>
            <a:off x="3432000" y="1197000"/>
            <a:ext cx="1151280" cy="1152360"/>
          </a:xfrm>
          <a:prstGeom prst="ellipse">
            <a:avLst/>
          </a:prstGeom>
          <a:noFill/>
          <a:ln w="38160">
            <a:solidFill>
              <a:srgbClr val="B3261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61" name="design9061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61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5355A"/>
            </a:gs>
            <a:gs pos="100000">
              <a:srgbClr val="091626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HOLDING PROCEDURE</a:t>
            </a:r>
            <a:endParaRPr b="1" lang="en-US" sz="2600" spc="-1" strike="noStrike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410" name="PlaceHolder 2"/>
          <p:cNvSpPr>
            <a:spLocks noGrp="1"/>
          </p:cNvSpPr>
          <p:nvPr/>
        </p:nvSpPr>
        <p:spPr>
          <a:xfrm>
            <a:off x="2209800" y="1981080"/>
            <a:ext cx="777384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400" spc="-1" strike="noStrik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ANY</a:t>
            </a:r>
            <a:r>
              <a:rPr b="0" lang="en-US" sz="4400" spc="-1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endParaRPr b="0" lang="en-US" sz="4400" spc="-1" strike="noStrik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QUESTIONS</a:t>
            </a:r>
            <a:r>
              <a:rPr b="0" lang="en-US" sz="4400" spc="-1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</a:t>
            </a:r>
            <a:endParaRPr b="0" lang="en-US" sz="4400" spc="-1" strike="noStrik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62" name="design9062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7E93A8"/>
                </a:solidFill>
                <a:latin typeface="Calibri"/>
                <a:ea typeface="Calibri"/>
                <a:cs typeface="Calibri"/>
              </a:rPr>
              <a:t>62</a:t>
            </a:r>
          </a:p>
        </p:txBody>
      </p:sp>
    </p:spTree>
  </p:cSld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5355A"/>
            </a:gs>
            <a:gs pos="100000">
              <a:srgbClr val="091626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3" name="design9063"/>
          <p:cNvSpPr txBox="1"/>
          <p:nvPr/>
        </p:nvSpPr>
        <p:spPr>
          <a:xfrm>
            <a:off x="960120" y="2148840"/>
            <a:ext cx="10241280" cy="1920240"/>
          </a:xfrm>
          <a:prstGeom prst="rect">
            <a:avLst/>
          </a:prstGeom>
          <a:noFill/>
        </p:spPr>
        <p:txBody>
          <a:bodyPr anchor="ctr" lIns="0" rIns="0" tIns="0" bIns="0" wrap="square"/>
          <a:lstStyle/>
          <a:p>
            <a:pPr algn="l">
              <a:buNone/>
            </a:pP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TERMINAL APPROACH PLATES (TAPs)</a:t>
            </a:r>
          </a:p>
        </p:txBody>
      </p:sp>
      <p:sp>
        <p:nvSpPr>
          <p:cNvPr id="9064" name="design9064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7E93A8"/>
                </a:solidFill>
                <a:latin typeface="Calibri"/>
                <a:ea typeface="Calibri"/>
                <a:cs typeface="Calibri"/>
              </a:rPr>
              <a:t>63</a:t>
            </a:r>
          </a:p>
        </p:txBody>
      </p:sp>
    </p:spTree>
  </p:cSld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WordArt 2"/>
          <p:cNvSpPr txBox="1"/>
          <p:nvPr/>
        </p:nvSpPr>
        <p:spPr>
          <a:xfrm>
            <a:off x="960120" y="2148840"/>
            <a:ext cx="10241280" cy="192024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4000" spc="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TERMINAL APPROACH PLATES</a:t>
            </a:r>
            <a:endParaRPr b="1" lang="en-US" sz="4000" spc="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4000" spc="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 </a:t>
            </a:r>
            <a:r>
              <a:rPr b="1" lang="en-US" sz="4000" spc="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(TAPs)</a:t>
            </a:r>
            <a:endParaRPr b="1" lang="en-US" sz="4000" spc="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61" name="Text Box 5"/>
          <p:cNvSpPr/>
          <p:nvPr/>
        </p:nvSpPr>
        <p:spPr>
          <a:xfrm rot="19726200">
            <a:off x="6796200" y="5316120"/>
            <a:ext cx="1839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981200" y="1920960"/>
            <a:ext cx="4038480" cy="4433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649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65" name="design9065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</p:spTree>
  </p:cSld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TERMINAL APPROACH PLATES (TAPs)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447680" y="2276640"/>
            <a:ext cx="9274320" cy="411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485" lnSpcReduction="10000"/>
          </a:bodyPr>
          <a:p>
            <a:pPr marL="609480" indent="-609480" algn="l">
              <a:lnSpc>
                <a:spcPct val="9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AIMS:</a:t>
            </a:r>
            <a:endParaRPr b="0" lang="en-US" sz="40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609480" indent="-609480" algn="l">
              <a:lnSpc>
                <a:spcPct val="9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TO UNDERSTAND THE ABBREVIATIONS USED ON TAPS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TO UNDERSTAND THE SYMBOLS USED ON TAPS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TO LEARN HOW TO INTERPRET A PRECISION &amp;   A NON-PRECISION APPROACH</a:t>
            </a:r>
            <a:endParaRPr b="0" lang="en-US" sz="2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66" name="design9066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65</a:t>
            </a: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edge" transition="in">
                                      <p:cBhvr additive="repl">
                                        <p:cTn id="7" dur="20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nodeType="clickEffect" fill="hold">
                      <p:stCondLst>
                        <p:cond delay="indefinite"/>
                      </p:stCondLst>
                      <p:childTnLst>
                        <p:par>
                          <p:cTn id="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edge" transition="in">
                                      <p:cBhvr additive="repl">
                                        <p:cTn id="12" dur="20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nodeType="clickEffect" fill="hold">
                      <p:stCondLst>
                        <p:cond delay="indefinite"/>
                      </p:stCondLst>
                      <p:childTnLst>
                        <p:par>
                          <p:cTn id="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edge" transition="in">
                                      <p:cBhvr additive="repl">
                                        <p:cTn id="17" dur="2000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nodeType="clickEffect" fill="hold">
                      <p:stCondLst>
                        <p:cond delay="indefinite"/>
                      </p:stCondLst>
                      <p:childTnLst>
                        <p:par>
                          <p:cTn id="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2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edge" transition="in">
                                      <p:cBhvr additive="repl">
                                        <p:cTn id="22" dur="2000"/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1981200" y="2084040"/>
            <a:ext cx="8229600" cy="35672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 algn="ctr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600" spc="-1" strike="noStrike">
                <a:solidFill>
                  <a:srgbClr val="9A6510"/>
                </a:solidFill>
                <a:uFillTx/>
                <a:latin typeface="Calibri"/>
                <a:ea typeface="Calibri"/>
                <a:cs typeface="Calibri"/>
              </a:rPr>
              <a:t>ABBREVIATIONS &amp; SYMBOLS</a:t>
            </a:r>
            <a:endParaRPr b="0" lang="en-US" sz="2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 algn="ctr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TAP STUDY</a:t>
            </a:r>
            <a:endParaRPr b="0" lang="en-US" sz="3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spcBef>
                <a:spcPts val="901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  <a:p>
            <a:pPr marL="272880" indent="-272880">
              <a:spcBef>
                <a:spcPts val="649"/>
              </a:spcBef>
              <a:buClr>
                <a:srgbClr val="10263F"/>
              </a:buClr>
              <a:buSzPct val="9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MASIRAH VORTAC RWY 17</a:t>
            </a:r>
            <a:endParaRPr b="0" lang="en-US" sz="26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Rectangle 3"/>
          <p:cNvSpPr/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TERMINAL APPROACH PLATES (TAPs)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9067" name="design9067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66</a:t>
            </a:r>
          </a:p>
        </p:txBody>
      </p:sp>
    </p:spTree>
  </p:cSld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 descr="~lwf0001"/>
          <p:cNvPicPr/>
          <p:nvPr/>
        </p:nvPicPr>
        <p:blipFill>
          <a:blip r:embed="rId2"/>
          <a:stretch/>
        </p:blipFill>
        <p:spPr>
          <a:xfrm>
            <a:off x="2238240" y="44280"/>
            <a:ext cx="7072560" cy="6831360"/>
          </a:xfrm>
          <a:prstGeom prst="rect">
            <a:avLst/>
          </a:prstGeom>
          <a:ln w="0">
            <a:noFill/>
          </a:ln>
        </p:spPr>
      </p:pic>
      <p:pic>
        <p:nvPicPr>
          <p:cNvPr id="68" name="Picture 3" descr="~LWF0006"/>
          <p:cNvPicPr/>
          <p:nvPr/>
        </p:nvPicPr>
        <p:blipFill>
          <a:blip r:embed="rId3"/>
          <a:srcRect l="73188" t="540" r="0" b="94602"/>
          <a:stretch/>
        </p:blipFill>
        <p:spPr>
          <a:xfrm>
            <a:off x="7248360" y="44280"/>
            <a:ext cx="1872000" cy="252720"/>
          </a:xfrm>
          <a:prstGeom prst="rect">
            <a:avLst/>
          </a:prstGeom>
          <a:ln w="0">
            <a:noFill/>
          </a:ln>
        </p:spPr>
      </p:pic>
      <p:sp>
        <p:nvSpPr>
          <p:cNvPr id="9068" name="design9068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67</a:t>
            </a:r>
          </a:p>
        </p:txBody>
      </p:sp>
    </p:spTree>
  </p:cSld>
  <p:transition>
    <p:circl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 descr=""/>
          <p:cNvPicPr/>
          <p:nvPr/>
        </p:nvPicPr>
        <p:blipFill>
          <a:blip r:embed="rId2"/>
          <a:stretch/>
        </p:blipFill>
        <p:spPr>
          <a:xfrm>
            <a:off x="1322400" y="0"/>
            <a:ext cx="6918480" cy="6858000"/>
          </a:xfrm>
          <a:prstGeom prst="rect">
            <a:avLst/>
          </a:prstGeom>
          <a:ln w="57240">
            <a:solidFill>
              <a:srgbClr val="10263F"/>
            </a:solidFill>
            <a:miter/>
          </a:ln>
        </p:spPr>
      </p:pic>
      <p:grpSp>
        <p:nvGrpSpPr>
          <p:cNvPr id="70" name="Group 3"/>
          <p:cNvGrpSpPr/>
          <p:nvPr/>
        </p:nvGrpSpPr>
        <p:grpSpPr>
          <a:xfrm>
            <a:off x="8112000" y="1341360"/>
            <a:ext cx="2142000" cy="2914560"/>
            <a:chOff x="6588000" y="1341360"/>
            <a:chExt cx="2142000" cy="2914560"/>
          </a:xfrm>
        </p:grpSpPr>
        <p:sp>
          <p:nvSpPr>
            <p:cNvPr id="71" name="Text Box 4"/>
            <p:cNvSpPr/>
            <p:nvPr/>
          </p:nvSpPr>
          <p:spPr>
            <a:xfrm>
              <a:off x="7508520" y="2781360"/>
              <a:ext cx="1221480" cy="368280"/>
            </a:xfrm>
            <a:prstGeom prst="rect">
              <a:avLst/>
            </a:prstGeom>
            <a:noFill/>
            <a:ln w="5724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algn="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pc="-1" strike="noStrike">
                  <a:solidFill>
                    <a:srgbClr val="1F2C3A"/>
                  </a:solidFill>
                  <a:latin typeface="Calibri"/>
                  <a:ea typeface="Calibri"/>
                  <a:cs typeface="Calibri"/>
                </a:rPr>
                <a:t>Plan view</a:t>
              </a:r>
              <a:endParaRPr b="0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2" name="AutoShape 5"/>
            <p:cNvSpPr/>
            <p:nvPr/>
          </p:nvSpPr>
          <p:spPr>
            <a:xfrm>
              <a:off x="6588000" y="1341360"/>
              <a:ext cx="812880" cy="2914560"/>
            </a:xfrm>
            <a:custGeom>
              <a:avLst/>
              <a:gdLst>
                <a:gd name="textAreaLeft" fmla="*/ 0 w 812880"/>
                <a:gd name="textAreaRight" fmla="*/ 293400 w 812880"/>
                <a:gd name="textAreaTop" fmla="*/ 75960 h 2914560"/>
                <a:gd name="textAreaBottom" fmla="*/ 2838600 h 291456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cubicBezTo>
                    <a:pt x="5400" y="0"/>
                    <a:pt x="10800" y="900"/>
                    <a:pt x="10800" y="1800"/>
                  </a:cubicBezTo>
                  <a:lnTo>
                    <a:pt x="10800" y="9000"/>
                  </a:lnTo>
                  <a:cubicBezTo>
                    <a:pt x="10800" y="9900"/>
                    <a:pt x="16200" y="10800"/>
                    <a:pt x="21600" y="10800"/>
                  </a:cubicBezTo>
                  <a:cubicBezTo>
                    <a:pt x="16200" y="10800"/>
                    <a:pt x="10800" y="11700"/>
                    <a:pt x="10800" y="12600"/>
                  </a:cubicBezTo>
                  <a:lnTo>
                    <a:pt x="10800" y="19800"/>
                  </a:lnTo>
                  <a:cubicBezTo>
                    <a:pt x="10800" y="20700"/>
                    <a:pt x="5400" y="21600"/>
                    <a:pt x="0" y="21600"/>
                  </a:cubicBezTo>
                </a:path>
              </a:pathLst>
            </a:custGeom>
            <a:noFill/>
            <a:ln w="5724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73" name="Group 6"/>
          <p:cNvGrpSpPr/>
          <p:nvPr/>
        </p:nvGrpSpPr>
        <p:grpSpPr>
          <a:xfrm>
            <a:off x="8026320" y="0"/>
            <a:ext cx="1990800" cy="1314360"/>
            <a:chOff x="6502320" y="0"/>
            <a:chExt cx="1990800" cy="1314360"/>
          </a:xfrm>
        </p:grpSpPr>
        <p:sp>
          <p:nvSpPr>
            <p:cNvPr id="74" name="AutoShape 7"/>
            <p:cNvSpPr/>
            <p:nvPr/>
          </p:nvSpPr>
          <p:spPr>
            <a:xfrm>
              <a:off x="6502320" y="0"/>
              <a:ext cx="812880" cy="1314360"/>
            </a:xfrm>
            <a:custGeom>
              <a:avLst/>
              <a:gdLst>
                <a:gd name="textAreaLeft" fmla="*/ 0 w 812880"/>
                <a:gd name="textAreaRight" fmla="*/ 293400 w 812880"/>
                <a:gd name="textAreaTop" fmla="*/ 34200 h 1314360"/>
                <a:gd name="textAreaBottom" fmla="*/ 1280160 h 131436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cubicBezTo>
                    <a:pt x="5400" y="0"/>
                    <a:pt x="10800" y="900"/>
                    <a:pt x="10800" y="1800"/>
                  </a:cubicBezTo>
                  <a:lnTo>
                    <a:pt x="10800" y="9000"/>
                  </a:lnTo>
                  <a:cubicBezTo>
                    <a:pt x="10800" y="9900"/>
                    <a:pt x="16200" y="10800"/>
                    <a:pt x="21600" y="10800"/>
                  </a:cubicBezTo>
                  <a:cubicBezTo>
                    <a:pt x="16200" y="10800"/>
                    <a:pt x="10800" y="11700"/>
                    <a:pt x="10800" y="12600"/>
                  </a:cubicBezTo>
                  <a:lnTo>
                    <a:pt x="10800" y="19800"/>
                  </a:lnTo>
                  <a:cubicBezTo>
                    <a:pt x="10800" y="20700"/>
                    <a:pt x="5400" y="21600"/>
                    <a:pt x="0" y="21600"/>
                  </a:cubicBezTo>
                </a:path>
              </a:pathLst>
            </a:custGeom>
            <a:noFill/>
            <a:ln w="5724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5" name="Text Box 8"/>
            <p:cNvSpPr/>
            <p:nvPr/>
          </p:nvSpPr>
          <p:spPr>
            <a:xfrm>
              <a:off x="7436160" y="343080"/>
              <a:ext cx="1056960" cy="368280"/>
            </a:xfrm>
            <a:prstGeom prst="rect">
              <a:avLst/>
            </a:prstGeom>
            <a:noFill/>
            <a:ln w="5724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t">
              <a:spAutoFit/>
            </a:bodyPr>
            <a:p>
              <a:pPr algn="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pc="-1" strike="noStrike">
                  <a:solidFill>
                    <a:srgbClr val="1F2C3A"/>
                  </a:solidFill>
                  <a:latin typeface="Calibri"/>
                  <a:ea typeface="Calibri"/>
                  <a:cs typeface="Calibri"/>
                </a:rPr>
                <a:t>heading</a:t>
              </a:r>
              <a:endParaRPr b="0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76" name="Group 9"/>
          <p:cNvGrpSpPr/>
          <p:nvPr/>
        </p:nvGrpSpPr>
        <p:grpSpPr>
          <a:xfrm>
            <a:off x="8127840" y="4229280"/>
            <a:ext cx="2146320" cy="1143000"/>
            <a:chOff x="6603840" y="4229280"/>
            <a:chExt cx="2146320" cy="1143000"/>
          </a:xfrm>
        </p:grpSpPr>
        <p:sp>
          <p:nvSpPr>
            <p:cNvPr id="77" name="AutoShape 10"/>
            <p:cNvSpPr/>
            <p:nvPr/>
          </p:nvSpPr>
          <p:spPr>
            <a:xfrm>
              <a:off x="6603840" y="4229280"/>
              <a:ext cx="812880" cy="1143000"/>
            </a:xfrm>
            <a:custGeom>
              <a:avLst/>
              <a:gdLst>
                <a:gd name="textAreaLeft" fmla="*/ 0 w 812880"/>
                <a:gd name="textAreaRight" fmla="*/ 293400 w 812880"/>
                <a:gd name="textAreaTop" fmla="*/ 29520 h 1143000"/>
                <a:gd name="textAreaBottom" fmla="*/ 1113480 h 114300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cubicBezTo>
                    <a:pt x="5400" y="0"/>
                    <a:pt x="10800" y="900"/>
                    <a:pt x="10800" y="1800"/>
                  </a:cubicBezTo>
                  <a:lnTo>
                    <a:pt x="10800" y="9000"/>
                  </a:lnTo>
                  <a:cubicBezTo>
                    <a:pt x="10800" y="9900"/>
                    <a:pt x="16200" y="10800"/>
                    <a:pt x="21600" y="10800"/>
                  </a:cubicBezTo>
                  <a:cubicBezTo>
                    <a:pt x="16200" y="10800"/>
                    <a:pt x="10800" y="11700"/>
                    <a:pt x="10800" y="12600"/>
                  </a:cubicBezTo>
                  <a:lnTo>
                    <a:pt x="10800" y="19800"/>
                  </a:lnTo>
                  <a:cubicBezTo>
                    <a:pt x="10800" y="20700"/>
                    <a:pt x="5400" y="21600"/>
                    <a:pt x="0" y="21600"/>
                  </a:cubicBezTo>
                </a:path>
              </a:pathLst>
            </a:custGeom>
            <a:noFill/>
            <a:ln w="5724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8" name="Text Box 11"/>
            <p:cNvSpPr/>
            <p:nvPr/>
          </p:nvSpPr>
          <p:spPr>
            <a:xfrm>
              <a:off x="7578720" y="4400640"/>
              <a:ext cx="1171440" cy="642600"/>
            </a:xfrm>
            <a:prstGeom prst="rect">
              <a:avLst/>
            </a:prstGeom>
            <a:noFill/>
            <a:ln w="5724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t">
              <a:spAutoFit/>
            </a:bodyPr>
            <a:p>
              <a:pPr algn="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pc="-1" strike="noStrike">
                  <a:solidFill>
                    <a:srgbClr val="1F2C3A"/>
                  </a:solidFill>
                  <a:latin typeface="Calibri"/>
                  <a:ea typeface="Calibri"/>
                  <a:cs typeface="Calibri"/>
                </a:rPr>
                <a:t>PROFILE</a:t>
              </a:r>
              <a:endParaRPr b="0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  <a:p>
              <a:pPr algn="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pc="-1" strike="noStrike">
                  <a:solidFill>
                    <a:srgbClr val="1F2C3A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b="1" lang="en-US" sz="1800" spc="-1" strike="noStrike">
                  <a:solidFill>
                    <a:srgbClr val="1F2C3A"/>
                  </a:solidFill>
                  <a:latin typeface="Calibri"/>
                  <a:ea typeface="Calibri"/>
                  <a:cs typeface="Calibri"/>
                </a:rPr>
                <a:t>VIEW</a:t>
              </a:r>
              <a:endParaRPr b="0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79" name="Group 12"/>
          <p:cNvGrpSpPr/>
          <p:nvPr/>
        </p:nvGrpSpPr>
        <p:grpSpPr>
          <a:xfrm>
            <a:off x="8127840" y="5372280"/>
            <a:ext cx="2316960" cy="1257120"/>
            <a:chOff x="6603840" y="5372280"/>
            <a:chExt cx="2316960" cy="1257120"/>
          </a:xfrm>
        </p:grpSpPr>
        <p:sp>
          <p:nvSpPr>
            <p:cNvPr id="80" name="AutoShape 13"/>
            <p:cNvSpPr/>
            <p:nvPr/>
          </p:nvSpPr>
          <p:spPr>
            <a:xfrm>
              <a:off x="6603840" y="5372280"/>
              <a:ext cx="812880" cy="1257120"/>
            </a:xfrm>
            <a:custGeom>
              <a:avLst/>
              <a:gdLst>
                <a:gd name="textAreaLeft" fmla="*/ 0 w 812880"/>
                <a:gd name="textAreaRight" fmla="*/ 293400 w 812880"/>
                <a:gd name="textAreaTop" fmla="*/ 32760 h 1257120"/>
                <a:gd name="textAreaBottom" fmla="*/ 1224360 h 125712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cubicBezTo>
                    <a:pt x="5400" y="0"/>
                    <a:pt x="10800" y="900"/>
                    <a:pt x="10800" y="1800"/>
                  </a:cubicBezTo>
                  <a:lnTo>
                    <a:pt x="10800" y="9000"/>
                  </a:lnTo>
                  <a:cubicBezTo>
                    <a:pt x="10800" y="9900"/>
                    <a:pt x="16200" y="10800"/>
                    <a:pt x="21600" y="10800"/>
                  </a:cubicBezTo>
                  <a:cubicBezTo>
                    <a:pt x="16200" y="10800"/>
                    <a:pt x="10800" y="11700"/>
                    <a:pt x="10800" y="12600"/>
                  </a:cubicBezTo>
                  <a:lnTo>
                    <a:pt x="10800" y="19800"/>
                  </a:lnTo>
                  <a:cubicBezTo>
                    <a:pt x="10800" y="20700"/>
                    <a:pt x="5400" y="21600"/>
                    <a:pt x="0" y="21600"/>
                  </a:cubicBezTo>
                </a:path>
              </a:pathLst>
            </a:custGeom>
            <a:noFill/>
            <a:ln w="5724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46800" bIns="468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1" name="Text Box 14"/>
            <p:cNvSpPr/>
            <p:nvPr/>
          </p:nvSpPr>
          <p:spPr>
            <a:xfrm>
              <a:off x="7560360" y="5600880"/>
              <a:ext cx="1360440" cy="642600"/>
            </a:xfrm>
            <a:prstGeom prst="rect">
              <a:avLst/>
            </a:prstGeom>
            <a:noFill/>
            <a:ln w="57240">
              <a:solidFill>
                <a:srgbClr val="10263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algn="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pc="-1" strike="noStrike">
                  <a:solidFill>
                    <a:srgbClr val="1F2C3A"/>
                  </a:solidFill>
                  <a:latin typeface="Calibri"/>
                  <a:ea typeface="Calibri"/>
                  <a:cs typeface="Calibri"/>
                </a:rPr>
                <a:t>LANDING</a:t>
              </a:r>
              <a:r>
                <a:rPr b="1" lang="en-US" sz="1800" spc="-1" strike="noStrike">
                  <a:solidFill>
                    <a:srgbClr val="1F2C3A"/>
                  </a:solidFill>
                  <a:latin typeface="Calibri"/>
                  <a:ea typeface="Calibri"/>
                  <a:cs typeface="Calibri"/>
                </a:rPr>
                <a:t> </a:t>
              </a:r>
              <a:endParaRPr b="0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  <a:p>
              <a:pPr algn="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pc="-1" strike="noStrike">
                  <a:solidFill>
                    <a:srgbClr val="1F2C3A"/>
                  </a:solidFill>
                  <a:latin typeface="Calibri"/>
                  <a:ea typeface="Calibri"/>
                  <a:cs typeface="Calibri"/>
                </a:rPr>
                <a:t>MINIMUMS</a:t>
              </a:r>
              <a:endParaRPr b="0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9069" name="design9069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nodeType="clickEffect" fill="hold">
                      <p:stCondLst>
                        <p:cond delay="indefinite"/>
                      </p:stCondLst>
                      <p:childTnLst>
                        <p:par>
                          <p:cTn id="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nodeType="clickEffect" fill="hold">
                      <p:stCondLst>
                        <p:cond delay="indefinite"/>
                      </p:stCondLst>
                      <p:childTnLst>
                        <p:par>
                          <p:cTn id="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nodeType="clickEffect" fill="hold">
                      <p:stCondLst>
                        <p:cond delay="indefinite"/>
                      </p:stCondLst>
                      <p:childTnLst>
                        <p:par>
                          <p:cTn id="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nodeType="clickEffect" fill="hold">
                      <p:stCondLst>
                        <p:cond delay="indefinite"/>
                      </p:stCondLst>
                      <p:childTnLst>
                        <p:par>
                          <p:cTn id="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nodeType="clickEffect" fill="hold">
                      <p:stCondLst>
                        <p:cond delay="indefinite"/>
                      </p:stCondLst>
                      <p:childTnLst>
                        <p:par>
                          <p:cTn id="5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2"/>
          <p:cNvSpPr/>
          <p:nvPr/>
        </p:nvSpPr>
        <p:spPr>
          <a:xfrm>
            <a:off x="1992360" y="2349360"/>
            <a:ext cx="8207280" cy="1656000"/>
          </a:xfrm>
          <a:prstGeom prst="rect">
            <a:avLst/>
          </a:prstGeom>
          <a:solidFill>
            <a:srgbClr val="1F2C3A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l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3" name="Picture 3" descr="~LWF0006"/>
          <p:cNvPicPr/>
          <p:nvPr/>
        </p:nvPicPr>
        <p:blipFill>
          <a:blip r:embed="rId2"/>
          <a:srcRect l="0" t="0" r="0" b="94602"/>
          <a:stretch/>
        </p:blipFill>
        <p:spPr>
          <a:xfrm>
            <a:off x="2135280" y="2852640"/>
            <a:ext cx="7775640" cy="719280"/>
          </a:xfrm>
          <a:prstGeom prst="rect">
            <a:avLst/>
          </a:prstGeom>
          <a:ln w="0">
            <a:noFill/>
          </a:ln>
        </p:spPr>
      </p:pic>
      <p:grpSp>
        <p:nvGrpSpPr>
          <p:cNvPr id="84" name="Group 17"/>
          <p:cNvGrpSpPr/>
          <p:nvPr/>
        </p:nvGrpSpPr>
        <p:grpSpPr>
          <a:xfrm>
            <a:off x="1557480" y="1628640"/>
            <a:ext cx="2090520" cy="1440000"/>
            <a:chOff x="33480" y="1628640"/>
            <a:chExt cx="2090520" cy="1440000"/>
          </a:xfrm>
        </p:grpSpPr>
        <p:sp>
          <p:nvSpPr>
            <p:cNvPr id="85" name="Line 4"/>
            <p:cNvSpPr/>
            <p:nvPr/>
          </p:nvSpPr>
          <p:spPr>
            <a:xfrm>
              <a:off x="684720" y="1881000"/>
              <a:ext cx="287280" cy="1187640"/>
            </a:xfrm>
            <a:prstGeom prst="line">
              <a:avLst/>
            </a:prstGeom>
            <a:ln w="15840">
              <a:solidFill>
                <a:srgbClr val="B3261E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t" wrap="none">
              <a:noAutofit/>
            </a:bodyPr>
            <a:p>
              <a:pPr algn="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6" name="Text Box 5"/>
            <p:cNvSpPr/>
            <p:nvPr/>
          </p:nvSpPr>
          <p:spPr>
            <a:xfrm>
              <a:off x="33480" y="1628640"/>
              <a:ext cx="209052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rPr>
                <a:t>GEOGRAPHIC NAME</a:t>
              </a:r>
              <a:endParaRPr b="0" lang="en-US" sz="1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87" name="Group 22"/>
          <p:cNvGrpSpPr/>
          <p:nvPr/>
        </p:nvGrpSpPr>
        <p:grpSpPr>
          <a:xfrm>
            <a:off x="2067960" y="3428640"/>
            <a:ext cx="1557000" cy="1227240"/>
            <a:chOff x="543960" y="3428640"/>
            <a:chExt cx="1557000" cy="1227240"/>
          </a:xfrm>
        </p:grpSpPr>
        <p:sp>
          <p:nvSpPr>
            <p:cNvPr id="88" name="Line 6"/>
            <p:cNvSpPr/>
            <p:nvPr/>
          </p:nvSpPr>
          <p:spPr>
            <a:xfrm flipH="1" flipV="1">
              <a:off x="971280" y="3428640"/>
              <a:ext cx="431640" cy="1008360"/>
            </a:xfrm>
            <a:prstGeom prst="line">
              <a:avLst/>
            </a:prstGeom>
            <a:ln w="9360">
              <a:solidFill>
                <a:srgbClr val="B3261E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t" wrap="none">
              <a:noAutofit/>
            </a:bodyPr>
            <a:p>
              <a:pPr algn="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9" name="Text Box 7"/>
            <p:cNvSpPr/>
            <p:nvPr/>
          </p:nvSpPr>
          <p:spPr>
            <a:xfrm>
              <a:off x="543960" y="4348440"/>
              <a:ext cx="15570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rPr>
                <a:t>AIRPORT NAME</a:t>
              </a:r>
              <a:endParaRPr b="0" lang="en-US" sz="1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90" name="Group 18"/>
          <p:cNvGrpSpPr/>
          <p:nvPr/>
        </p:nvGrpSpPr>
        <p:grpSpPr>
          <a:xfrm>
            <a:off x="3842040" y="1900080"/>
            <a:ext cx="1338840" cy="1384560"/>
            <a:chOff x="2318040" y="1900080"/>
            <a:chExt cx="1338840" cy="1384560"/>
          </a:xfrm>
        </p:grpSpPr>
        <p:sp>
          <p:nvSpPr>
            <p:cNvPr id="91" name="Line 8"/>
            <p:cNvSpPr/>
            <p:nvPr/>
          </p:nvSpPr>
          <p:spPr>
            <a:xfrm>
              <a:off x="2843280" y="2133360"/>
              <a:ext cx="720720" cy="1151280"/>
            </a:xfrm>
            <a:prstGeom prst="line">
              <a:avLst/>
            </a:prstGeom>
            <a:ln w="9360">
              <a:solidFill>
                <a:srgbClr val="B3261E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t" wrap="none">
              <a:noAutofit/>
            </a:bodyPr>
            <a:p>
              <a:pPr algn="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92" name="Text Box 9"/>
            <p:cNvSpPr/>
            <p:nvPr/>
          </p:nvSpPr>
          <p:spPr>
            <a:xfrm>
              <a:off x="2318040" y="1900080"/>
              <a:ext cx="133884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rPr>
                <a:t>CHART DATE</a:t>
              </a:r>
              <a:endParaRPr b="0" lang="en-US" sz="1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93" name="Group 21"/>
          <p:cNvGrpSpPr/>
          <p:nvPr/>
        </p:nvGrpSpPr>
        <p:grpSpPr>
          <a:xfrm>
            <a:off x="4065240" y="3429000"/>
            <a:ext cx="2102400" cy="1242720"/>
            <a:chOff x="2541240" y="3429000"/>
            <a:chExt cx="2102400" cy="1242720"/>
          </a:xfrm>
        </p:grpSpPr>
        <p:sp>
          <p:nvSpPr>
            <p:cNvPr id="94" name="Line 10"/>
            <p:cNvSpPr/>
            <p:nvPr/>
          </p:nvSpPr>
          <p:spPr>
            <a:xfrm flipV="1">
              <a:off x="3635280" y="3429000"/>
              <a:ext cx="936360" cy="1008000"/>
            </a:xfrm>
            <a:prstGeom prst="line">
              <a:avLst/>
            </a:prstGeom>
            <a:ln w="9360">
              <a:solidFill>
                <a:srgbClr val="B3261E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t" wrap="none">
              <a:noAutofit/>
            </a:bodyPr>
            <a:p>
              <a:pPr algn="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95" name="Text Box 11"/>
            <p:cNvSpPr/>
            <p:nvPr/>
          </p:nvSpPr>
          <p:spPr>
            <a:xfrm>
              <a:off x="2541240" y="4364280"/>
              <a:ext cx="21024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rPr>
                <a:t>CART INDEX NUMBER</a:t>
              </a:r>
              <a:endParaRPr b="0" lang="en-US" sz="1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96" name="Group 19"/>
          <p:cNvGrpSpPr/>
          <p:nvPr/>
        </p:nvGrpSpPr>
        <p:grpSpPr>
          <a:xfrm>
            <a:off x="6167280" y="1843200"/>
            <a:ext cx="3097440" cy="1225440"/>
            <a:chOff x="4643280" y="1843200"/>
            <a:chExt cx="3097440" cy="1225440"/>
          </a:xfrm>
        </p:grpSpPr>
        <p:sp>
          <p:nvSpPr>
            <p:cNvPr id="97" name="Line 12"/>
            <p:cNvSpPr/>
            <p:nvPr/>
          </p:nvSpPr>
          <p:spPr>
            <a:xfrm>
              <a:off x="5857920" y="2143080"/>
              <a:ext cx="1306800" cy="925560"/>
            </a:xfrm>
            <a:prstGeom prst="line">
              <a:avLst/>
            </a:prstGeom>
            <a:ln w="9360">
              <a:solidFill>
                <a:srgbClr val="B3261E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98" name="Text Box 13"/>
            <p:cNvSpPr/>
            <p:nvPr/>
          </p:nvSpPr>
          <p:spPr>
            <a:xfrm>
              <a:off x="4643280" y="1843200"/>
              <a:ext cx="309744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rPr>
                <a:t>GEOGRAPHICAL LOCATION</a:t>
              </a:r>
              <a:endParaRPr b="0" lang="en-US" sz="1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99" name="Group 28"/>
          <p:cNvGrpSpPr/>
          <p:nvPr/>
        </p:nvGrpSpPr>
        <p:grpSpPr>
          <a:xfrm>
            <a:off x="7231080" y="3500280"/>
            <a:ext cx="2795760" cy="1236240"/>
            <a:chOff x="5707080" y="3500280"/>
            <a:chExt cx="2795760" cy="1236240"/>
          </a:xfrm>
        </p:grpSpPr>
        <p:sp>
          <p:nvSpPr>
            <p:cNvPr id="100" name="Line 14"/>
            <p:cNvSpPr/>
            <p:nvPr/>
          </p:nvSpPr>
          <p:spPr>
            <a:xfrm flipV="1">
              <a:off x="7092720" y="3500280"/>
              <a:ext cx="0" cy="936720"/>
            </a:xfrm>
            <a:prstGeom prst="line">
              <a:avLst/>
            </a:prstGeom>
            <a:ln w="9360">
              <a:solidFill>
                <a:srgbClr val="B3261E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t" wrap="none">
              <a:noAutofit/>
            </a:bodyPr>
            <a:p>
              <a:pPr algn="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01" name="Text Box 15"/>
            <p:cNvSpPr/>
            <p:nvPr/>
          </p:nvSpPr>
          <p:spPr>
            <a:xfrm>
              <a:off x="5707080" y="4429080"/>
              <a:ext cx="279576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rPr>
                <a:t>PROCEDURE IDENTIFICATION</a:t>
              </a:r>
              <a:endParaRPr b="0" lang="en-US" sz="1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02" name="Group 31"/>
          <p:cNvGrpSpPr/>
          <p:nvPr/>
        </p:nvGrpSpPr>
        <p:grpSpPr>
          <a:xfrm>
            <a:off x="7509000" y="3499920"/>
            <a:ext cx="2230200" cy="2289240"/>
            <a:chOff x="5985000" y="3499920"/>
            <a:chExt cx="2230200" cy="2289240"/>
          </a:xfrm>
        </p:grpSpPr>
        <p:sp>
          <p:nvSpPr>
            <p:cNvPr id="103" name="Line 14"/>
            <p:cNvSpPr/>
            <p:nvPr/>
          </p:nvSpPr>
          <p:spPr>
            <a:xfrm flipV="1">
              <a:off x="7572240" y="3499920"/>
              <a:ext cx="642960" cy="1929240"/>
            </a:xfrm>
            <a:prstGeom prst="line">
              <a:avLst/>
            </a:prstGeom>
            <a:ln w="9360">
              <a:solidFill>
                <a:srgbClr val="B3261E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46800" bIns="46800" anchor="t" wrap="none">
              <a:noAutofit/>
            </a:bodyPr>
            <a:p>
              <a:pPr algn="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04" name="Text Box 15"/>
            <p:cNvSpPr/>
            <p:nvPr/>
          </p:nvSpPr>
          <p:spPr>
            <a:xfrm>
              <a:off x="5985000" y="5481720"/>
              <a:ext cx="22014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400" spc="-1" strike="noStrike">
                  <a:solidFill>
                    <a:srgbClr val="10263F"/>
                  </a:solidFill>
                  <a:latin typeface="Calibri"/>
                  <a:ea typeface="Calibri"/>
                  <a:cs typeface="Calibri"/>
                </a:rPr>
                <a:t>DESIGNATED RUNWAY</a:t>
              </a:r>
              <a:endParaRPr b="0" lang="en-US" sz="14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9070" name="design9070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69</a:t>
            </a:r>
          </a:p>
        </p:txBody>
      </p:sp>
    </p:spTree>
  </p:cSld>
  <p:timing>
    <p:tnLst>
      <p:par>
        <p:cTn id="55" dur="indefinite" restart="never" nodeType="tmRoot">
          <p:childTnLst>
            <p:seq>
              <p:cTn id="56" dur="indefinite" nodeType="mainSeq">
                <p:childTnLst>
                  <p:par>
                    <p:cTn id="57" nodeType="clickEffect" fill="hold">
                      <p:stCondLst>
                        <p:cond delay="indefinite"/>
                      </p:stCondLst>
                      <p:childTnLst>
                        <p:par>
                          <p:cTn id="5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6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nodeType="clickEffect" fill="hold">
                      <p:stCondLst>
                        <p:cond delay="indefinite"/>
                      </p:stCondLst>
                      <p:childTnLst>
                        <p:par>
                          <p:cTn id="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4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nodeType="clickEffect" fill="hold">
                      <p:stCondLst>
                        <p:cond delay="indefinite"/>
                      </p:stCondLst>
                      <p:childTnLst>
                        <p:par>
                          <p:cTn id="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0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7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nodeType="clickEffect" fill="hold">
                      <p:stCondLst>
                        <p:cond delay="indefinite"/>
                      </p:stCondLst>
                      <p:childTnLst>
                        <p:par>
                          <p:cTn id="7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7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nodeType="clickEffect" fill="hold">
                      <p:stCondLst>
                        <p:cond delay="indefinite"/>
                      </p:stCondLst>
                      <p:childTnLst>
                        <p:par>
                          <p:cTn id="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0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82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nodeType="clickEffect" fill="hold">
                      <p:stCondLst>
                        <p:cond delay="indefinite"/>
                      </p:stCondLst>
                      <p:childTnLst>
                        <p:par>
                          <p:cTn id="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8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nodeType="clickEffect" fill="hold">
                      <p:stCondLst>
                        <p:cond delay="indefinite"/>
                      </p:stCondLst>
                      <p:childTnLst>
                        <p:par>
                          <p:cTn id="8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0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9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2"/>
          <p:cNvSpPr/>
          <p:nvPr/>
        </p:nvSpPr>
        <p:spPr>
          <a:xfrm>
            <a:off x="1805160" y="404640"/>
            <a:ext cx="8642160" cy="3743640"/>
          </a:xfrm>
          <a:prstGeom prst="rect">
            <a:avLst/>
          </a:prstGeom>
          <a:solidFill>
            <a:srgbClr val="1F2C3A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l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6" name="Picture 3" descr="~lwf0001"/>
          <p:cNvPicPr/>
          <p:nvPr/>
        </p:nvPicPr>
        <p:blipFill>
          <a:blip r:embed="rId2"/>
          <a:srcRect l="0" t="3741" r="0" b="80444"/>
          <a:stretch/>
        </p:blipFill>
        <p:spPr>
          <a:xfrm>
            <a:off x="1950960" y="1195560"/>
            <a:ext cx="8353440" cy="2736720"/>
          </a:xfrm>
          <a:prstGeom prst="rect">
            <a:avLst/>
          </a:prstGeom>
          <a:ln w="0">
            <a:noFill/>
          </a:ln>
        </p:spPr>
      </p:pic>
      <p:sp>
        <p:nvSpPr>
          <p:cNvPr id="107" name="Line 4"/>
          <p:cNvSpPr/>
          <p:nvPr/>
        </p:nvSpPr>
        <p:spPr>
          <a:xfrm flipV="1">
            <a:off x="2454240" y="3860640"/>
            <a:ext cx="73080" cy="720720"/>
          </a:xfrm>
          <a:prstGeom prst="line">
            <a:avLst/>
          </a:prstGeom>
          <a:ln w="9360">
            <a:solidFill>
              <a:srgbClr val="B3261E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 wrap="none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Text Box 5"/>
          <p:cNvSpPr/>
          <p:nvPr/>
        </p:nvSpPr>
        <p:spPr>
          <a:xfrm>
            <a:off x="1445160" y="4508640"/>
            <a:ext cx="2021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ALTIMETER SETTING</a:t>
            </a:r>
            <a:endParaRPr b="0" lang="en-US" sz="1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Line 6"/>
          <p:cNvSpPr/>
          <p:nvPr/>
        </p:nvSpPr>
        <p:spPr>
          <a:xfrm flipV="1">
            <a:off x="4254600" y="4003560"/>
            <a:ext cx="0" cy="657360"/>
          </a:xfrm>
          <a:prstGeom prst="line">
            <a:avLst/>
          </a:prstGeom>
          <a:ln w="9360">
            <a:solidFill>
              <a:srgbClr val="B3261E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 wrap="none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Rectangle 7"/>
          <p:cNvSpPr/>
          <p:nvPr/>
        </p:nvSpPr>
        <p:spPr>
          <a:xfrm>
            <a:off x="2135280" y="1197000"/>
            <a:ext cx="1512720" cy="720720"/>
          </a:xfrm>
          <a:prstGeom prst="rect">
            <a:avLst/>
          </a:prstGeom>
          <a:noFill/>
          <a:ln w="57240">
            <a:solidFill>
              <a:srgbClr val="B3261E">
                <a:alpha val="51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Rectangle 8"/>
          <p:cNvSpPr/>
          <p:nvPr/>
        </p:nvSpPr>
        <p:spPr>
          <a:xfrm>
            <a:off x="3678240" y="1195560"/>
            <a:ext cx="1584360" cy="720720"/>
          </a:xfrm>
          <a:prstGeom prst="rect">
            <a:avLst/>
          </a:prstGeom>
          <a:noFill/>
          <a:ln w="57240">
            <a:solidFill>
              <a:srgbClr val="B3261E">
                <a:alpha val="51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Rectangle 9"/>
          <p:cNvSpPr/>
          <p:nvPr/>
        </p:nvSpPr>
        <p:spPr>
          <a:xfrm>
            <a:off x="5262600" y="1195560"/>
            <a:ext cx="1584360" cy="720720"/>
          </a:xfrm>
          <a:prstGeom prst="rect">
            <a:avLst/>
          </a:prstGeom>
          <a:noFill/>
          <a:ln w="57240">
            <a:solidFill>
              <a:srgbClr val="B3261E">
                <a:alpha val="51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Rectangle 10"/>
          <p:cNvSpPr/>
          <p:nvPr/>
        </p:nvSpPr>
        <p:spPr>
          <a:xfrm>
            <a:off x="6888000" y="1195560"/>
            <a:ext cx="1584360" cy="720720"/>
          </a:xfrm>
          <a:prstGeom prst="rect">
            <a:avLst/>
          </a:prstGeom>
          <a:noFill/>
          <a:ln w="57240">
            <a:solidFill>
              <a:srgbClr val="B3261E">
                <a:alpha val="51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Rectangle 11"/>
          <p:cNvSpPr/>
          <p:nvPr/>
        </p:nvSpPr>
        <p:spPr>
          <a:xfrm>
            <a:off x="8502600" y="1197000"/>
            <a:ext cx="1584360" cy="647640"/>
          </a:xfrm>
          <a:prstGeom prst="rect">
            <a:avLst/>
          </a:prstGeom>
          <a:noFill/>
          <a:ln w="57240">
            <a:solidFill>
              <a:srgbClr val="B3261E">
                <a:alpha val="51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Rectangle 12"/>
          <p:cNvSpPr/>
          <p:nvPr/>
        </p:nvSpPr>
        <p:spPr>
          <a:xfrm>
            <a:off x="2095680" y="1916280"/>
            <a:ext cx="5182920" cy="792000"/>
          </a:xfrm>
          <a:prstGeom prst="rect">
            <a:avLst/>
          </a:prstGeom>
          <a:noFill/>
          <a:ln w="57240">
            <a:solidFill>
              <a:srgbClr val="B3261E">
                <a:alpha val="51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l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Rectangle 13"/>
          <p:cNvSpPr/>
          <p:nvPr/>
        </p:nvSpPr>
        <p:spPr>
          <a:xfrm>
            <a:off x="7207320" y="1916280"/>
            <a:ext cx="1441440" cy="792000"/>
          </a:xfrm>
          <a:prstGeom prst="rect">
            <a:avLst/>
          </a:prstGeom>
          <a:noFill/>
          <a:ln w="57240">
            <a:solidFill>
              <a:srgbClr val="B3261E">
                <a:alpha val="51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Rectangle 14"/>
          <p:cNvSpPr/>
          <p:nvPr/>
        </p:nvSpPr>
        <p:spPr>
          <a:xfrm>
            <a:off x="2095680" y="2708280"/>
            <a:ext cx="6551280" cy="863640"/>
          </a:xfrm>
          <a:prstGeom prst="rect">
            <a:avLst/>
          </a:prstGeom>
          <a:noFill/>
          <a:ln w="57240">
            <a:solidFill>
              <a:srgbClr val="B3261E">
                <a:alpha val="51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l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Line 15"/>
          <p:cNvSpPr/>
          <p:nvPr/>
        </p:nvSpPr>
        <p:spPr>
          <a:xfrm flipV="1">
            <a:off x="5551320" y="3931920"/>
            <a:ext cx="0" cy="1081080"/>
          </a:xfrm>
          <a:prstGeom prst="line">
            <a:avLst/>
          </a:prstGeom>
          <a:ln w="9360">
            <a:solidFill>
              <a:srgbClr val="B3261E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 wrap="none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Line 16"/>
          <p:cNvSpPr/>
          <p:nvPr/>
        </p:nvSpPr>
        <p:spPr>
          <a:xfrm flipV="1">
            <a:off x="7278600" y="3931920"/>
            <a:ext cx="0" cy="1081080"/>
          </a:xfrm>
          <a:prstGeom prst="line">
            <a:avLst/>
          </a:prstGeom>
          <a:ln w="9360">
            <a:solidFill>
              <a:srgbClr val="B3261E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 wrap="none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" name="Line 17"/>
          <p:cNvSpPr/>
          <p:nvPr/>
        </p:nvSpPr>
        <p:spPr>
          <a:xfrm flipV="1">
            <a:off x="8504400" y="3211200"/>
            <a:ext cx="431640" cy="1297080"/>
          </a:xfrm>
          <a:prstGeom prst="line">
            <a:avLst/>
          </a:prstGeom>
          <a:ln w="38160">
            <a:solidFill>
              <a:srgbClr val="B3261E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 wrap="none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Text Box 18"/>
          <p:cNvSpPr/>
          <p:nvPr/>
        </p:nvSpPr>
        <p:spPr>
          <a:xfrm>
            <a:off x="7411440" y="4437000"/>
            <a:ext cx="3881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square" lIns="90000" rIns="90000" tIns="46800" bIns="46800" anchor="t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MSA</a:t>
            </a:r>
            <a:r>
              <a:rPr b="1" lang="en-US" sz="1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 Minimum Safe  Altitude</a:t>
            </a:r>
            <a:endParaRPr b="0" lang="en-US" sz="1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Rectangle 19"/>
          <p:cNvSpPr/>
          <p:nvPr/>
        </p:nvSpPr>
        <p:spPr>
          <a:xfrm>
            <a:off x="8791680" y="3500280"/>
            <a:ext cx="1224000" cy="358920"/>
          </a:xfrm>
          <a:prstGeom prst="rect">
            <a:avLst/>
          </a:prstGeom>
          <a:noFill/>
          <a:ln w="57240">
            <a:solidFill>
              <a:srgbClr val="B3261E">
                <a:alpha val="51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23" name="Picture 20" descr="~lwf0001"/>
          <p:cNvPicPr/>
          <p:nvPr/>
        </p:nvPicPr>
        <p:blipFill>
          <a:blip r:embed="rId3"/>
          <a:srcRect l="0" t="0" r="0" b="95962"/>
          <a:stretch/>
        </p:blipFill>
        <p:spPr>
          <a:xfrm>
            <a:off x="1919280" y="476280"/>
            <a:ext cx="8353440" cy="719280"/>
          </a:xfrm>
          <a:prstGeom prst="rect">
            <a:avLst/>
          </a:prstGeom>
          <a:ln w="0">
            <a:noFill/>
          </a:ln>
        </p:spPr>
      </p:pic>
      <p:pic>
        <p:nvPicPr>
          <p:cNvPr id="124" name="Picture 21" descr="~LWF0006"/>
          <p:cNvPicPr/>
          <p:nvPr/>
        </p:nvPicPr>
        <p:blipFill>
          <a:blip r:embed="rId4"/>
          <a:srcRect l="73188" t="540" r="0" b="94602"/>
          <a:stretch/>
        </p:blipFill>
        <p:spPr>
          <a:xfrm>
            <a:off x="7783680" y="476280"/>
            <a:ext cx="2520720" cy="690480"/>
          </a:xfrm>
          <a:prstGeom prst="rect">
            <a:avLst/>
          </a:prstGeom>
          <a:ln w="0">
            <a:noFill/>
          </a:ln>
        </p:spPr>
      </p:pic>
      <p:sp>
        <p:nvSpPr>
          <p:cNvPr id="125" name="Text Box 22"/>
          <p:cNvSpPr/>
          <p:nvPr/>
        </p:nvSpPr>
        <p:spPr>
          <a:xfrm>
            <a:off x="1703280" y="5638680"/>
            <a:ext cx="8713800" cy="85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T.A</a:t>
            </a:r>
            <a:r>
              <a:rPr b="1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IS THE ALTITUDE AT AND BELOW WICH LOCAL PRESSURE SETTING MUST BE USE (QNH).</a:t>
            </a: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6" name="Text Box 22"/>
          <p:cNvSpPr/>
          <p:nvPr/>
        </p:nvSpPr>
        <p:spPr>
          <a:xfrm>
            <a:off x="1703280" y="4786200"/>
            <a:ext cx="8713800" cy="85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T.L</a:t>
            </a:r>
            <a:r>
              <a:rPr b="1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	</a:t>
            </a:r>
            <a:r>
              <a:rPr b="1" lang="en-US" sz="1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IS THE LOWEST LEVEL OF FLIGT USING STANDARD ALTIMETER SETTING ( OF 1013.25 MILLIBARS ). </a:t>
            </a: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71" name="design9071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70</a:t>
            </a:r>
          </a:p>
        </p:txBody>
      </p:sp>
    </p:spTree>
  </p:cSld>
  <p:timing>
    <p:tnLst>
      <p:par>
        <p:cTn id="93" dur="indefinite" restart="never" nodeType="tmRoot">
          <p:childTnLst>
            <p:seq>
              <p:cTn id="94" dur="indefinite" nodeType="mainSeq">
                <p:childTnLst>
                  <p:par>
                    <p:cTn id="95" nodeType="clickEffect" fill="hold">
                      <p:stCondLst>
                        <p:cond delay="indefinite"/>
                      </p:stCondLst>
                      <p:childTnLst>
                        <p:par>
                          <p:cTn id="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xit" presetID="3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9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nodeType="withEffect" fill="hold" presetClass="exit" presetID="5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checkerboard(across)" transition="out">
                                      <p:cBhvr additive="repl">
                                        <p:cTn id="10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10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nodeType="clickEffect" fill="hold">
                      <p:stCondLst>
                        <p:cond delay="indefinite"/>
                      </p:stCondLst>
                      <p:childTnLst>
                        <p:par>
                          <p:cTn id="10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8" nodeType="clickEffect" fill="hold" presetClass="exit" presetID="3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10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11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nodeType="clickEffect" fill="hold">
                      <p:stCondLst>
                        <p:cond delay="indefinite"/>
                      </p:stCondLst>
                      <p:childTnLst>
                        <p:par>
                          <p:cTn id="1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6" nodeType="clickEffect" fill="hold" presetClass="exit" presetID="3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11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12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nodeType="clickEffect" fill="hold">
                      <p:stCondLst>
                        <p:cond delay="indefinite"/>
                      </p:stCondLst>
                      <p:childTnLst>
                        <p:par>
                          <p:cTn id="1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4" nodeType="clickEffect" fill="hold" presetClass="exit" presetID="3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12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12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nodeType="clickEffect" fill="hold">
                      <p:stCondLst>
                        <p:cond delay="indefinite"/>
                      </p:stCondLst>
                      <p:childTnLst>
                        <p:par>
                          <p:cTn id="13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2" nodeType="clickEffect" fill="hold" presetClass="exit" presetID="3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13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13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nodeType="clickEffect" fill="hold">
                      <p:stCondLst>
                        <p:cond delay="indefinite"/>
                      </p:stCondLst>
                      <p:childTnLst>
                        <p:par>
                          <p:cTn id="1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0" nodeType="clickEffect" fill="hold" presetClass="exit" presetID="3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14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14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nodeType="clickEffect" fill="hold">
                      <p:stCondLst>
                        <p:cond delay="indefinite"/>
                      </p:stCondLst>
                      <p:childTnLst>
                        <p:par>
                          <p:cTn id="1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8" nodeType="clickEffect" fill="hold" presetClass="exit" presetID="3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14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15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nodeType="clickEffect" fill="hold">
                      <p:stCondLst>
                        <p:cond delay="indefinite"/>
                      </p:stCondLst>
                      <p:childTnLst>
                        <p:par>
                          <p:cTn id="15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6" nodeType="clickEffect" fill="hold" presetClass="exit" presetID="3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15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nodeType="clickEffect" fill="hold">
                      <p:stCondLst>
                        <p:cond delay="indefinite"/>
                      </p:stCondLst>
                      <p:childTnLst>
                        <p:par>
                          <p:cTn id="1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6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nodeType="clickEffect" fill="hold">
                      <p:stCondLst>
                        <p:cond delay="indefinite"/>
                      </p:stCondLst>
                      <p:childTnLst>
                        <p:par>
                          <p:cTn id="1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0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nodeType="clickEffect" fill="hold">
                      <p:stCondLst>
                        <p:cond delay="indefinite"/>
                      </p:stCondLst>
                      <p:childTnLst>
                        <p:par>
                          <p:cTn id="17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6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17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nodeType="clickEffect" fill="hold">
                      <p:stCondLst>
                        <p:cond delay="indefinite"/>
                      </p:stCondLst>
                      <p:childTnLst>
                        <p:par>
                          <p:cTn id="18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xit" presetID="3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18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nodeType="clickEffect" fill="hold">
                      <p:stCondLst>
                        <p:cond delay="indefinite"/>
                      </p:stCondLst>
                      <p:childTnLst>
                        <p:par>
                          <p:cTn id="18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6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nodeType="withEffect" fill="hold" presetClass="entr" presetID="8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out)" transition="in">
                                      <p:cBhvr additive="repl">
                                        <p:cTn id="192" dur="2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nodeType="clickEffect" fill="hold">
                      <p:stCondLst>
                        <p:cond delay="indefinite"/>
                      </p:stCondLst>
                      <p:childTnLst>
                        <p:par>
                          <p:cTn id="19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nodeType="with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201" dur="2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nodeType="clickEffect" fill="hold">
                      <p:stCondLst>
                        <p:cond delay="indefinite"/>
                      </p:stCondLst>
                      <p:childTnLst>
                        <p:par>
                          <p:cTn id="2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4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nodeType="clickEffect" fill="hold">
                      <p:stCondLst>
                        <p:cond delay="indefinite"/>
                      </p:stCondLst>
                      <p:childTnLst>
                        <p:par>
                          <p:cTn id="20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0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1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nodeType="clickEffect" fill="hold">
                      <p:stCondLst>
                        <p:cond delay="indefinite"/>
                      </p:stCondLst>
                      <p:childTnLst>
                        <p:par>
                          <p:cTn id="2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21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nodeType="clickEffect" fill="hold">
                      <p:stCondLst>
                        <p:cond delay="indefinite"/>
                      </p:stCondLst>
                      <p:childTnLst>
                        <p:par>
                          <p:cTn id="2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0" nodeType="clickEffect" fill="hold" presetClass="exit" presetID="3" presetSubtype="10">
                                  <p:stCondLst>
                                    <p:cond delay="0"/>
                                  </p:stCondLst>
                                  <p:childTnLst>
                                    <p:animEffect filter="blinds(horizontal)" transition="out">
                                      <p:cBhvr additive="repl">
                                        <p:cTn id="22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2"/>
          <p:cNvSpPr/>
          <p:nvPr/>
        </p:nvSpPr>
        <p:spPr>
          <a:xfrm>
            <a:off x="2279640" y="620640"/>
            <a:ext cx="7345440" cy="6193080"/>
          </a:xfrm>
          <a:prstGeom prst="rect">
            <a:avLst/>
          </a:prstGeom>
          <a:solidFill>
            <a:srgbClr val="1F2C3A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l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28" name="Picture 3" descr="~lwf0001"/>
          <p:cNvPicPr/>
          <p:nvPr/>
        </p:nvPicPr>
        <p:blipFill>
          <a:blip r:embed="rId2"/>
          <a:srcRect l="0" t="19106" r="1603" b="39495"/>
          <a:stretch/>
        </p:blipFill>
        <p:spPr>
          <a:xfrm>
            <a:off x="2495640" y="765000"/>
            <a:ext cx="6983280" cy="5905800"/>
          </a:xfrm>
          <a:prstGeom prst="rect">
            <a:avLst/>
          </a:prstGeom>
          <a:ln w="0">
            <a:noFill/>
          </a:ln>
        </p:spPr>
      </p:pic>
      <p:sp>
        <p:nvSpPr>
          <p:cNvPr id="129" name="WordArt 4"/>
          <p:cNvSpPr txBox="1"/>
          <p:nvPr/>
        </p:nvSpPr>
        <p:spPr>
          <a:xfrm>
            <a:off x="4008360" y="44280"/>
            <a:ext cx="4248360" cy="543240"/>
          </a:xfrm>
          <a:prstGeom prst="rect">
            <a:avLst/>
          </a:prstGeom>
        </p:spPr>
        <p:txBody>
          <a:bodyPr wrap="none" lIns="90000" rIns="90000" tIns="46800" bIns="46800" anchor="t" anchorCtr="1">
            <a:no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pc="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APPROCH PLAN VIEW</a:t>
            </a:r>
            <a:endParaRPr b="0" lang="en-US" sz="2600" spc="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72" name="design9072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71</a:t>
            </a:r>
          </a:p>
        </p:txBody>
      </p:sp>
    </p:spTree>
  </p:cSld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2" descr="C:\Users\user\Pictures\2010-05-16 Aircraft CAT for Instrument APP\Aircraft CAT for Instrument APP 001.jpg"/>
          <p:cNvPicPr/>
          <p:nvPr/>
        </p:nvPicPr>
        <p:blipFill>
          <a:blip r:embed="rId2"/>
          <a:stretch/>
        </p:blipFill>
        <p:spPr>
          <a:xfrm>
            <a:off x="1738200" y="857160"/>
            <a:ext cx="8715600" cy="5072040"/>
          </a:xfrm>
          <a:prstGeom prst="rect">
            <a:avLst/>
          </a:prstGeom>
          <a:ln w="0">
            <a:noFill/>
          </a:ln>
        </p:spPr>
      </p:pic>
      <p:sp>
        <p:nvSpPr>
          <p:cNvPr id="131" name="TextBox 2"/>
          <p:cNvSpPr/>
          <p:nvPr/>
        </p:nvSpPr>
        <p:spPr>
          <a:xfrm>
            <a:off x="5953080" y="785880"/>
            <a:ext cx="2571840" cy="369720"/>
          </a:xfrm>
          <a:prstGeom prst="rect">
            <a:avLst/>
          </a:prstGeom>
          <a:solidFill>
            <a:srgbClr val="EDF1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l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73" name="design9073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72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2"/>
          <p:cNvSpPr/>
          <p:nvPr/>
        </p:nvSpPr>
        <p:spPr>
          <a:xfrm>
            <a:off x="1666920" y="784080"/>
            <a:ext cx="8893080" cy="3961080"/>
          </a:xfrm>
          <a:prstGeom prst="rect">
            <a:avLst/>
          </a:prstGeom>
          <a:solidFill>
            <a:srgbClr val="1F2C3A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l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33" name="Picture 3" descr="~lwf0001"/>
          <p:cNvPicPr/>
          <p:nvPr/>
        </p:nvPicPr>
        <p:blipFill>
          <a:blip r:embed="rId2"/>
          <a:srcRect l="2000" t="60046" r="841" b="23708"/>
          <a:stretch/>
        </p:blipFill>
        <p:spPr>
          <a:xfrm>
            <a:off x="1848000" y="1000080"/>
            <a:ext cx="8569080" cy="3529080"/>
          </a:xfrm>
          <a:prstGeom prst="rect">
            <a:avLst/>
          </a:prstGeom>
          <a:ln w="0">
            <a:noFill/>
          </a:ln>
        </p:spPr>
      </p:pic>
      <p:sp>
        <p:nvSpPr>
          <p:cNvPr id="134" name="Line 4"/>
          <p:cNvSpPr/>
          <p:nvPr/>
        </p:nvSpPr>
        <p:spPr>
          <a:xfrm flipH="1">
            <a:off x="5159280" y="568440"/>
            <a:ext cx="936720" cy="649080"/>
          </a:xfrm>
          <a:prstGeom prst="line">
            <a:avLst/>
          </a:prstGeom>
          <a:ln w="9360">
            <a:solidFill>
              <a:srgbClr val="B3261E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 wrap="none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" name="Line 5"/>
          <p:cNvSpPr/>
          <p:nvPr/>
        </p:nvSpPr>
        <p:spPr>
          <a:xfrm>
            <a:off x="6096000" y="568440"/>
            <a:ext cx="936720" cy="649080"/>
          </a:xfrm>
          <a:prstGeom prst="line">
            <a:avLst/>
          </a:prstGeom>
          <a:ln w="9360">
            <a:solidFill>
              <a:srgbClr val="B3261E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 wrap="none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" name="Text Box 6"/>
          <p:cNvSpPr/>
          <p:nvPr/>
        </p:nvSpPr>
        <p:spPr>
          <a:xfrm>
            <a:off x="5348280" y="228600"/>
            <a:ext cx="1412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DME FIXES</a:t>
            </a: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" name="Rectangle 7"/>
          <p:cNvSpPr/>
          <p:nvPr/>
        </p:nvSpPr>
        <p:spPr>
          <a:xfrm>
            <a:off x="1919280" y="1144440"/>
            <a:ext cx="2089080" cy="576360"/>
          </a:xfrm>
          <a:prstGeom prst="rect">
            <a:avLst/>
          </a:prstGeom>
          <a:noFill/>
          <a:ln w="38160">
            <a:solidFill>
              <a:srgbClr val="C8871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l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8" name="Line 8"/>
          <p:cNvSpPr/>
          <p:nvPr/>
        </p:nvSpPr>
        <p:spPr>
          <a:xfrm>
            <a:off x="2640000" y="496800"/>
            <a:ext cx="1079640" cy="1511280"/>
          </a:xfrm>
          <a:prstGeom prst="line">
            <a:avLst/>
          </a:prstGeom>
          <a:ln w="38160">
            <a:solidFill>
              <a:srgbClr val="B3261E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 wrap="none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9" name="Text Box 9"/>
          <p:cNvSpPr/>
          <p:nvPr/>
        </p:nvSpPr>
        <p:spPr>
          <a:xfrm>
            <a:off x="1731000" y="209520"/>
            <a:ext cx="2338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PROCEDURE TURN</a:t>
            </a: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" name="Line 10"/>
          <p:cNvSpPr/>
          <p:nvPr/>
        </p:nvSpPr>
        <p:spPr>
          <a:xfrm flipV="1">
            <a:off x="2495640" y="3304800"/>
            <a:ext cx="431640" cy="1655640"/>
          </a:xfrm>
          <a:prstGeom prst="line">
            <a:avLst/>
          </a:prstGeom>
          <a:ln w="38160">
            <a:solidFill>
              <a:srgbClr val="B3261E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 wrap="none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1" name="Text Box 11"/>
          <p:cNvSpPr/>
          <p:nvPr/>
        </p:nvSpPr>
        <p:spPr>
          <a:xfrm>
            <a:off x="1703280" y="4889520"/>
            <a:ext cx="31734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MINIMUM ALTITUDE AND HIGHT ABOVE TDZE</a:t>
            </a: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" name="Line 12"/>
          <p:cNvSpPr/>
          <p:nvPr/>
        </p:nvSpPr>
        <p:spPr>
          <a:xfrm flipH="1" flipV="1">
            <a:off x="5159280" y="4457520"/>
            <a:ext cx="720720" cy="718920"/>
          </a:xfrm>
          <a:prstGeom prst="line">
            <a:avLst/>
          </a:prstGeom>
          <a:ln w="38160">
            <a:solidFill>
              <a:srgbClr val="B3261E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 wrap="none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3" name="Line 13"/>
          <p:cNvSpPr/>
          <p:nvPr/>
        </p:nvSpPr>
        <p:spPr>
          <a:xfrm flipV="1">
            <a:off x="5880000" y="4384800"/>
            <a:ext cx="792360" cy="792000"/>
          </a:xfrm>
          <a:prstGeom prst="line">
            <a:avLst/>
          </a:prstGeom>
          <a:ln w="38160">
            <a:solidFill>
              <a:srgbClr val="B3261E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 wrap="none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" name="Text Box 14"/>
          <p:cNvSpPr/>
          <p:nvPr/>
        </p:nvSpPr>
        <p:spPr>
          <a:xfrm>
            <a:off x="4851480" y="5111640"/>
            <a:ext cx="21812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NM DISTANCE BETWEEN FIXES</a:t>
            </a: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" name="Line 15"/>
          <p:cNvSpPr/>
          <p:nvPr/>
        </p:nvSpPr>
        <p:spPr>
          <a:xfrm>
            <a:off x="5304000" y="2441520"/>
            <a:ext cx="360360" cy="863640"/>
          </a:xfrm>
          <a:prstGeom prst="line">
            <a:avLst/>
          </a:prstGeom>
          <a:ln w="76320">
            <a:solidFill>
              <a:srgbClr val="B3261E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 wrap="none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6" name="Text Box 16"/>
          <p:cNvSpPr/>
          <p:nvPr/>
        </p:nvSpPr>
        <p:spPr>
          <a:xfrm>
            <a:off x="4974600" y="2100240"/>
            <a:ext cx="772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FAF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7" name="Picture 17" descr="~lwf0001"/>
          <p:cNvPicPr/>
          <p:nvPr/>
        </p:nvPicPr>
        <p:blipFill>
          <a:blip r:embed="rId3"/>
          <a:srcRect l="1984" t="7491" r="2397" b="82530"/>
          <a:stretch/>
        </p:blipFill>
        <p:spPr>
          <a:xfrm>
            <a:off x="1774920" y="2205000"/>
            <a:ext cx="8640720" cy="1800360"/>
          </a:xfrm>
          <a:prstGeom prst="rect">
            <a:avLst/>
          </a:prstGeom>
          <a:ln w="0">
            <a:noFill/>
          </a:ln>
        </p:spPr>
      </p:pic>
      <p:sp>
        <p:nvSpPr>
          <p:cNvPr id="148" name="Line 18"/>
          <p:cNvSpPr/>
          <p:nvPr/>
        </p:nvSpPr>
        <p:spPr>
          <a:xfrm flipH="1" flipV="1">
            <a:off x="9335640" y="3284640"/>
            <a:ext cx="73080" cy="2016000"/>
          </a:xfrm>
          <a:prstGeom prst="line">
            <a:avLst/>
          </a:prstGeom>
          <a:ln w="28440">
            <a:solidFill>
              <a:srgbClr val="B3261E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 wrap="none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9" name="Text Box 19"/>
          <p:cNvSpPr/>
          <p:nvPr/>
        </p:nvSpPr>
        <p:spPr>
          <a:xfrm>
            <a:off x="8544000" y="5249880"/>
            <a:ext cx="187308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OBSTACLE CLEARANCE ALTITUDE </a:t>
            </a: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0" name="Line 20"/>
          <p:cNvSpPr/>
          <p:nvPr/>
        </p:nvSpPr>
        <p:spPr>
          <a:xfrm flipV="1">
            <a:off x="7536000" y="4005360"/>
            <a:ext cx="0" cy="1295280"/>
          </a:xfrm>
          <a:prstGeom prst="line">
            <a:avLst/>
          </a:prstGeom>
          <a:ln w="38160">
            <a:solidFill>
              <a:srgbClr val="B3261E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 wrap="none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1" name="Text Box 21"/>
          <p:cNvSpPr/>
          <p:nvPr/>
        </p:nvSpPr>
        <p:spPr>
          <a:xfrm>
            <a:off x="7170600" y="5248440"/>
            <a:ext cx="857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10263F"/>
                </a:solidFill>
                <a:latin typeface="Calibri"/>
                <a:ea typeface="Calibri"/>
                <a:cs typeface="Calibri"/>
              </a:rPr>
              <a:t>MAP</a:t>
            </a:r>
            <a:endParaRPr b="0" lang="en-US" sz="24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74" name="design9074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73</a:t>
            </a:r>
          </a:p>
        </p:txBody>
      </p:sp>
    </p:spTree>
  </p:cSld>
  <p:timing>
    <p:tnLst>
      <p:par>
        <p:cTn id="223" dur="indefinite" restart="never" nodeType="tmRoot">
          <p:childTnLst>
            <p:seq>
              <p:cTn id="224" dur="indefinite" nodeType="mainSeq">
                <p:childTnLst>
                  <p:par>
                    <p:cTn id="225" nodeType="clickEffect" fill="hold">
                      <p:stCondLst>
                        <p:cond delay="indefinite"/>
                      </p:stCondLst>
                      <p:childTnLst>
                        <p:par>
                          <p:cTn id="2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nodeType="clickEffect" fill="hold">
                      <p:stCondLst>
                        <p:cond delay="indefinite"/>
                      </p:stCondLst>
                      <p:childTnLst>
                        <p:par>
                          <p:cTn id="23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3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4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nodeType="clickEffect" fill="hold">
                      <p:stCondLst>
                        <p:cond delay="indefinite"/>
                      </p:stCondLst>
                      <p:childTnLst>
                        <p:par>
                          <p:cTn id="2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4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nodeType="clickEffect" fill="hold">
                      <p:stCondLst>
                        <p:cond delay="indefinite"/>
                      </p:stCondLst>
                      <p:childTnLst>
                        <p:par>
                          <p:cTn id="2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5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6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nodeType="clickEffect" fill="hold">
                      <p:stCondLst>
                        <p:cond delay="indefinite"/>
                      </p:stCondLst>
                      <p:childTnLst>
                        <p:par>
                          <p:cTn id="26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6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67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6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71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nodeType="clickEffect" fill="hold">
                      <p:stCondLst>
                        <p:cond delay="indefinite"/>
                      </p:stCondLst>
                      <p:childTnLst>
                        <p:par>
                          <p:cTn id="27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80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nodeType="clickEffect" fill="hold">
                      <p:stCondLst>
                        <p:cond delay="indefinite"/>
                      </p:stCondLst>
                      <p:childTnLst>
                        <p:par>
                          <p:cTn id="28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6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28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90" nodeType="after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29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nodeType="clickEffect" fill="hold">
                      <p:stCondLst>
                        <p:cond delay="indefinite"/>
                      </p:stCondLst>
                      <p:childTnLst>
                        <p:par>
                          <p:cTn id="29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5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29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99" nodeType="after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0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nodeType="clickEffect" fill="hold">
                      <p:stCondLst>
                        <p:cond delay="indefinite"/>
                      </p:stCondLst>
                      <p:childTnLst>
                        <p:par>
                          <p:cTn id="3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4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30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2"/>
          <p:cNvSpPr/>
          <p:nvPr/>
        </p:nvSpPr>
        <p:spPr>
          <a:xfrm>
            <a:off x="1811280" y="1341360"/>
            <a:ext cx="8748720" cy="4319640"/>
          </a:xfrm>
          <a:prstGeom prst="rect">
            <a:avLst/>
          </a:prstGeom>
          <a:solidFill>
            <a:srgbClr val="1F2C3A"/>
          </a:solidFill>
          <a:ln w="9360">
            <a:solidFill>
              <a:srgbClr val="1F2C3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l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F2C3A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53" name="Picture 3" descr="~lwf0001"/>
          <p:cNvPicPr/>
          <p:nvPr/>
        </p:nvPicPr>
        <p:blipFill>
          <a:blip r:embed="rId2"/>
          <a:srcRect l="2937" t="77296" r="968" b="16715"/>
          <a:stretch/>
        </p:blipFill>
        <p:spPr>
          <a:xfrm>
            <a:off x="1992360" y="1557360"/>
            <a:ext cx="8424720" cy="1150920"/>
          </a:xfrm>
          <a:prstGeom prst="rect">
            <a:avLst/>
          </a:prstGeom>
          <a:ln w="0">
            <a:noFill/>
          </a:ln>
        </p:spPr>
      </p:pic>
      <p:pic>
        <p:nvPicPr>
          <p:cNvPr id="154" name="Picture 4" descr="~lwf0001"/>
          <p:cNvPicPr/>
          <p:nvPr/>
        </p:nvPicPr>
        <p:blipFill>
          <a:blip r:embed="rId3"/>
          <a:srcRect l="3318" t="82558" r="826" b="1588"/>
          <a:stretch/>
        </p:blipFill>
        <p:spPr>
          <a:xfrm>
            <a:off x="1992360" y="2565360"/>
            <a:ext cx="8424720" cy="2879640"/>
          </a:xfrm>
          <a:prstGeom prst="rect">
            <a:avLst/>
          </a:prstGeom>
          <a:ln w="0">
            <a:noFill/>
          </a:ln>
        </p:spPr>
      </p:pic>
      <p:sp>
        <p:nvSpPr>
          <p:cNvPr id="9075" name="design9075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74</a:t>
            </a:r>
          </a:p>
        </p:txBody>
      </p:sp>
    </p:spTree>
  </p:cSld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5355A"/>
            </a:gs>
            <a:gs pos="100000">
              <a:srgbClr val="091626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INSTRUMENT APPROACH PROCEDURES</a:t>
            </a:r>
            <a:endParaRPr b="1" lang="en-US" sz="2600" spc="-1" strike="noStrike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4" name="PlaceHolder 2"/>
          <p:cNvSpPr>
            <a:spLocks noGrp="1"/>
          </p:cNvSpPr>
          <p:nvPr/>
        </p:nvSpPr>
        <p:spPr>
          <a:xfrm>
            <a:off x="2209800" y="1981080"/>
            <a:ext cx="798984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OBJECTIVES:</a:t>
            </a:r>
            <a:endParaRPr b="0" lang="en-US" sz="3200" spc="-1" strike="noStrik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identify the 4 segments of an instrument approach.</a:t>
            </a:r>
            <a:endParaRPr b="0" lang="en-US" sz="3200" spc="-1" strike="noStrik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examine the differences between a precision and a non- precision approach.</a:t>
            </a:r>
            <a:endParaRPr b="0" lang="en-US" sz="3200" spc="-1" strike="noStrik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study the circling approach.</a:t>
            </a:r>
            <a:endParaRPr b="0" lang="en-US" sz="3200" spc="-1" strike="noStrik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76" name="design9076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7E93A8"/>
                </a:solidFill>
                <a:latin typeface="Calibri"/>
                <a:ea typeface="Calibri"/>
                <a:cs typeface="Calibri"/>
              </a:rPr>
              <a:t>75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 E"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Motion>
                                    <p:animEffect filter="fade" transition="in">
                                      <p:cBhvr additive="repl">
                                        <p:cTn id="9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nodeType="clickEffect" fill="hold">
                      <p:stCondLst>
                        <p:cond delay="indefinite"/>
                      </p:stCondLst>
                      <p:childTnLst>
                        <p:par>
                          <p:cTn id="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o>
                                        <p:strVal val="-45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45"/>
                                          </p:val>
                                        </p:tav>
                                        <p:tav tm="69900">
                                          <p:val>
                                            <p:strVal val="45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" dur="156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5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nodeType="clickEffect" fill="hold">
                      <p:stCondLst>
                        <p:cond delay="indefinite"/>
                      </p:stCondLst>
                      <p:childTnLst>
                        <p:par>
                          <p:cTn id="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INSTRUMENT APPROACH PROCEDURES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6" name="PlaceHolder 2"/>
          <p:cNvSpPr>
            <a:spLocks noGrp="1"/>
          </p:cNvSpPr>
          <p:nvPr/>
        </p:nvSpPr>
        <p:spPr>
          <a:xfrm>
            <a:off x="1992360" y="1981080"/>
            <a:ext cx="842472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l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Segments of an Instrument Approach</a:t>
            </a:r>
            <a:endParaRPr b="0" lang="en-US" sz="28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There are 4 separate segments to an instrument approach:</a:t>
            </a:r>
            <a:endParaRPr b="0" lang="en-US" sz="28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700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Initial</a:t>
            </a:r>
            <a:endParaRPr b="0" lang="en-US" sz="28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700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Intermediate</a:t>
            </a:r>
            <a:endParaRPr b="0" lang="en-US" sz="28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700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Final</a:t>
            </a:r>
            <a:endParaRPr b="0" lang="en-US" sz="28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700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Missed Approach</a:t>
            </a:r>
            <a:endParaRPr b="0" lang="en-US" sz="28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77" name="design9077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76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" dur="indefinite" restart="never" nodeType="tmRoot">
          <p:childTnLst>
            <p:seq>
              <p:cTn id="34" dur="indefinite" nodeType="mainSeq">
                <p:childTnLst>
                  <p:par>
                    <p:cTn id="35" nodeType="clickEffect" fill="hold">
                      <p:stCondLst>
                        <p:cond delay="indefinite"/>
                      </p:stCondLst>
                      <p:childTnLst>
                        <p:par>
                          <p:cTn id="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out)" transition="in">
                                      <p:cBhvr additive="repl">
                                        <p:cTn id="39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nodeType="clickEffect" fill="hold">
                      <p:stCondLst>
                        <p:cond delay="indefinite"/>
                      </p:stCondLst>
                      <p:childTnLst>
                        <p:par>
                          <p:cTn id="4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5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" dur="9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" dur="1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nodeType="clickEffect" fill="hold">
                      <p:stCondLst>
                        <p:cond delay="indefinite"/>
                      </p:stCondLst>
                      <p:childTnLst>
                        <p:par>
                          <p:cTn id="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2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5" dur="1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nodeType="clickEffect" fill="hold">
                      <p:stCondLst>
                        <p:cond delay="indefinite"/>
                      </p:stCondLst>
                      <p:childTnLst>
                        <p:par>
                          <p:cTn id="5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0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nodeType="clickEffect" fill="hold">
                      <p:stCondLst>
                        <p:cond delay="indefinite"/>
                      </p:stCondLst>
                      <p:childTnLst>
                        <p:par>
                          <p:cTn id="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4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66" dur="2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nodeType="clickEffect" fill="hold">
                      <p:stCondLst>
                        <p:cond delay="indefinite"/>
                      </p:stCondLst>
                      <p:childTnLst>
                        <p:par>
                          <p:cTn id="6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1" dur="10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2" dur="10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73" dur="10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INSTRUMENT APPROACH PROCEDURES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8" name="PlaceHolder 2"/>
          <p:cNvSpPr>
            <a:spLocks noGrp="1"/>
          </p:cNvSpPr>
          <p:nvPr/>
        </p:nvSpPr>
        <p:spPr>
          <a:xfrm>
            <a:off x="2209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l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Arrival Segment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Standard Instrument Arrival (STAR)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May be replaced by radar vectoring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78" name="design9078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77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4" dur="indefinite" restart="never" nodeType="tmRoot">
          <p:childTnLst>
            <p:seq>
              <p:cTn id="75" dur="indefinite" nodeType="mainSeq">
                <p:childTnLst>
                  <p:par>
                    <p:cTn id="76" nodeType="clickEffect" fill="hold">
                      <p:stCondLst>
                        <p:cond delay="indefinite"/>
                      </p:stCondLst>
                      <p:childTnLst>
                        <p:par>
                          <p:cTn id="7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8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nodeType="clickEffect" fill="hold">
                      <p:stCondLst>
                        <p:cond delay="indefinite"/>
                      </p:stCondLst>
                      <p:childTnLst>
                        <p:par>
                          <p:cTn id="8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6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7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nodeType="clickEffect" fill="hold">
                      <p:stCondLst>
                        <p:cond delay="indefinite"/>
                      </p:stCondLst>
                      <p:childTnLst>
                        <p:par>
                          <p:cTn id="8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2" dur="5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str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3" dur="5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INSTRUMENT APPROACH PROCEDURES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0" name="PlaceHolder 2"/>
          <p:cNvSpPr>
            <a:spLocks noGrp="1"/>
          </p:cNvSpPr>
          <p:nvPr/>
        </p:nvSpPr>
        <p:spPr>
          <a:xfrm>
            <a:off x="2209800" y="177336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40" lnSpcReduction="10000"/>
          </a:bodyPr>
          <a:p>
            <a:pPr marL="343080" indent="-343080" algn="l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Initial Approach Segment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From Initial Approach Fix (IAF) to Intermediate Fix (IF).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0" algn="l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Aircraft has departed the en-route structure and is maneuvered to enter the intermediate approach sector.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79" name="design9079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78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4" dur="indefinite" restart="never" nodeType="tmRoot">
          <p:childTnLst>
            <p:seq>
              <p:cTn id="95" dur="indefinite" nodeType="mainSeq">
                <p:childTnLst>
                  <p:par>
                    <p:cTn id="96" nodeType="clickEffect" fill="hold">
                      <p:stCondLst>
                        <p:cond delay="indefinite"/>
                      </p:stCondLst>
                      <p:childTnLst>
                        <p:par>
                          <p:cTn id="9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0" dur="15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1" dur="15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nodeType="clickEffect" fill="hold">
                      <p:stCondLst>
                        <p:cond delay="indefinite"/>
                      </p:stCondLst>
                      <p:childTnLst>
                        <p:par>
                          <p:cTn id="1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4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6" dur="2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INSTRUMENT APPROACH PROCEDURES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2" name="PlaceHolder 2"/>
          <p:cNvSpPr>
            <a:spLocks noGrp="1"/>
          </p:cNvSpPr>
          <p:nvPr/>
        </p:nvSpPr>
        <p:spPr>
          <a:xfrm>
            <a:off x="1919280" y="1981080"/>
            <a:ext cx="842472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Intermediate Approach Segment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From Intermediate Fix (IF) to Final Approach Fix (FAF).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Aircraft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’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s speed and configuration adjusted to prepare for the final approach.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80" name="design9080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79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7" dur="indefinite" restart="never" nodeType="tmRoot">
          <p:childTnLst>
            <p:seq>
              <p:cTn id="108" dur="indefinite" nodeType="mainSeq">
                <p:childTnLst>
                  <p:par>
                    <p:cTn id="109" nodeType="clickEffect" fill="hold">
                      <p:stCondLst>
                        <p:cond delay="indefinite"/>
                      </p:stCondLst>
                      <p:childTnLst>
                        <p:par>
                          <p:cTn id="1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" dur="2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4" dur="2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72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5" dur="2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6" dur="2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nodeType="clickEffect" fill="hold">
                      <p:stCondLst>
                        <p:cond delay="indefinite"/>
                      </p:stCondLst>
                      <p:childTnLst>
                        <p:par>
                          <p:cTn id="1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1" dur="10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2" dur="1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3" dur="1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INSTRUMENT APPROACH PROCEDURES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4" name="PlaceHolder 2"/>
          <p:cNvSpPr>
            <a:spLocks noGrp="1"/>
          </p:cNvSpPr>
          <p:nvPr/>
        </p:nvSpPr>
        <p:spPr>
          <a:xfrm>
            <a:off x="1992000" y="1700280"/>
            <a:ext cx="835164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91"/>
          </a:bodyPr>
          <a:p>
            <a:pPr marL="343080" indent="-343080" algn="l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Final Approach Segment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From Final Approach Fix (FAF) to Missed Approach Point (MAP). 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Aircraft aligned and descended for landing.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0">
              <a:lnSpc>
                <a:spcPct val="90000"/>
              </a:lnSpc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Final approach may be made to runway for straight-in landing or to an airfield for visual, circling, maneuvers to land.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81" name="design9081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80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4" dur="indefinite" restart="never" nodeType="tmRoot">
          <p:childTnLst>
            <p:seq>
              <p:cTn id="125" dur="indefinite" nodeType="mainSeq">
                <p:childTnLst>
                  <p:par>
                    <p:cTn id="126" nodeType="clickEffect" fill="hold">
                      <p:stCondLst>
                        <p:cond delay="indefinite"/>
                      </p:stCondLst>
                      <p:childTnLst>
                        <p:par>
                          <p:cTn id="1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0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1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2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nodeType="clickEffect" fill="hold">
                      <p:stCondLst>
                        <p:cond delay="indefinite"/>
                      </p:stCondLst>
                      <p:childTnLst>
                        <p:par>
                          <p:cTn id="1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Right)" transition="in">
                                      <p:cBhvr additive="repl">
                                        <p:cTn id="137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nodeType="clickEffect" fill="hold">
                      <p:stCondLst>
                        <p:cond delay="indefinite"/>
                      </p:stCondLst>
                      <p:childTnLst>
                        <p:par>
                          <p:cTn id="1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2" dur="5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3" dur="5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nodeType="clickEffect" fill="hold">
                      <p:stCondLst>
                        <p:cond delay="indefinite"/>
                      </p:stCondLst>
                      <p:childTnLst>
                        <p:par>
                          <p:cTn id="14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6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8" dur="500" fill="hold"/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9" dur="500" fill="hold"/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0" dur="500" fill="hold"/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36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51" dur="500"/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INSTRUMENT APPROACH PROCEDURES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6" name="PlaceHolder 2"/>
          <p:cNvSpPr>
            <a:spLocks noGrp="1"/>
          </p:cNvSpPr>
          <p:nvPr/>
        </p:nvSpPr>
        <p:spPr>
          <a:xfrm>
            <a:off x="1919280" y="1981080"/>
            <a:ext cx="835344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l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Missed Approach Procedure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From Missed Approach Point (MAP) to point where a new approach, a holding pattern, or as directed by radar, or entry into en-route flight may be initiated.  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82" name="design9082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81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2" dur="indefinite" restart="never" nodeType="tmRoot">
          <p:childTnLst>
            <p:seq>
              <p:cTn id="153" dur="indefinite" nodeType="mainSeq">
                <p:childTnLst>
                  <p:par>
                    <p:cTn id="154" nodeType="clickEffect" fill="hold">
                      <p:stCondLst>
                        <p:cond delay="indefinite"/>
                      </p:stCondLst>
                      <p:childTnLst>
                        <p:par>
                          <p:cTn id="15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6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36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6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nodeType="clickEffect" fill="hold">
                      <p:stCondLst>
                        <p:cond delay="indefinite"/>
                      </p:stCondLst>
                      <p:childTnLst>
                        <p:par>
                          <p:cTn id="1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4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6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7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8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69" dur="10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INSTRUMENT APPROACH PROCEDURES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8" name="PlaceHolder 2"/>
          <p:cNvSpPr>
            <a:spLocks noGrp="1"/>
          </p:cNvSpPr>
          <p:nvPr/>
        </p:nvSpPr>
        <p:spPr>
          <a:xfrm>
            <a:off x="2209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40" lnSpcReduction="10000"/>
          </a:bodyPr>
          <a:p>
            <a:pPr marL="343080" indent="-343080" algn="l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The Precision Approach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</a:t>
            </a: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 precision approach is one that uses electronic glide path information.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 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The Minima for a precision approach is a </a:t>
            </a:r>
            <a:r>
              <a:rPr b="1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DA.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83" name="design9083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82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0" dur="indefinite" restart="never" nodeType="tmRoot">
          <p:childTnLst>
            <p:seq>
              <p:cTn id="171" dur="indefinite" nodeType="mainSeq">
                <p:childTnLst>
                  <p:par>
                    <p:cTn id="172" nodeType="clickEffect" fill="hold">
                      <p:stCondLst>
                        <p:cond delay="indefinite"/>
                      </p:stCondLst>
                      <p:childTnLst>
                        <p:par>
                          <p:cTn id="1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4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8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9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2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8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nodeType="clickEffect" fill="hold">
                      <p:stCondLst>
                        <p:cond delay="indefinite"/>
                      </p:stCondLst>
                      <p:childTnLst>
                        <p:par>
                          <p:cTn id="18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6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8" dur="5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9" dur="5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90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5" dur="5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6" dur="5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97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 additive="repl">
                                        <p:cTn id="202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INSTRUMENT APPROACH PROCEDURES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30" name="PlaceHolder 2"/>
          <p:cNvSpPr>
            <a:spLocks noGrp="1"/>
          </p:cNvSpPr>
          <p:nvPr/>
        </p:nvSpPr>
        <p:spPr>
          <a:xfrm>
            <a:off x="1703280" y="1989000"/>
            <a:ext cx="878544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40"/>
          </a:bodyPr>
          <a:p>
            <a:pPr marL="343080" indent="-343080" algn="l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The Non-Precision Approach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 non-precision approach is one that does not use electronic glide path information.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The Minima for a non-precision approach is an </a:t>
            </a:r>
            <a:r>
              <a:rPr b="1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MDA.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84" name="design9084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83</a:t>
            </a:r>
          </a:p>
        </p:txBody>
      </p:sp>
    </p:spTree>
  </p:cSld>
  <p:timing>
    <p:tnLst>
      <p:par>
        <p:cTn id="203" dur="indefinite" restart="never" nodeType="tmRoot">
          <p:childTnLst>
            <p:seq>
              <p:cTn id="204" dur="indefinite" nodeType="mainSeq">
                <p:childTnLst>
                  <p:par>
                    <p:cTn id="205" nodeType="clickEffect" fill="hold">
                      <p:stCondLst>
                        <p:cond delay="indefinite"/>
                      </p:stCondLst>
                      <p:childTnLst>
                        <p:par>
                          <p:cTn id="2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209" dur="2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nodeType="clickEffect" fill="hold">
                      <p:stCondLst>
                        <p:cond delay="indefinite"/>
                      </p:stCondLst>
                      <p:childTnLst>
                        <p:par>
                          <p:cTn id="2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4" dur="50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5" dur="50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nodeType="clickEffect" fill="hold">
                      <p:stCondLst>
                        <p:cond delay="indefinite"/>
                      </p:stCondLst>
                      <p:childTnLst>
                        <p:par>
                          <p:cTn id="21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0" dur="8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21" dur="8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2" dur="8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3" dur="8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INSTRUMENT APPROACH PROCEDURES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32" name="PlaceHolder 2"/>
          <p:cNvSpPr>
            <a:spLocks noGrp="1"/>
          </p:cNvSpPr>
          <p:nvPr/>
        </p:nvSpPr>
        <p:spPr>
          <a:xfrm>
            <a:off x="2209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l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Missed Approach Point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The MAP in a procedure may be: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intersection of electronic glide path with applicable DA.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 beacon.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 fix.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a specified distance from the FAF.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85" name="design9085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84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6" dur="indefinite" restart="never" nodeType="tmRoot">
          <p:childTnLst>
            <p:seq>
              <p:cTn id="227" dur="indefinite" nodeType="mainSeq">
                <p:childTnLst>
                  <p:par>
                    <p:cTn id="228" nodeType="clickEffect" fill="hold">
                      <p:stCondLst>
                        <p:cond delay="indefinite"/>
                      </p:stCondLst>
                      <p:childTnLst>
                        <p:par>
                          <p:cTn id="2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2" dur="15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3" dur="15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nodeType="clickEffect" fill="hold">
                      <p:stCondLst>
                        <p:cond delay="indefinite"/>
                      </p:stCondLst>
                      <p:childTnLst>
                        <p:par>
                          <p:cTn id="23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6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8" dur="20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39" dur="20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72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0" dur="20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1" dur="20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nodeType="clickEffect" fill="hold">
                      <p:stCondLst>
                        <p:cond delay="indefinite"/>
                      </p:stCondLst>
                      <p:childTnLst>
                        <p:par>
                          <p:cTn id="24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4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o>
                                        <p:strVal val="-45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7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45"/>
                                          </p:val>
                                        </p:tav>
                                        <p:tav tm="69900">
                                          <p:val>
                                            <p:strVal val="45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9" dur="156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0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nodeType="clickEffect" fill="hold">
                      <p:stCondLst>
                        <p:cond delay="indefinite"/>
                      </p:stCondLst>
                      <p:childTnLst>
                        <p:par>
                          <p:cTn id="2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5" dur="10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56" dur="10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7" dur="10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nodeType="clickEffect" fill="hold">
                      <p:stCondLst>
                        <p:cond delay="indefinite"/>
                      </p:stCondLst>
                      <p:childTnLst>
                        <p:par>
                          <p:cTn id="2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nodeType="clickEffect" fill="hold">
                      <p:stCondLst>
                        <p:cond delay="indefinite"/>
                      </p:stCondLst>
                      <p:childTnLst>
                        <p:par>
                          <p:cTn id="2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4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6" dur="500" fill="hold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7" dur="500" fill="hold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68" dur="500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INSTRUMENT APPROACH PROCEDURES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34" name="PlaceHolder 2"/>
          <p:cNvSpPr>
            <a:spLocks noGrp="1"/>
          </p:cNvSpPr>
          <p:nvPr/>
        </p:nvSpPr>
        <p:spPr>
          <a:xfrm>
            <a:off x="1880760" y="1981080"/>
            <a:ext cx="792972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l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Circling Approach</a:t>
            </a:r>
            <a:endParaRPr b="0" lang="en-US" sz="28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The </a:t>
            </a:r>
            <a:r>
              <a:rPr b="1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visual</a:t>
            </a:r>
            <a:r>
              <a:rPr b="0" lang="en-US" sz="28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 phase of flight, after completing an instrument approach from which a straight-in landing was not possible, during which the A/C is maneuvered into position for landing, the A/C must not be descended below DA/MDA until visual with airfield and the A/c position can be determined.</a:t>
            </a:r>
            <a:endParaRPr b="0" lang="en-US" sz="28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86" name="design9086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85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9" dur="indefinite" restart="never" nodeType="tmRoot">
          <p:childTnLst>
            <p:seq>
              <p:cTn id="270" dur="indefinite" nodeType="mainSeq">
                <p:childTnLst>
                  <p:par>
                    <p:cTn id="271" nodeType="clickEffect" fill="hold">
                      <p:stCondLst>
                        <p:cond delay="indefinite"/>
                      </p:stCondLst>
                      <p:childTnLst>
                        <p:par>
                          <p:cTn id="27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5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6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1"/>
                                          </p:val>
                                        </p:tav>
                                        <p:tav tm="50000">
                                          <p:val>
                                            <p:strVal val="0.94999998807907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7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78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nodeType="clickEffect" fill="hold">
                      <p:stCondLst>
                        <p:cond delay="indefinite"/>
                      </p:stCondLst>
                      <p:childTnLst>
                        <p:par>
                          <p:cTn id="28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1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3" dur="20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INSTRUMENT APPROACH PROCEDURES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36" name="PlaceHolder 2"/>
          <p:cNvSpPr>
            <a:spLocks noGrp="1"/>
          </p:cNvSpPr>
          <p:nvPr/>
        </p:nvSpPr>
        <p:spPr>
          <a:xfrm>
            <a:off x="2209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l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1F2C3A"/>
                </a:solidFill>
                <a:uFillTx/>
                <a:latin typeface="Calibri"/>
                <a:ea typeface="Calibri"/>
                <a:cs typeface="Calibri"/>
              </a:rPr>
              <a:t>Circling Approach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 algn="l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If visual reference lost while circling to land from an instrument approach, the missed approach for that approach procedure must be flown!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87" name="design9087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86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4" dur="indefinite" restart="never" nodeType="tmRoot">
          <p:childTnLst>
            <p:seq>
              <p:cTn id="285" dur="indefinite" nodeType="mainSeq">
                <p:childTnLst>
                  <p:par>
                    <p:cTn id="286" nodeType="clickEffect" fill="hold">
                      <p:stCondLst>
                        <p:cond delay="indefinite"/>
                      </p:stCondLst>
                      <p:childTnLst>
                        <p:par>
                          <p:cTn id="28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0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1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92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nodeType="clickEffect" fill="hold">
                      <p:stCondLst>
                        <p:cond delay="indefinite"/>
                      </p:stCondLst>
                      <p:childTnLst>
                        <p:par>
                          <p:cTn id="29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7" dur="500" fill="hold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8" dur="500" fill="hold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9" dur="500" fill="hold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36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00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10263F"/>
                </a:solidFill>
                <a:latin typeface="Cambria"/>
                <a:ea typeface="Cambria"/>
                <a:cs typeface="Cambria"/>
              </a:rPr>
              <a:t>INSTRUMENT APPROACH PROCEDURES</a:t>
            </a:r>
            <a:endParaRPr b="1" lang="en-US" sz="2600" spc="-1" strike="noStrike">
              <a:solidFill>
                <a:srgbClr val="10263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38" name="PlaceHolder 2"/>
          <p:cNvSpPr>
            <a:spLocks noGrp="1"/>
          </p:cNvSpPr>
          <p:nvPr/>
        </p:nvSpPr>
        <p:spPr>
          <a:xfrm>
            <a:off x="2209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616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objectives: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Identified the 4 segments of an instrument approach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Studied the procedures used in the initial approach sector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Examined the differences between a precision and a non- precision approach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10263F"/>
              </a:buClr>
              <a:buSzPct val="8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1F2C3A"/>
                </a:solidFill>
                <a:latin typeface="Calibri"/>
                <a:ea typeface="Calibri"/>
                <a:cs typeface="Calibri"/>
              </a:rPr>
              <a:t>Studied the circling approach</a:t>
            </a:r>
            <a:endParaRPr b="0" lang="en-US" sz="3200" spc="-1" strike="noStrike">
              <a:solidFill>
                <a:srgbClr val="10263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88" name="design9088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9AACBE"/>
                </a:solidFill>
                <a:latin typeface="Calibri"/>
                <a:ea typeface="Calibri"/>
                <a:cs typeface="Calibri"/>
              </a:rPr>
              <a:t>87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1" dur="indefinite" restart="never" nodeType="tmRoot">
          <p:childTnLst>
            <p:seq>
              <p:cTn id="302" dur="indefinite" nodeType="mainSeq">
                <p:childTnLst>
                  <p:par>
                    <p:cTn id="303" nodeType="clickEffect" fill="hold">
                      <p:stCondLst>
                        <p:cond delay="indefinite"/>
                      </p:stCondLst>
                      <p:childTnLst>
                        <p:par>
                          <p:cTn id="3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5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7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8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nodeType="clickEffect" fill="hold">
                      <p:stCondLst>
                        <p:cond delay="indefinite"/>
                      </p:stCondLst>
                      <p:childTnLst>
                        <p:par>
                          <p:cTn id="3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1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3" dur="500" fill="hold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4" dur="500" fill="hold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nodeType="clickEffect" fill="hold">
                      <p:stCondLst>
                        <p:cond delay="indefinite"/>
                      </p:stCondLst>
                      <p:childTnLst>
                        <p:par>
                          <p:cTn id="3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7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9" dur="500" fill="hold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0" dur="500" fill="hold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nodeType="clickEffect" fill="hold">
                      <p:stCondLst>
                        <p:cond delay="indefinite"/>
                      </p:stCondLst>
                      <p:childTnLst>
                        <p:par>
                          <p:cTn id="3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3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5" dur="500" fill="hold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6" dur="500" fill="hold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nodeType="clickEffect" fill="hold">
                      <p:stCondLst>
                        <p:cond delay="indefinite"/>
                      </p:stCondLst>
                      <p:childTnLst>
                        <p:par>
                          <p:cTn id="3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9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1" dur="500" fill="hold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2" dur="500" fill="hold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5355A"/>
            </a:gs>
            <a:gs pos="100000">
              <a:srgbClr val="091626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/>
        </p:nvSpPr>
        <p:spPr>
          <a:xfrm>
            <a:off x="868680" y="347472"/>
            <a:ext cx="10469880" cy="106070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p>
            <a:pPr algn="l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INSTRUMENT APPROACH PROCEDURES</a:t>
            </a:r>
            <a:endParaRPr b="1" lang="en-US" sz="2600" spc="-1" strike="noStrike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40" name="PlaceHolder 2"/>
          <p:cNvSpPr>
            <a:spLocks noGrp="1"/>
          </p:cNvSpPr>
          <p:nvPr/>
        </p:nvSpPr>
        <p:spPr>
          <a:xfrm>
            <a:off x="2209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4000" spc="-1" strike="noStrik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ANY </a:t>
            </a:r>
            <a:endParaRPr b="0" lang="en-US" sz="4000" spc="-1" strike="noStrik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343080" indent="-34308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QUESTIONS?</a:t>
            </a:r>
            <a:endParaRPr b="0" lang="en-US" sz="4000" spc="-1" strike="noStrike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89" name="design9089"/>
          <p:cNvSpPr txBox="1"/>
          <p:nvPr/>
        </p:nvSpPr>
        <p:spPr>
          <a:xfrm>
            <a:off x="10332720" y="6309360"/>
            <a:ext cx="960120" cy="274320"/>
          </a:xfrm>
          <a:prstGeom prst="rect">
            <a:avLst/>
          </a:prstGeom>
          <a:noFill/>
        </p:spPr>
        <p:txBody>
          <a:bodyPr anchor="t" lIns="0" rIns="0" tIns="0" bIns="0" wrap="square"/>
          <a:lstStyle/>
          <a:p>
            <a:pPr algn="r">
              <a:buNone/>
            </a:pPr>
            <a:r>
              <a:rPr lang="en-US" sz="1000" b="0">
                <a:solidFill>
                  <a:srgbClr val="7E93A8"/>
                </a:solidFill>
                <a:latin typeface="Calibri"/>
                <a:ea typeface="Calibri"/>
                <a:cs typeface="Calibri"/>
              </a:rPr>
              <a:t>88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3" dur="indefinite" restart="never" nodeType="tmRoot">
          <p:childTnLst>
            <p:seq>
              <p:cTn id="334" dur="indefinite" nodeType="mainSeq">
                <p:childTnLst>
                  <p:par>
                    <p:cTn id="335" nodeType="clickEffect" fill="hold">
                      <p:stCondLst>
                        <p:cond delay="indefinite"/>
                      </p:stCondLst>
                      <p:childTnLst>
                        <p:par>
                          <p:cTn id="3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9" dur="10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40" dur="1000" fill="hold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1" dur="900" fill="hold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2" dur="1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nodeType="clickEffect" fill="hold">
                      <p:stCondLst>
                        <p:cond delay="indefinite"/>
                      </p:stCondLst>
                      <p:childTnLst>
                        <p:par>
                          <p:cTn id="3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upLeft)" transition="in">
                                      <p:cBhvr additive="repl">
                                        <p:cTn id="347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FP">
  <a:themeElements>
    <a:clrScheme name="IFP">
      <a:dk1>
        <a:sysClr val="windowText" lastClr="000000"/>
      </a:dk1>
      <a:lt1>
        <a:sysClr val="window" lastClr="FFFFFF"/>
      </a:lt1>
      <a:dk2>
        <a:srgbClr val="10263F"/>
      </a:dk2>
      <a:lt2>
        <a:srgbClr val="EDF1F5"/>
      </a:lt2>
      <a:accent1>
        <a:srgbClr val="10263F"/>
      </a:accent1>
      <a:accent2>
        <a:srgbClr val="C8871B"/>
      </a:accent2>
      <a:accent3>
        <a:srgbClr val="4A5D72"/>
      </a:accent3>
      <a:accent4>
        <a:srgbClr val="B3261E"/>
      </a:accent4>
      <a:accent5>
        <a:srgbClr val="7A93AC"/>
      </a:accent5>
      <a:accent6>
        <a:srgbClr val="2E5D62"/>
      </a:accent6>
      <a:hlink>
        <a:srgbClr val="10263F"/>
      </a:hlink>
      <a:folHlink>
        <a:srgbClr val="4A5D72"/>
      </a:folHlink>
    </a:clrScheme>
    <a:fontScheme name="IFP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IF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IFP Notes">
  <a:themeElements>
    <a:clrScheme name="IFP">
      <a:dk1>
        <a:sysClr val="windowText" lastClr="000000"/>
      </a:dk1>
      <a:lt1>
        <a:sysClr val="window" lastClr="FFFFFF"/>
      </a:lt1>
      <a:dk2>
        <a:srgbClr val="10263F"/>
      </a:dk2>
      <a:lt2>
        <a:srgbClr val="EDF1F5"/>
      </a:lt2>
      <a:accent1>
        <a:srgbClr val="10263F"/>
      </a:accent1>
      <a:accent2>
        <a:srgbClr val="C8871B"/>
      </a:accent2>
      <a:accent3>
        <a:srgbClr val="4A5D72"/>
      </a:accent3>
      <a:accent4>
        <a:srgbClr val="B3261E"/>
      </a:accent4>
      <a:accent5>
        <a:srgbClr val="7A93AC"/>
      </a:accent5>
      <a:accent6>
        <a:srgbClr val="2E5D62"/>
      </a:accent6>
      <a:hlink>
        <a:srgbClr val="10263F"/>
      </a:hlink>
      <a:folHlink>
        <a:srgbClr val="4A5D72"/>
      </a:folHlink>
    </a:clrScheme>
    <a:fontScheme name="IFP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IF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